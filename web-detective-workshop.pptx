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2286000"/>
            <a:ext cx="1188720" cy="2286000"/>
          </a:xfrm>
          <a:prstGeom prst="rect">
            <a:avLst/>
          </a:prstGeom>
          <a:solidFill>
            <a:srgbClr val="23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2286000"/>
            <a:ext cx="1188720" cy="2286000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0" y="2286000"/>
            <a:ext cx="1188720" cy="2286000"/>
          </a:xfrm>
          <a:prstGeom prst="rect">
            <a:avLst/>
          </a:prstGeom>
          <a:solidFill>
            <a:srgbClr val="0A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2286000"/>
            <a:ext cx="1188720" cy="2286000"/>
          </a:xfrm>
          <a:prstGeom prst="rect">
            <a:avLst/>
          </a:prstGeom>
          <a:solidFill>
            <a:srgbClr val="29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58A6FF"/>
                </a:solidFill>
              </a:rPr>
              <a:t>Web Detective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AI-Driven Test Automation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</a:rPr>
              <a:t>Building autonomous agents that test modern web apps
with LLMs, browser automation &amp; structured reasoning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5303520" cy="45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7 Chapters  ·  8 Hours  ·  Senior QA / SDET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FB950"/>
                </a:solidFill>
              </a:rPr>
              <a:t>Playwright  ·  Anthropic SDK  ·  MCP  · 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Workshop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8-hour deep dive into production-grade agentic test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64008" cy="6217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Ch1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5389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09:30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3560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Foundations of Agentic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45389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75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39112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39112"/>
            <a:ext cx="64008" cy="6217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Ch2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671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48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Browser as Execution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167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90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52344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52344"/>
            <a:ext cx="64008" cy="6217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620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Ch3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13:15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8620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 Your Own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880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60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65576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465576"/>
            <a:ext cx="64008" cy="621792"/>
          </a:xfrm>
          <a:prstGeom prst="rect">
            <a:avLst/>
          </a:prstGeom>
          <a:solidFill>
            <a:srgbClr val="F7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7530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466"/>
                </a:solidFill>
              </a:rPr>
              <a:t>Ch4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5935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14:15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57530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Self-Healing Selectors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593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60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78808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178808"/>
            <a:ext cx="64008" cy="6217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8853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Ch5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3068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15:30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28853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Custom AI Agent (Reasoning Loop)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3068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45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92040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892040"/>
            <a:ext cx="64008" cy="6217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017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Ch6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0200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16:15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0017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Creating Effective Testing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0200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30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05272"/>
            <a:ext cx="1161288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605272"/>
            <a:ext cx="64008" cy="6217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15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Ch7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7332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16:45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715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Agent &amp; CI/CD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57332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B949E"/>
                </a:solidFill>
              </a:rPr>
              <a:t>75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System Under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A React e-commerce app — intentionally simple so focus stays on automation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0352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8A6FF"/>
                </a:solidFill>
              </a:rPr>
              <a:t>▸  React 18 + TypeScript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32887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8A6FF"/>
                </a:solidFill>
              </a:rPr>
              <a:t>▸  React Router v6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91256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369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8A6FF"/>
                </a:solidFill>
              </a:rPr>
              <a:t>▸  Recharts (dashboard charts)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49624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78466"/>
                </a:solidFill>
              </a:rPr>
              <a:t>▸  Playwright (automation)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507992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537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2A8FF"/>
                </a:solidFill>
              </a:rPr>
              <a:t>▸  Anthropic SDK (LLM reasoning)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66359"/>
            <a:ext cx="5029200" cy="5303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12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FB950"/>
                </a:solidFill>
              </a:rPr>
              <a:t>▸  @playwright/mcp or Custom MCP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280160"/>
            <a:ext cx="292608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8A6FF"/>
                </a:solidFill>
              </a:rPr>
              <a:t>App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20240"/>
            <a:ext cx="2651760" cy="8229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965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/login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86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Auth form, redirect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926080"/>
            <a:ext cx="2651760" cy="8229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971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/dashboard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918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Stats + charts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931920"/>
            <a:ext cx="2651760" cy="8229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9776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/products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297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List +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280160"/>
            <a:ext cx="28346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8466"/>
                </a:solidFill>
              </a:rPr>
              <a:t>Quick 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B950"/>
                </a:solidFill>
              </a:rPr>
              <a:t>npm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B950"/>
                </a:solidFill>
              </a:rPr>
              <a:t>npm run 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063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6118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Email: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D353"/>
                </a:solidFill>
              </a:rPr>
              <a:t>admin@shop.com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Password: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257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D353"/>
                </a:solidFill>
              </a:rPr>
              <a:t>password123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1 · 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Foundations of Agentic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75 min  ·  Why traditional scripts fail and how agents fix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2A8FF"/>
                </a:solidFill>
              </a:rPr>
              <a:t>The Agentic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① Observe  —  page snapshot / a11y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② Plan     —  decide next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04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③ Act      —  click / fill / navigate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④ Verify   —  check success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⑤ Learn    —  update locator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43000"/>
            <a:ext cx="603504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8466"/>
                </a:solidFill>
              </a:rPr>
              <a:t>8 Anti-Patterns in brittle-test.spec.ts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waitForTimeout() instead of state waits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0482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CSS structural selectors (.card &gt; form &gt; div:nth-child)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404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Clicking by position (:nth-child(1))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7614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Hardcoded sleeps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1181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Asserting on CSS classes, not visible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✗  Selector duplication across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11612880" cy="2606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Task Graph  —  data-driven test plans (task-graph.ts)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348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39D353"/>
                </a:solidFill>
              </a:rPr>
              <a:t>interface AgentTask {
  id: string
  goal: string              // "verify login redirects to dashboard"
  preconditions: string[]   // what must be true first
  actions: AgentAction[]    // navigate | click | fill | assert_*
  successCriteria: string
  onFailure: "retry" | "heal" | "abort"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2 · 11:00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Browser as Execution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90 min  ·  Build a fault-tolerant action toolkit that LLMs can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ActionWrapper  (action-wrapper.ts)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9D353"/>
                </a:solidFill>
              </a:rPr>
              <a:t>class ActionWrapper {
  click(selector): Promise&lt;ActionResult&gt;
  fill(selector, value): Promise&lt;ActionResult&gt;
  assertVisible(selector): Promise&lt;ActionResult&gt;
  snapshot(): Promise&lt;PageSnapshot&gt;
                    // a11y tree + screenshot
}
// Every action returns:
// { ok, action, target, error, durationMs }
// — no exceptions thrown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143000"/>
            <a:ext cx="5806440" cy="1874519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BrowserSession  (browser-session.ts)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•  navigate() with retry &amp;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75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•  Session state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597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•  Structured logging for agent introspection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00400"/>
            <a:ext cx="5806440" cy="2057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3192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CLI Deep-Dive (30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3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</a:rPr>
              <a:t>npx playwright codegen http://localhost:5173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507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</a:rPr>
              <a:t>PWDEBUG=1 npx playwright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525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</a:rPr>
              <a:t>npx playwright test --headed --debug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</a:rPr>
              <a:t>npx playwright show-report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9560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</a:rPr>
              <a:t>npx playwright show-trace &lt;file&gt;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440680"/>
            <a:ext cx="11612880" cy="105156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Key Insight: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532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Treat Playwright as a controllable action vocabulary, not a test runner.
Extract page state (DOM, a11y tree, screenshots) for LLM reasoning.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3 · 13:15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 Your Own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60 min  ·  Wire a browser as tools any LLM client can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MCP Architecture  ·  hosts  ↔  clients  ↔  servers  ↔  tools &amp;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9D353"/>
                </a:solidFill>
              </a:rPr>
              <a:t>Claude Code / Copilot Agent Mode   →   MCP Client   →   MCP Server (stdio)   →   Playwright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577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Option A — Custom server.ts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  browser_navigate  →  url: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73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  browser_click     →  selector: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66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  browser_fill      →  selector,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993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  browser_snapshot  →  (a11y tree text)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53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  browser_screenshot→  (PNG bytes)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B949E"/>
                </a:solidFill>
              </a:rPr>
              <a:t>// .claude/settings.json
{ "mcpServers": {
    "web-detective": {
      "command": "npx",
      "args": ["ts-node", "examples/ch3-mcp/server.ts"]
    } }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331720"/>
            <a:ext cx="58064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4505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Option B — @playwright/mcp (zero config)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D353"/>
                </a:solidFill>
              </a:rPr>
              <a:t>npx @playwright/mcp@latest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Ships with: navigate, click, fill,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47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snapshot, screenshot,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96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513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Plug into Claude Code 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531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Copilot Agent Mode — same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5663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Vision vs. A11y: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35838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snapshot()    → text, fast, cheap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6601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screenshot()  → PNG, slow, visual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Prompt Claude Code: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8521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"Log in with admin@shop.com / password123 and confirm the dashboard loads."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7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F7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4 · 14:15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Self-Healing Selectors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60 min  ·  Detect broken locators at runtime and auto-repair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3017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LocatorStore  (locator-store.ts)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39D353"/>
                </a:solidFill>
              </a:rPr>
              <a:t>interface LocatorEntry {
  key: string
  selector: string
  fallbacks: string[]
  healCount: number
}
class LocatorStore {
  register(key, selector)
  heal(key, newSelector)   // record healing
  get(key): string | null
  printReport()            // show stats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143000"/>
            <a:ext cx="5989320" cy="3017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Self-Healer Flow  (self-healer.ts)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78466"/>
                </a:solidFill>
              </a:rPr>
              <a:t>1. Selector miss detected at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848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2. Send page state + failed selector to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780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3. Ask: "Propose 3–5 alternatives ranked by stability"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712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4. Validate each proposed selector against live 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644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5. Store healing event in LocatorStore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FB950"/>
                </a:solidFill>
              </a:rPr>
              <a:t>6. Continue test with healed selector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43400"/>
            <a:ext cx="11612880" cy="2148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62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Hands-On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1. Seed store  →  npx ts-node -e "import { LocatorStore, WEB_DETECTIVE_LOCATORS } ...; store.printReport()"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2. Break selector  →  edit src/pages/Login.tsx: change .login-card to .auth-card, then npm run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2355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3. Run healer  →  const selector = await healer.findElement(page, 'login.emailInput')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4. Or use skill  →  /pw-self-heal  inside Claude Code for interactive healing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5 · 15:30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Custom AI Agent — Reasoning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45 min  ·  Observe → Plan → Act → Verify → Learn with Anthropic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03504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WebTestAgent  (agent.ts)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9D353"/>
                </a:solidFill>
              </a:rPr>
              <a:t>for (let turn = 0; turn &lt; 15; turn++) {
  const response = await client.messages.create({
    model: "claude-sonnet-4-6",
    system: [{ type: "text",
               text: SYSTEM_PROMPT,
               cache_control: { type: "ephemeral" } }],
    tools: AGENT_TOOLS,
    messages
  })
  messages.push({ role: "assistant", content: response.content })
  // Execute all tool calls
  for (const block of response.content) {
    if (block.type !== "tool_use") continue
    const result = await executeTool(block.name, block.input)
    toolResults.push({ type: "tool_result", ... })
  }
  if (response.stop_reason === "end_turn") break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143000"/>
            <a:ext cx="534924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61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Agent Tools  (tools.ts)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snapshot  — understand page state (call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933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click     — click an element by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951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fill      — fill an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968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navigate  — go to a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986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done      — signal success or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429000"/>
            <a:ext cx="534924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547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Predefined Tasks  (prompts.ts)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loginFlow()         — login + verify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525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authRedirect()      — verify /dashboard → /login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000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productSearch(term, n) — search + count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0474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 fullEcommerce()     — login→dash→products→logout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15000"/>
            <a:ext cx="11612880" cy="822960"/>
          </a:xfrm>
          <a:prstGeom prst="rect">
            <a:avLst/>
          </a:prstGeom>
          <a:solidFill>
            <a:srgbClr val="05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Run: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83387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ANTHROPIC_API_KEY=sk-ant-...  npx ts-node examples/ch5-custom-agent/agent.ts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6 · 16:15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Creating Effective Testing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30 min  ·  Reusable, parameterized AI behaviors scoped to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457200"/>
          </a:xfrm>
          <a:prstGeom prst="rect">
            <a:avLst/>
          </a:prstGeom>
          <a:solidFill>
            <a:srgbClr val="1C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161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161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allowed-tools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11612880" cy="5303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/pw-run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Run full suite or filtered subset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Bash(npx playwright *)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04288"/>
            <a:ext cx="11612880" cy="530352"/>
          </a:xfrm>
          <a:prstGeom prst="rect">
            <a:avLst/>
          </a:prstGeom>
          <a:solidFill>
            <a:srgbClr val="1A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9572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/pw-debug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395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Headed run + trace + 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Bash(npx playwright 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71215"/>
            <a:ext cx="11612880" cy="5303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62656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/pw-new-test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626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Scaffold new spec + page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Bash, Read, Write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38144"/>
            <a:ext cx="11612880" cy="530352"/>
          </a:xfrm>
          <a:prstGeom prst="rect">
            <a:avLst/>
          </a:prstGeom>
          <a:solidFill>
            <a:srgbClr val="1A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2958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/pw-page-object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5295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Generate PO from React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5295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Read, Write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05072"/>
            <a:ext cx="11612880" cy="5303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096511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/pw-self-heal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0965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Detect broken selectors, propose fixes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9651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Bash, Read, Edit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81728"/>
            <a:ext cx="116128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00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</a:rPr>
              <a:t>Skill Anatomy  (.claude/skills/pw-run/SKILL.md)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93792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39D353"/>
                </a:solidFill>
              </a:rPr>
              <a:t>---
name: pw-run
description: Run Playwright tests...
argument-hint: "[test-file-or-grep-pattern]"
allowed-tools: Bash(npx playwright *)
---
1. Determine scope from $ARGUMENTS  2. Run &amp; capture output  3. Report results (passed/failed/skipped)  4. Suggest fix per error 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371600" cy="3474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CH 7 · 16:45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 &amp; 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75 min  ·  Structured output, annotations, parallel matrix, post-mortem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GitHub Actions Pipeline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3108960" cy="12344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691640"/>
            <a:ext cx="64008" cy="1234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Job 1: Playwright
(every push / PR)
~2-3 min fast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108960" cy="12344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64008" cy="1234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Job 2: Agentic Matrix
(main branch only)
Parallel per scenario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691640"/>
            <a:ext cx="3108960" cy="12344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1691640"/>
            <a:ext cx="64008" cy="1234440"/>
          </a:xfrm>
          <a:prstGeom prst="rect">
            <a:avLst/>
          </a:prstGeom>
          <a:solidFill>
            <a:srgbClr val="F7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78308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Job 3: Locator Health
(every push / PR)
Verify healer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057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5577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649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Scenarios  (scenarios.ts)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auth-redirect    →  critical: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24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login-flow       →  critical: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085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product-search   →  critical: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926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9D353"/>
                </a:solidFill>
              </a:rPr>
              <a:t>full-ecommerce   →  critical: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8466"/>
                </a:solidFill>
              </a:rPr>
              <a:t>npx ts-node agent-runner.ts --list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87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8466"/>
                </a:solidFill>
              </a:rPr>
              <a:t>npx ts-node agent-runner.ts --scenario login-flow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25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8466"/>
                </a:solidFill>
              </a:rPr>
              <a:t>npx ts-node agent-runner.ts --all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246120"/>
            <a:ext cx="58064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3649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CIReporter  (reporter.ts)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404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annotation('error'|'warning', title, msg)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422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</a:rPr>
              <a:t>  → emits ::error file=X:: to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439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457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writeStepSummary(runs: AgentRun[])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0474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</a:rPr>
              <a:t>  → Markdown table in $GITHUB_STEP_SUMMARY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349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50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writeOutput(key, value)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952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</a:rPr>
              <a:t>  → writes to $GITHUB_OUTPUT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2544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</a:rPr>
              <a:t>  → consumed by downstream jobs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What you can build after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4008" cy="69494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2A8FF"/>
                </a:solidFill>
              </a:rPr>
              <a:t>Agentic ≠ Magic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Agents are grounded in reliable browser automation — intelligence lives in orchestration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64008" cy="6949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305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Task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Data-driven test plans let agents reason about prerequisites, retries, and failure modes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39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39"/>
            <a:ext cx="64008" cy="6949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0779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Action Wrappers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79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Treat Playwright as a tool vocabulary; every action returns structured results, no exceptions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79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11879"/>
            <a:ext cx="64008" cy="694944"/>
          </a:xfrm>
          <a:prstGeom prst="rect">
            <a:avLst/>
          </a:prstGeom>
          <a:solidFill>
            <a:srgbClr val="F7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8466"/>
                </a:solidFill>
              </a:rPr>
              <a:t>MCP is the Glue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0332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Standardized tool interface so any LLM client (Copilot, Claude Code, custom) can drive a browser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64008" cy="69494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622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Self-Healing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80559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Persistent locator memory + LLM repair beats brittle selectors at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60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166360"/>
            <a:ext cx="64008" cy="69494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395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2A8FF"/>
                </a:solidFill>
              </a:rP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5780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Reusable, parameterized AI behaviors with tight allowed-tools and clear output contracts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943600"/>
            <a:ext cx="11612880" cy="69494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943600"/>
            <a:ext cx="64008" cy="6949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0167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CI/CD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603504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Agents emit structured JSON + GitHub Actions annotations; failures surface inline in PR diffs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58A6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Web Detective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22860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github.com/microsoft/playwright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383280"/>
            <a:ext cx="22860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modelcontextprotocol.io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383280"/>
            <a:ext cx="22860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docs.anthropic.com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3383280"/>
            <a:ext cx="22860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466"/>
                </a:solidFill>
              </a:rPr>
              <a:t>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playwright.dev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9D353"/>
                </a:solidFill>
              </a:rPr>
              <a:t>npm install  ·  npm run dev  ·  http://localhost:5173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admin@shop.com  /  password123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