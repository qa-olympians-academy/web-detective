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07708"/>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50292"/>
            <a:ext cx="12000" cy="6757416"/>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000" y="1400000"/>
            <a:ext cx="11788952" cy="700000"/>
          </a:xfrm>
          <a:prstGeom prst="rect">
            <a:avLst/>
          </a:prstGeom>
          <a:noFill/>
        </p:spPr>
        <p:txBody>
          <a:bodyPr wrap="square">
            <a:spAutoFit/>
          </a:bodyPr>
          <a:lstStyle/>
          <a:p>
            <a:pPr algn="l"/>
            <a:r>
              <a:rPr sz="4200" b="1">
                <a:solidFill>
                  <a:srgbClr val="FFFFFF"/>
                </a:solidFill>
              </a:rPr>
              <a:t>Web Detective</a:t>
            </a:r>
          </a:p>
        </p:txBody>
      </p:sp>
      <p:sp>
        <p:nvSpPr>
          <p:cNvPr id="7" name="TextBox 6"/>
          <p:cNvSpPr txBox="1"/>
          <p:nvPr/>
        </p:nvSpPr>
        <p:spPr>
          <a:xfrm>
            <a:off x="200000" y="2180000"/>
            <a:ext cx="11788952" cy="500000"/>
          </a:xfrm>
          <a:prstGeom prst="rect">
            <a:avLst/>
          </a:prstGeom>
          <a:noFill/>
        </p:spPr>
        <p:txBody>
          <a:bodyPr wrap="square">
            <a:spAutoFit/>
          </a:bodyPr>
          <a:lstStyle/>
          <a:p>
            <a:pPr algn="l"/>
            <a:r>
              <a:rPr sz="2200" b="1">
                <a:solidFill>
                  <a:srgbClr val="58A6FF"/>
                </a:solidFill>
              </a:rPr>
              <a:t>AI-Driven Test Automation Workshop</a:t>
            </a:r>
          </a:p>
        </p:txBody>
      </p:sp>
      <p:sp>
        <p:nvSpPr>
          <p:cNvPr id="8" name="TextBox 7"/>
          <p:cNvSpPr txBox="1"/>
          <p:nvPr/>
        </p:nvSpPr>
        <p:spPr>
          <a:xfrm>
            <a:off x="200000" y="2740000"/>
            <a:ext cx="11788952" cy="400000"/>
          </a:xfrm>
          <a:prstGeom prst="rect">
            <a:avLst/>
          </a:prstGeom>
          <a:noFill/>
        </p:spPr>
        <p:txBody>
          <a:bodyPr wrap="square">
            <a:spAutoFit/>
          </a:bodyPr>
          <a:lstStyle/>
          <a:p>
            <a:pPr algn="l"/>
            <a:r>
              <a:rPr sz="1500" b="0">
                <a:solidFill>
                  <a:srgbClr val="8B949E"/>
                </a:solidFill>
              </a:rPr>
              <a:t>Building autonomous agents that test modern web apps
with LLMs, browser automation &amp; structured reasoning</a:t>
            </a:r>
          </a:p>
        </p:txBody>
      </p:sp>
      <p:sp>
        <p:nvSpPr>
          <p:cNvPr id="9" name="TextBox 8"/>
          <p:cNvSpPr txBox="1"/>
          <p:nvPr/>
        </p:nvSpPr>
        <p:spPr>
          <a:xfrm>
            <a:off x="200000" y="3600000"/>
            <a:ext cx="11788952" cy="300000"/>
          </a:xfrm>
          <a:prstGeom prst="rect">
            <a:avLst/>
          </a:prstGeom>
          <a:noFill/>
        </p:spPr>
        <p:txBody>
          <a:bodyPr wrap="square">
            <a:spAutoFit/>
          </a:bodyPr>
          <a:lstStyle/>
          <a:p>
            <a:pPr algn="l"/>
            <a:r>
              <a:rPr sz="1300" b="0">
                <a:solidFill>
                  <a:srgbClr val="8B949E"/>
                </a:solidFill>
              </a:rPr>
              <a:t>Playwright  ·  Anthropic SDK  ·  MCP  ·  GitHub Actions  ·  8 hours  ·  Senior QA / SDET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Welcome</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What You Will Build Today</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By the end of this workshop you will have shipped:</a:t>
            </a:r>
          </a:p>
          <a:p>
            <a:pPr algn="l">
              <a:lnSpc>
                <a:spcPts val="1800"/>
              </a:lnSpc>
            </a:pPr>
            <a:r>
              <a:rPr sz="1400" b="0">
                <a:solidFill>
                  <a:srgbClr val="FFFFFF"/>
                </a:solidFill>
              </a:rPr>
              <a:t>✓  A self-healing test suite — selectors that auto-repair at runtime</a:t>
            </a:r>
          </a:p>
          <a:p>
            <a:pPr algn="l">
              <a:lnSpc>
                <a:spcPts val="1800"/>
              </a:lnSpc>
            </a:pPr>
            <a:r>
              <a:rPr sz="1400" b="0">
                <a:solidFill>
                  <a:srgbClr val="FFFFFF"/>
                </a:solidFill>
              </a:rPr>
              <a:t>✓  A custom AI agent that observes, plans, acts, and verifies</a:t>
            </a:r>
          </a:p>
          <a:p>
            <a:pPr algn="l">
              <a:lnSpc>
                <a:spcPts val="1800"/>
              </a:lnSpc>
            </a:pPr>
            <a:r>
              <a:rPr sz="1400" b="0">
                <a:solidFill>
                  <a:srgbClr val="FFFFFF"/>
                </a:solidFill>
              </a:rPr>
              <a:t>✓  An MCP server exposing your browser as structured tools</a:t>
            </a:r>
          </a:p>
          <a:p>
            <a:pPr algn="l">
              <a:lnSpc>
                <a:spcPts val="1800"/>
              </a:lnSpc>
            </a:pPr>
            <a:r>
              <a:rPr sz="1400" b="0">
                <a:solidFill>
                  <a:srgbClr val="FFFFFF"/>
                </a:solidFill>
              </a:rPr>
              <a:t>✓  AI-generated test plans converted to runnable Playwright specs</a:t>
            </a:r>
          </a:p>
          <a:p>
            <a:pPr algn="l">
              <a:lnSpc>
                <a:spcPts val="1800"/>
              </a:lnSpc>
            </a:pPr>
            <a:r>
              <a:rPr sz="1400" b="0">
                <a:solidFill>
                  <a:srgbClr val="FFFFFF"/>
                </a:solidFill>
              </a:rPr>
              <a:t>✓  A CI/CD pipeline that annotates failures inline in PR diffs</a:t>
            </a:r>
          </a:p>
          <a:p>
            <a:pPr algn="l">
              <a:lnSpc>
                <a:spcPts val="1800"/>
              </a:lnSpc>
            </a:pPr>
            <a:r>
              <a:rPr sz="1400" b="0">
                <a:solidFill>
                  <a:srgbClr val="FFFFFF"/>
                </a:solidFill>
              </a:rPr>
              <a:t>✓  Reusable testing skills invokable from Claude Code or VS Code</a:t>
            </a:r>
          </a:p>
          <a:p>
            <a:pPr algn="l">
              <a:lnSpc>
                <a:spcPts val="1800"/>
              </a:lnSpc>
            </a:pPr>
            <a:r>
              <a:rPr sz="1400" b="0">
                <a:solidFill>
                  <a:srgbClr val="FFFFFF"/>
                </a:solidFill>
              </a:rPr>
              <a:t/>
            </a:r>
          </a:p>
          <a:p>
            <a:pPr algn="l">
              <a:lnSpc>
                <a:spcPts val="1800"/>
              </a:lnSpc>
            </a:pPr>
            <a:r>
              <a:rPr sz="1400" b="0">
                <a:solidFill>
                  <a:srgbClr val="8B949E"/>
                </a:solidFill>
              </a:rPr>
              <a:t>Everything runs against a real React app — no mocks, no shortcuts.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0000"/>
            <a:ext cx="11458952" cy="500000"/>
          </a:xfrm>
          <a:prstGeom prst="rect">
            <a:avLst/>
          </a:prstGeom>
          <a:noFill/>
        </p:spPr>
        <p:txBody>
          <a:bodyPr wrap="square">
            <a:spAutoFit/>
          </a:bodyPr>
          <a:lstStyle/>
          <a:p>
            <a:pPr algn="l"/>
            <a:r>
              <a:rPr sz="2800" b="1">
                <a:solidFill>
                  <a:srgbClr val="FFFFFF"/>
                </a:solidFill>
              </a:rPr>
              <a:t>Workshop Agenda</a:t>
            </a:r>
          </a:p>
        </p:txBody>
      </p:sp>
      <p:sp>
        <p:nvSpPr>
          <p:cNvPr id="5" name="TextBox 4"/>
          <p:cNvSpPr txBox="1"/>
          <p:nvPr/>
        </p:nvSpPr>
        <p:spPr>
          <a:xfrm>
            <a:off x="365760" y="620000"/>
            <a:ext cx="11458952" cy="300000"/>
          </a:xfrm>
          <a:prstGeom prst="rect">
            <a:avLst/>
          </a:prstGeom>
          <a:noFill/>
        </p:spPr>
        <p:txBody>
          <a:bodyPr wrap="square">
            <a:spAutoFit/>
          </a:bodyPr>
          <a:lstStyle/>
          <a:p>
            <a:pPr algn="l"/>
            <a:r>
              <a:rPr sz="1400" b="0">
                <a:solidFill>
                  <a:srgbClr val="8B949E"/>
                </a:solidFill>
              </a:rPr>
              <a:t>8-hour deep dive into production-grade agentic test automation</a:t>
            </a:r>
          </a:p>
        </p:txBody>
      </p:sp>
      <p:sp>
        <p:nvSpPr>
          <p:cNvPr id="6" name="Rectangle 5"/>
          <p:cNvSpPr/>
          <p:nvPr/>
        </p:nvSpPr>
        <p:spPr>
          <a:xfrm>
            <a:off x="274320" y="980000"/>
            <a:ext cx="11640312" cy="59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980000"/>
            <a:ext cx="60000" cy="59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0000" y="1070000"/>
            <a:ext cx="700000" cy="460000"/>
          </a:xfrm>
          <a:prstGeom prst="rect">
            <a:avLst/>
          </a:prstGeom>
          <a:noFill/>
        </p:spPr>
        <p:txBody>
          <a:bodyPr wrap="square">
            <a:spAutoFit/>
          </a:bodyPr>
          <a:lstStyle/>
          <a:p>
            <a:pPr algn="l"/>
            <a:r>
              <a:rPr sz="1300" b="1">
                <a:solidFill>
                  <a:srgbClr val="D2A8FF"/>
                </a:solidFill>
              </a:rPr>
              <a:t>Ch1</a:t>
            </a:r>
          </a:p>
        </p:txBody>
      </p:sp>
      <p:sp>
        <p:nvSpPr>
          <p:cNvPr id="9" name="TextBox 8"/>
          <p:cNvSpPr txBox="1"/>
          <p:nvPr/>
        </p:nvSpPr>
        <p:spPr>
          <a:xfrm>
            <a:off x="1150000" y="1070000"/>
            <a:ext cx="900000" cy="460000"/>
          </a:xfrm>
          <a:prstGeom prst="rect">
            <a:avLst/>
          </a:prstGeom>
          <a:noFill/>
        </p:spPr>
        <p:txBody>
          <a:bodyPr wrap="square">
            <a:spAutoFit/>
          </a:bodyPr>
          <a:lstStyle/>
          <a:p>
            <a:pPr algn="l"/>
            <a:r>
              <a:rPr sz="1200" b="0">
                <a:solidFill>
                  <a:srgbClr val="8B949E"/>
                </a:solidFill>
              </a:rPr>
              <a:t>09:30</a:t>
            </a:r>
          </a:p>
        </p:txBody>
      </p:sp>
      <p:sp>
        <p:nvSpPr>
          <p:cNvPr id="10" name="TextBox 9"/>
          <p:cNvSpPr txBox="1"/>
          <p:nvPr/>
        </p:nvSpPr>
        <p:spPr>
          <a:xfrm>
            <a:off x="2150000" y="1070000"/>
            <a:ext cx="7500000" cy="460000"/>
          </a:xfrm>
          <a:prstGeom prst="rect">
            <a:avLst/>
          </a:prstGeom>
          <a:noFill/>
        </p:spPr>
        <p:txBody>
          <a:bodyPr wrap="square">
            <a:spAutoFit/>
          </a:bodyPr>
          <a:lstStyle/>
          <a:p>
            <a:pPr algn="l"/>
            <a:r>
              <a:rPr sz="1500" b="1">
                <a:solidFill>
                  <a:srgbClr val="FFFFFF"/>
                </a:solidFill>
              </a:rPr>
              <a:t>Foundations of Agentic Automation</a:t>
            </a:r>
          </a:p>
        </p:txBody>
      </p:sp>
      <p:sp>
        <p:nvSpPr>
          <p:cNvPr id="11" name="TextBox 10"/>
          <p:cNvSpPr txBox="1"/>
          <p:nvPr/>
        </p:nvSpPr>
        <p:spPr>
          <a:xfrm>
            <a:off x="10600000" y="1070000"/>
            <a:ext cx="1300000" cy="460000"/>
          </a:xfrm>
          <a:prstGeom prst="rect">
            <a:avLst/>
          </a:prstGeom>
          <a:noFill/>
        </p:spPr>
        <p:txBody>
          <a:bodyPr wrap="square">
            <a:spAutoFit/>
          </a:bodyPr>
          <a:lstStyle/>
          <a:p>
            <a:pPr algn="r"/>
            <a:r>
              <a:rPr sz="1200" b="0">
                <a:solidFill>
                  <a:srgbClr val="8B949E"/>
                </a:solidFill>
              </a:rPr>
              <a:t>75 min</a:t>
            </a:r>
          </a:p>
        </p:txBody>
      </p:sp>
      <p:sp>
        <p:nvSpPr>
          <p:cNvPr id="12" name="Rectangle 11"/>
          <p:cNvSpPr/>
          <p:nvPr/>
        </p:nvSpPr>
        <p:spPr>
          <a:xfrm>
            <a:off x="274320" y="1620000"/>
            <a:ext cx="11640312" cy="59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1620000"/>
            <a:ext cx="60000" cy="59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0000" y="1710000"/>
            <a:ext cx="700000" cy="460000"/>
          </a:xfrm>
          <a:prstGeom prst="rect">
            <a:avLst/>
          </a:prstGeom>
          <a:noFill/>
        </p:spPr>
        <p:txBody>
          <a:bodyPr wrap="square">
            <a:spAutoFit/>
          </a:bodyPr>
          <a:lstStyle/>
          <a:p>
            <a:pPr algn="l"/>
            <a:r>
              <a:rPr sz="1300" b="1">
                <a:solidFill>
                  <a:srgbClr val="58A6FF"/>
                </a:solidFill>
              </a:rPr>
              <a:t>Ch2</a:t>
            </a:r>
          </a:p>
        </p:txBody>
      </p:sp>
      <p:sp>
        <p:nvSpPr>
          <p:cNvPr id="15" name="TextBox 14"/>
          <p:cNvSpPr txBox="1"/>
          <p:nvPr/>
        </p:nvSpPr>
        <p:spPr>
          <a:xfrm>
            <a:off x="1150000" y="1710000"/>
            <a:ext cx="900000" cy="460000"/>
          </a:xfrm>
          <a:prstGeom prst="rect">
            <a:avLst/>
          </a:prstGeom>
          <a:noFill/>
        </p:spPr>
        <p:txBody>
          <a:bodyPr wrap="square">
            <a:spAutoFit/>
          </a:bodyPr>
          <a:lstStyle/>
          <a:p>
            <a:pPr algn="l"/>
            <a:r>
              <a:rPr sz="1200" b="0">
                <a:solidFill>
                  <a:srgbClr val="8B949E"/>
                </a:solidFill>
              </a:rPr>
              <a:t>11:00</a:t>
            </a:r>
          </a:p>
        </p:txBody>
      </p:sp>
      <p:sp>
        <p:nvSpPr>
          <p:cNvPr id="16" name="TextBox 15"/>
          <p:cNvSpPr txBox="1"/>
          <p:nvPr/>
        </p:nvSpPr>
        <p:spPr>
          <a:xfrm>
            <a:off x="2150000" y="1710000"/>
            <a:ext cx="7500000" cy="460000"/>
          </a:xfrm>
          <a:prstGeom prst="rect">
            <a:avLst/>
          </a:prstGeom>
          <a:noFill/>
        </p:spPr>
        <p:txBody>
          <a:bodyPr wrap="square">
            <a:spAutoFit/>
          </a:bodyPr>
          <a:lstStyle/>
          <a:p>
            <a:pPr algn="l"/>
            <a:r>
              <a:rPr sz="1500" b="1">
                <a:solidFill>
                  <a:srgbClr val="FFFFFF"/>
                </a:solidFill>
              </a:rPr>
              <a:t>Browser as Execution Layer + CLI Deep-Dive</a:t>
            </a:r>
          </a:p>
        </p:txBody>
      </p:sp>
      <p:sp>
        <p:nvSpPr>
          <p:cNvPr id="17" name="TextBox 16"/>
          <p:cNvSpPr txBox="1"/>
          <p:nvPr/>
        </p:nvSpPr>
        <p:spPr>
          <a:xfrm>
            <a:off x="10600000" y="1710000"/>
            <a:ext cx="1300000" cy="460000"/>
          </a:xfrm>
          <a:prstGeom prst="rect">
            <a:avLst/>
          </a:prstGeom>
          <a:noFill/>
        </p:spPr>
        <p:txBody>
          <a:bodyPr wrap="square">
            <a:spAutoFit/>
          </a:bodyPr>
          <a:lstStyle/>
          <a:p>
            <a:pPr algn="r"/>
            <a:r>
              <a:rPr sz="1200" b="0">
                <a:solidFill>
                  <a:srgbClr val="8B949E"/>
                </a:solidFill>
              </a:rPr>
              <a:t>90 min</a:t>
            </a:r>
          </a:p>
        </p:txBody>
      </p:sp>
      <p:sp>
        <p:nvSpPr>
          <p:cNvPr id="18" name="Rectangle 17"/>
          <p:cNvSpPr/>
          <p:nvPr/>
        </p:nvSpPr>
        <p:spPr>
          <a:xfrm>
            <a:off x="274320" y="2260000"/>
            <a:ext cx="11640312" cy="59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 y="2260000"/>
            <a:ext cx="60000" cy="590000"/>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0000" y="2350000"/>
            <a:ext cx="700000" cy="460000"/>
          </a:xfrm>
          <a:prstGeom prst="rect">
            <a:avLst/>
          </a:prstGeom>
          <a:noFill/>
        </p:spPr>
        <p:txBody>
          <a:bodyPr wrap="square">
            <a:spAutoFit/>
          </a:bodyPr>
          <a:lstStyle/>
          <a:p>
            <a:pPr algn="l"/>
            <a:r>
              <a:rPr sz="1300" b="1">
                <a:solidFill>
                  <a:srgbClr val="3FB950"/>
                </a:solidFill>
              </a:rPr>
              <a:t>Ch3</a:t>
            </a:r>
          </a:p>
        </p:txBody>
      </p:sp>
      <p:sp>
        <p:nvSpPr>
          <p:cNvPr id="21" name="TextBox 20"/>
          <p:cNvSpPr txBox="1"/>
          <p:nvPr/>
        </p:nvSpPr>
        <p:spPr>
          <a:xfrm>
            <a:off x="1150000" y="2350000"/>
            <a:ext cx="900000" cy="460000"/>
          </a:xfrm>
          <a:prstGeom prst="rect">
            <a:avLst/>
          </a:prstGeom>
          <a:noFill/>
        </p:spPr>
        <p:txBody>
          <a:bodyPr wrap="square">
            <a:spAutoFit/>
          </a:bodyPr>
          <a:lstStyle/>
          <a:p>
            <a:pPr algn="l"/>
            <a:r>
              <a:rPr sz="1200" b="0">
                <a:solidFill>
                  <a:srgbClr val="8B949E"/>
                </a:solidFill>
              </a:rPr>
              <a:t>13:15</a:t>
            </a:r>
          </a:p>
        </p:txBody>
      </p:sp>
      <p:sp>
        <p:nvSpPr>
          <p:cNvPr id="22" name="TextBox 21"/>
          <p:cNvSpPr txBox="1"/>
          <p:nvPr/>
        </p:nvSpPr>
        <p:spPr>
          <a:xfrm>
            <a:off x="2150000" y="2350000"/>
            <a:ext cx="7500000" cy="460000"/>
          </a:xfrm>
          <a:prstGeom prst="rect">
            <a:avLst/>
          </a:prstGeom>
          <a:noFill/>
        </p:spPr>
        <p:txBody>
          <a:bodyPr wrap="square">
            <a:spAutoFit/>
          </a:bodyPr>
          <a:lstStyle/>
          <a:p>
            <a:pPr algn="l"/>
            <a:r>
              <a:rPr sz="1500" b="1">
                <a:solidFill>
                  <a:srgbClr val="FFFFFF"/>
                </a:solidFill>
              </a:rPr>
              <a:t>Build Your Own MCP Server</a:t>
            </a:r>
          </a:p>
        </p:txBody>
      </p:sp>
      <p:sp>
        <p:nvSpPr>
          <p:cNvPr id="23" name="TextBox 22"/>
          <p:cNvSpPr txBox="1"/>
          <p:nvPr/>
        </p:nvSpPr>
        <p:spPr>
          <a:xfrm>
            <a:off x="10600000" y="2350000"/>
            <a:ext cx="1300000" cy="460000"/>
          </a:xfrm>
          <a:prstGeom prst="rect">
            <a:avLst/>
          </a:prstGeom>
          <a:noFill/>
        </p:spPr>
        <p:txBody>
          <a:bodyPr wrap="square">
            <a:spAutoFit/>
          </a:bodyPr>
          <a:lstStyle/>
          <a:p>
            <a:pPr algn="r"/>
            <a:r>
              <a:rPr sz="1200" b="0">
                <a:solidFill>
                  <a:srgbClr val="8B949E"/>
                </a:solidFill>
              </a:rPr>
              <a:t>60 min</a:t>
            </a:r>
          </a:p>
        </p:txBody>
      </p:sp>
      <p:sp>
        <p:nvSpPr>
          <p:cNvPr id="24" name="Rectangle 23"/>
          <p:cNvSpPr/>
          <p:nvPr/>
        </p:nvSpPr>
        <p:spPr>
          <a:xfrm>
            <a:off x="274320" y="2900000"/>
            <a:ext cx="11640312" cy="59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74320" y="2900000"/>
            <a:ext cx="60000" cy="590000"/>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0000" y="2990000"/>
            <a:ext cx="700000" cy="460000"/>
          </a:xfrm>
          <a:prstGeom prst="rect">
            <a:avLst/>
          </a:prstGeom>
          <a:noFill/>
        </p:spPr>
        <p:txBody>
          <a:bodyPr wrap="square">
            <a:spAutoFit/>
          </a:bodyPr>
          <a:lstStyle/>
          <a:p>
            <a:pPr algn="l"/>
            <a:r>
              <a:rPr sz="1300" b="1">
                <a:solidFill>
                  <a:srgbClr val="F78466"/>
                </a:solidFill>
              </a:rPr>
              <a:t>Ch4</a:t>
            </a:r>
          </a:p>
        </p:txBody>
      </p:sp>
      <p:sp>
        <p:nvSpPr>
          <p:cNvPr id="27" name="TextBox 26"/>
          <p:cNvSpPr txBox="1"/>
          <p:nvPr/>
        </p:nvSpPr>
        <p:spPr>
          <a:xfrm>
            <a:off x="1150000" y="2990000"/>
            <a:ext cx="900000" cy="460000"/>
          </a:xfrm>
          <a:prstGeom prst="rect">
            <a:avLst/>
          </a:prstGeom>
          <a:noFill/>
        </p:spPr>
        <p:txBody>
          <a:bodyPr wrap="square">
            <a:spAutoFit/>
          </a:bodyPr>
          <a:lstStyle/>
          <a:p>
            <a:pPr algn="l"/>
            <a:r>
              <a:rPr sz="1200" b="0">
                <a:solidFill>
                  <a:srgbClr val="8B949E"/>
                </a:solidFill>
              </a:rPr>
              <a:t>14:15</a:t>
            </a:r>
          </a:p>
        </p:txBody>
      </p:sp>
      <p:sp>
        <p:nvSpPr>
          <p:cNvPr id="28" name="TextBox 27"/>
          <p:cNvSpPr txBox="1"/>
          <p:nvPr/>
        </p:nvSpPr>
        <p:spPr>
          <a:xfrm>
            <a:off x="2150000" y="2990000"/>
            <a:ext cx="7500000" cy="460000"/>
          </a:xfrm>
          <a:prstGeom prst="rect">
            <a:avLst/>
          </a:prstGeom>
          <a:noFill/>
        </p:spPr>
        <p:txBody>
          <a:bodyPr wrap="square">
            <a:spAutoFit/>
          </a:bodyPr>
          <a:lstStyle/>
          <a:p>
            <a:pPr algn="l"/>
            <a:r>
              <a:rPr sz="1500" b="1">
                <a:solidFill>
                  <a:srgbClr val="FFFFFF"/>
                </a:solidFill>
              </a:rPr>
              <a:t>Self-Healing Selectors</a:t>
            </a:r>
          </a:p>
        </p:txBody>
      </p:sp>
      <p:sp>
        <p:nvSpPr>
          <p:cNvPr id="29" name="TextBox 28"/>
          <p:cNvSpPr txBox="1"/>
          <p:nvPr/>
        </p:nvSpPr>
        <p:spPr>
          <a:xfrm>
            <a:off x="10600000" y="2990000"/>
            <a:ext cx="1300000" cy="460000"/>
          </a:xfrm>
          <a:prstGeom prst="rect">
            <a:avLst/>
          </a:prstGeom>
          <a:noFill/>
        </p:spPr>
        <p:txBody>
          <a:bodyPr wrap="square">
            <a:spAutoFit/>
          </a:bodyPr>
          <a:lstStyle/>
          <a:p>
            <a:pPr algn="r"/>
            <a:r>
              <a:rPr sz="1200" b="0">
                <a:solidFill>
                  <a:srgbClr val="8B949E"/>
                </a:solidFill>
              </a:rPr>
              <a:t>45 min</a:t>
            </a:r>
          </a:p>
        </p:txBody>
      </p:sp>
      <p:sp>
        <p:nvSpPr>
          <p:cNvPr id="30" name="Rectangle 29"/>
          <p:cNvSpPr/>
          <p:nvPr/>
        </p:nvSpPr>
        <p:spPr>
          <a:xfrm>
            <a:off x="274320" y="3540000"/>
            <a:ext cx="11640312" cy="59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74320" y="3540000"/>
            <a:ext cx="60000" cy="590000"/>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0000" y="3630000"/>
            <a:ext cx="700000" cy="460000"/>
          </a:xfrm>
          <a:prstGeom prst="rect">
            <a:avLst/>
          </a:prstGeom>
          <a:noFill/>
        </p:spPr>
        <p:txBody>
          <a:bodyPr wrap="square">
            <a:spAutoFit/>
          </a:bodyPr>
          <a:lstStyle/>
          <a:p>
            <a:pPr algn="l"/>
            <a:r>
              <a:rPr sz="1300" b="1">
                <a:solidFill>
                  <a:srgbClr val="FFA657"/>
                </a:solidFill>
              </a:rPr>
              <a:t>Ch4.1</a:t>
            </a:r>
          </a:p>
        </p:txBody>
      </p:sp>
      <p:sp>
        <p:nvSpPr>
          <p:cNvPr id="33" name="TextBox 32"/>
          <p:cNvSpPr txBox="1"/>
          <p:nvPr/>
        </p:nvSpPr>
        <p:spPr>
          <a:xfrm>
            <a:off x="1150000" y="3630000"/>
            <a:ext cx="900000" cy="460000"/>
          </a:xfrm>
          <a:prstGeom prst="rect">
            <a:avLst/>
          </a:prstGeom>
          <a:noFill/>
        </p:spPr>
        <p:txBody>
          <a:bodyPr wrap="square">
            <a:spAutoFit/>
          </a:bodyPr>
          <a:lstStyle/>
          <a:p>
            <a:pPr algn="l"/>
            <a:r>
              <a:rPr sz="1200" b="0">
                <a:solidFill>
                  <a:srgbClr val="8B949E"/>
                </a:solidFill>
              </a:rPr>
              <a:t>15:00</a:t>
            </a:r>
          </a:p>
        </p:txBody>
      </p:sp>
      <p:sp>
        <p:nvSpPr>
          <p:cNvPr id="34" name="TextBox 33"/>
          <p:cNvSpPr txBox="1"/>
          <p:nvPr/>
        </p:nvSpPr>
        <p:spPr>
          <a:xfrm>
            <a:off x="2150000" y="3630000"/>
            <a:ext cx="7500000" cy="460000"/>
          </a:xfrm>
          <a:prstGeom prst="rect">
            <a:avLst/>
          </a:prstGeom>
          <a:noFill/>
        </p:spPr>
        <p:txBody>
          <a:bodyPr wrap="square">
            <a:spAutoFit/>
          </a:bodyPr>
          <a:lstStyle/>
          <a:p>
            <a:pPr algn="l"/>
            <a:r>
              <a:rPr sz="1500" b="1">
                <a:solidFill>
                  <a:srgbClr val="FFFFFF"/>
                </a:solidFill>
              </a:rPr>
              <a:t>Playwright Agents: Planner, Generator, Healer</a:t>
            </a:r>
          </a:p>
        </p:txBody>
      </p:sp>
      <p:sp>
        <p:nvSpPr>
          <p:cNvPr id="35" name="TextBox 34"/>
          <p:cNvSpPr txBox="1"/>
          <p:nvPr/>
        </p:nvSpPr>
        <p:spPr>
          <a:xfrm>
            <a:off x="10600000" y="3630000"/>
            <a:ext cx="1300000" cy="460000"/>
          </a:xfrm>
          <a:prstGeom prst="rect">
            <a:avLst/>
          </a:prstGeom>
          <a:noFill/>
        </p:spPr>
        <p:txBody>
          <a:bodyPr wrap="square">
            <a:spAutoFit/>
          </a:bodyPr>
          <a:lstStyle/>
          <a:p>
            <a:pPr algn="r"/>
            <a:r>
              <a:rPr sz="1200" b="0">
                <a:solidFill>
                  <a:srgbClr val="8B949E"/>
                </a:solidFill>
              </a:rPr>
              <a:t>30 min</a:t>
            </a:r>
          </a:p>
        </p:txBody>
      </p:sp>
      <p:sp>
        <p:nvSpPr>
          <p:cNvPr id="36" name="Rectangle 35"/>
          <p:cNvSpPr/>
          <p:nvPr/>
        </p:nvSpPr>
        <p:spPr>
          <a:xfrm>
            <a:off x="274320" y="4180000"/>
            <a:ext cx="11640312" cy="59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74320" y="4180000"/>
            <a:ext cx="60000" cy="590000"/>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0000" y="4270000"/>
            <a:ext cx="700000" cy="460000"/>
          </a:xfrm>
          <a:prstGeom prst="rect">
            <a:avLst/>
          </a:prstGeom>
          <a:noFill/>
        </p:spPr>
        <p:txBody>
          <a:bodyPr wrap="square">
            <a:spAutoFit/>
          </a:bodyPr>
          <a:lstStyle/>
          <a:p>
            <a:pPr algn="l"/>
            <a:r>
              <a:rPr sz="1300" b="1">
                <a:solidFill>
                  <a:srgbClr val="39D353"/>
                </a:solidFill>
              </a:rPr>
              <a:t>Ch5</a:t>
            </a:r>
          </a:p>
        </p:txBody>
      </p:sp>
      <p:sp>
        <p:nvSpPr>
          <p:cNvPr id="39" name="TextBox 38"/>
          <p:cNvSpPr txBox="1"/>
          <p:nvPr/>
        </p:nvSpPr>
        <p:spPr>
          <a:xfrm>
            <a:off x="1150000" y="4270000"/>
            <a:ext cx="900000" cy="460000"/>
          </a:xfrm>
          <a:prstGeom prst="rect">
            <a:avLst/>
          </a:prstGeom>
          <a:noFill/>
        </p:spPr>
        <p:txBody>
          <a:bodyPr wrap="square">
            <a:spAutoFit/>
          </a:bodyPr>
          <a:lstStyle/>
          <a:p>
            <a:pPr algn="l"/>
            <a:r>
              <a:rPr sz="1200" b="0">
                <a:solidFill>
                  <a:srgbClr val="8B949E"/>
                </a:solidFill>
              </a:rPr>
              <a:t>15:45</a:t>
            </a:r>
          </a:p>
        </p:txBody>
      </p:sp>
      <p:sp>
        <p:nvSpPr>
          <p:cNvPr id="40" name="TextBox 39"/>
          <p:cNvSpPr txBox="1"/>
          <p:nvPr/>
        </p:nvSpPr>
        <p:spPr>
          <a:xfrm>
            <a:off x="2150000" y="4270000"/>
            <a:ext cx="7500000" cy="460000"/>
          </a:xfrm>
          <a:prstGeom prst="rect">
            <a:avLst/>
          </a:prstGeom>
          <a:noFill/>
        </p:spPr>
        <p:txBody>
          <a:bodyPr wrap="square">
            <a:spAutoFit/>
          </a:bodyPr>
          <a:lstStyle/>
          <a:p>
            <a:pPr algn="l"/>
            <a:r>
              <a:rPr sz="1500" b="1">
                <a:solidFill>
                  <a:srgbClr val="FFFFFF"/>
                </a:solidFill>
              </a:rPr>
              <a:t>Custom AI Agent (Reasoning Loop)</a:t>
            </a:r>
          </a:p>
        </p:txBody>
      </p:sp>
      <p:sp>
        <p:nvSpPr>
          <p:cNvPr id="41" name="TextBox 40"/>
          <p:cNvSpPr txBox="1"/>
          <p:nvPr/>
        </p:nvSpPr>
        <p:spPr>
          <a:xfrm>
            <a:off x="10600000" y="4270000"/>
            <a:ext cx="1300000" cy="460000"/>
          </a:xfrm>
          <a:prstGeom prst="rect">
            <a:avLst/>
          </a:prstGeom>
          <a:noFill/>
        </p:spPr>
        <p:txBody>
          <a:bodyPr wrap="square">
            <a:spAutoFit/>
          </a:bodyPr>
          <a:lstStyle/>
          <a:p>
            <a:pPr algn="r"/>
            <a:r>
              <a:rPr sz="1200" b="0">
                <a:solidFill>
                  <a:srgbClr val="8B949E"/>
                </a:solidFill>
              </a:rPr>
              <a:t>45 min</a:t>
            </a:r>
          </a:p>
        </p:txBody>
      </p:sp>
      <p:sp>
        <p:nvSpPr>
          <p:cNvPr id="42" name="Rectangle 41"/>
          <p:cNvSpPr/>
          <p:nvPr/>
        </p:nvSpPr>
        <p:spPr>
          <a:xfrm>
            <a:off x="274320" y="4820000"/>
            <a:ext cx="11640312" cy="59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74320" y="4820000"/>
            <a:ext cx="60000" cy="59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0000" y="4910000"/>
            <a:ext cx="700000" cy="460000"/>
          </a:xfrm>
          <a:prstGeom prst="rect">
            <a:avLst/>
          </a:prstGeom>
          <a:noFill/>
        </p:spPr>
        <p:txBody>
          <a:bodyPr wrap="square">
            <a:spAutoFit/>
          </a:bodyPr>
          <a:lstStyle/>
          <a:p>
            <a:pPr algn="l"/>
            <a:r>
              <a:rPr sz="1300" b="1">
                <a:solidFill>
                  <a:srgbClr val="D2A8FF"/>
                </a:solidFill>
              </a:rPr>
              <a:t>Ch6</a:t>
            </a:r>
          </a:p>
        </p:txBody>
      </p:sp>
      <p:sp>
        <p:nvSpPr>
          <p:cNvPr id="45" name="TextBox 44"/>
          <p:cNvSpPr txBox="1"/>
          <p:nvPr/>
        </p:nvSpPr>
        <p:spPr>
          <a:xfrm>
            <a:off x="1150000" y="4910000"/>
            <a:ext cx="900000" cy="460000"/>
          </a:xfrm>
          <a:prstGeom prst="rect">
            <a:avLst/>
          </a:prstGeom>
          <a:noFill/>
        </p:spPr>
        <p:txBody>
          <a:bodyPr wrap="square">
            <a:spAutoFit/>
          </a:bodyPr>
          <a:lstStyle/>
          <a:p>
            <a:pPr algn="l"/>
            <a:r>
              <a:rPr sz="1200" b="0">
                <a:solidFill>
                  <a:srgbClr val="8B949E"/>
                </a:solidFill>
              </a:rPr>
              <a:t>16:30</a:t>
            </a:r>
          </a:p>
        </p:txBody>
      </p:sp>
      <p:sp>
        <p:nvSpPr>
          <p:cNvPr id="46" name="TextBox 45"/>
          <p:cNvSpPr txBox="1"/>
          <p:nvPr/>
        </p:nvSpPr>
        <p:spPr>
          <a:xfrm>
            <a:off x="2150000" y="4910000"/>
            <a:ext cx="7500000" cy="460000"/>
          </a:xfrm>
          <a:prstGeom prst="rect">
            <a:avLst/>
          </a:prstGeom>
          <a:noFill/>
        </p:spPr>
        <p:txBody>
          <a:bodyPr wrap="square">
            <a:spAutoFit/>
          </a:bodyPr>
          <a:lstStyle/>
          <a:p>
            <a:pPr algn="l"/>
            <a:r>
              <a:rPr sz="1500" b="1">
                <a:solidFill>
                  <a:srgbClr val="FFFFFF"/>
                </a:solidFill>
              </a:rPr>
              <a:t>Creating Effective Testing Skills</a:t>
            </a:r>
          </a:p>
        </p:txBody>
      </p:sp>
      <p:sp>
        <p:nvSpPr>
          <p:cNvPr id="47" name="TextBox 46"/>
          <p:cNvSpPr txBox="1"/>
          <p:nvPr/>
        </p:nvSpPr>
        <p:spPr>
          <a:xfrm>
            <a:off x="10600000" y="4910000"/>
            <a:ext cx="1300000" cy="460000"/>
          </a:xfrm>
          <a:prstGeom prst="rect">
            <a:avLst/>
          </a:prstGeom>
          <a:noFill/>
        </p:spPr>
        <p:txBody>
          <a:bodyPr wrap="square">
            <a:spAutoFit/>
          </a:bodyPr>
          <a:lstStyle/>
          <a:p>
            <a:pPr algn="r"/>
            <a:r>
              <a:rPr sz="1200" b="0">
                <a:solidFill>
                  <a:srgbClr val="8B949E"/>
                </a:solidFill>
              </a:rPr>
              <a:t>30 min</a:t>
            </a:r>
          </a:p>
        </p:txBody>
      </p:sp>
      <p:sp>
        <p:nvSpPr>
          <p:cNvPr id="48" name="Rectangle 47"/>
          <p:cNvSpPr/>
          <p:nvPr/>
        </p:nvSpPr>
        <p:spPr>
          <a:xfrm>
            <a:off x="274320" y="5460000"/>
            <a:ext cx="11640312" cy="59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74320" y="5460000"/>
            <a:ext cx="60000" cy="59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40000" y="5550000"/>
            <a:ext cx="700000" cy="460000"/>
          </a:xfrm>
          <a:prstGeom prst="rect">
            <a:avLst/>
          </a:prstGeom>
          <a:noFill/>
        </p:spPr>
        <p:txBody>
          <a:bodyPr wrap="square">
            <a:spAutoFit/>
          </a:bodyPr>
          <a:lstStyle/>
          <a:p>
            <a:pPr algn="l"/>
            <a:r>
              <a:rPr sz="1300" b="1">
                <a:solidFill>
                  <a:srgbClr val="58A6FF"/>
                </a:solidFill>
              </a:rPr>
              <a:t>Ch7</a:t>
            </a:r>
          </a:p>
        </p:txBody>
      </p:sp>
      <p:sp>
        <p:nvSpPr>
          <p:cNvPr id="51" name="TextBox 50"/>
          <p:cNvSpPr txBox="1"/>
          <p:nvPr/>
        </p:nvSpPr>
        <p:spPr>
          <a:xfrm>
            <a:off x="1150000" y="5550000"/>
            <a:ext cx="900000" cy="460000"/>
          </a:xfrm>
          <a:prstGeom prst="rect">
            <a:avLst/>
          </a:prstGeom>
          <a:noFill/>
        </p:spPr>
        <p:txBody>
          <a:bodyPr wrap="square">
            <a:spAutoFit/>
          </a:bodyPr>
          <a:lstStyle/>
          <a:p>
            <a:pPr algn="l"/>
            <a:r>
              <a:rPr sz="1200" b="0">
                <a:solidFill>
                  <a:srgbClr val="8B949E"/>
                </a:solidFill>
              </a:rPr>
              <a:t>17:00</a:t>
            </a:r>
          </a:p>
        </p:txBody>
      </p:sp>
      <p:sp>
        <p:nvSpPr>
          <p:cNvPr id="52" name="TextBox 51"/>
          <p:cNvSpPr txBox="1"/>
          <p:nvPr/>
        </p:nvSpPr>
        <p:spPr>
          <a:xfrm>
            <a:off x="2150000" y="5550000"/>
            <a:ext cx="7500000" cy="460000"/>
          </a:xfrm>
          <a:prstGeom prst="rect">
            <a:avLst/>
          </a:prstGeom>
          <a:noFill/>
        </p:spPr>
        <p:txBody>
          <a:bodyPr wrap="square">
            <a:spAutoFit/>
          </a:bodyPr>
          <a:lstStyle/>
          <a:p>
            <a:pPr algn="l"/>
            <a:r>
              <a:rPr sz="1500" b="1">
                <a:solidFill>
                  <a:srgbClr val="FFFFFF"/>
                </a:solidFill>
              </a:rPr>
              <a:t>Agent &amp; CI/CD Pipeline</a:t>
            </a:r>
          </a:p>
        </p:txBody>
      </p:sp>
      <p:sp>
        <p:nvSpPr>
          <p:cNvPr id="53" name="TextBox 52"/>
          <p:cNvSpPr txBox="1"/>
          <p:nvPr/>
        </p:nvSpPr>
        <p:spPr>
          <a:xfrm>
            <a:off x="10600000" y="5550000"/>
            <a:ext cx="1300000" cy="460000"/>
          </a:xfrm>
          <a:prstGeom prst="rect">
            <a:avLst/>
          </a:prstGeom>
          <a:noFill/>
        </p:spPr>
        <p:txBody>
          <a:bodyPr wrap="square">
            <a:spAutoFit/>
          </a:bodyPr>
          <a:lstStyle/>
          <a:p>
            <a:pPr algn="r"/>
            <a:r>
              <a:rPr sz="1200" b="0">
                <a:solidFill>
                  <a:srgbClr val="8B949E"/>
                </a:solidFill>
              </a:rPr>
              <a:t>60 min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Setup</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Prerequisites — Install Before Arriving</a:t>
            </a:r>
          </a:p>
        </p:txBody>
      </p:sp>
      <p:sp>
        <p:nvSpPr>
          <p:cNvPr id="6" name="Rectangle 5"/>
          <p:cNvSpPr/>
          <p:nvPr/>
        </p:nvSpPr>
        <p:spPr>
          <a:xfrm>
            <a:off x="274320" y="680000"/>
            <a:ext cx="3862104" cy="42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4320" y="800000"/>
            <a:ext cx="3760104" cy="360000"/>
          </a:xfrm>
          <a:prstGeom prst="rect">
            <a:avLst/>
          </a:prstGeom>
          <a:noFill/>
        </p:spPr>
        <p:txBody>
          <a:bodyPr wrap="square">
            <a:spAutoFit/>
          </a:bodyPr>
          <a:lstStyle/>
          <a:p>
            <a:pPr algn="l"/>
            <a:r>
              <a:rPr sz="1300" b="1">
                <a:solidFill>
                  <a:srgbClr val="0D1117"/>
                </a:solidFill>
              </a:rPr>
              <a:t>Tool</a:t>
            </a:r>
          </a:p>
        </p:txBody>
      </p:sp>
      <p:sp>
        <p:nvSpPr>
          <p:cNvPr id="8" name="Rectangle 7"/>
          <p:cNvSpPr/>
          <p:nvPr/>
        </p:nvSpPr>
        <p:spPr>
          <a:xfrm>
            <a:off x="4154424" y="680000"/>
            <a:ext cx="3862104" cy="42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14424" y="800000"/>
            <a:ext cx="3760104" cy="360000"/>
          </a:xfrm>
          <a:prstGeom prst="rect">
            <a:avLst/>
          </a:prstGeom>
          <a:noFill/>
        </p:spPr>
        <p:txBody>
          <a:bodyPr wrap="square">
            <a:spAutoFit/>
          </a:bodyPr>
          <a:lstStyle/>
          <a:p>
            <a:pPr algn="l"/>
            <a:r>
              <a:rPr sz="1300" b="1">
                <a:solidFill>
                  <a:srgbClr val="0D1117"/>
                </a:solidFill>
              </a:rPr>
              <a:t>Purpose</a:t>
            </a:r>
          </a:p>
        </p:txBody>
      </p:sp>
      <p:sp>
        <p:nvSpPr>
          <p:cNvPr id="10" name="Rectangle 9"/>
          <p:cNvSpPr/>
          <p:nvPr/>
        </p:nvSpPr>
        <p:spPr>
          <a:xfrm>
            <a:off x="8034528" y="680000"/>
            <a:ext cx="3862104" cy="42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4528" y="800000"/>
            <a:ext cx="3760104" cy="360000"/>
          </a:xfrm>
          <a:prstGeom prst="rect">
            <a:avLst/>
          </a:prstGeom>
          <a:noFill/>
        </p:spPr>
        <p:txBody>
          <a:bodyPr wrap="square">
            <a:spAutoFit/>
          </a:bodyPr>
          <a:lstStyle/>
          <a:p>
            <a:pPr algn="l"/>
            <a:r>
              <a:rPr sz="1300" b="1">
                <a:solidFill>
                  <a:srgbClr val="0D1117"/>
                </a:solidFill>
              </a:rPr>
              <a:t>Verify</a:t>
            </a:r>
          </a:p>
        </p:txBody>
      </p:sp>
      <p:sp>
        <p:nvSpPr>
          <p:cNvPr id="12" name="Rectangle 11"/>
          <p:cNvSpPr/>
          <p:nvPr/>
        </p:nvSpPr>
        <p:spPr>
          <a:xfrm>
            <a:off x="274320" y="1100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4320" y="1220000"/>
            <a:ext cx="3760104" cy="360000"/>
          </a:xfrm>
          <a:prstGeom prst="rect">
            <a:avLst/>
          </a:prstGeom>
          <a:noFill/>
        </p:spPr>
        <p:txBody>
          <a:bodyPr wrap="square">
            <a:spAutoFit/>
          </a:bodyPr>
          <a:lstStyle/>
          <a:p>
            <a:pPr algn="l"/>
            <a:r>
              <a:rPr sz="1200" b="0">
                <a:solidFill>
                  <a:srgbClr val="FFFFFF"/>
                </a:solidFill>
                <a:latin typeface="Courier New"/>
              </a:rPr>
              <a:t>VS Code + GitHub Copilot</a:t>
            </a:r>
          </a:p>
        </p:txBody>
      </p:sp>
      <p:sp>
        <p:nvSpPr>
          <p:cNvPr id="14" name="Rectangle 13"/>
          <p:cNvSpPr/>
          <p:nvPr/>
        </p:nvSpPr>
        <p:spPr>
          <a:xfrm>
            <a:off x="4154424" y="1100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14424" y="1220000"/>
            <a:ext cx="3760104" cy="360000"/>
          </a:xfrm>
          <a:prstGeom prst="rect">
            <a:avLst/>
          </a:prstGeom>
          <a:noFill/>
        </p:spPr>
        <p:txBody>
          <a:bodyPr wrap="square">
            <a:spAutoFit/>
          </a:bodyPr>
          <a:lstStyle/>
          <a:p>
            <a:pPr algn="l"/>
            <a:r>
              <a:rPr sz="1200" b="0">
                <a:solidFill>
                  <a:srgbClr val="FFFFFF"/>
                </a:solidFill>
              </a:rPr>
              <a:t>IDE + Agent Mode</a:t>
            </a:r>
          </a:p>
        </p:txBody>
      </p:sp>
      <p:sp>
        <p:nvSpPr>
          <p:cNvPr id="16" name="Rectangle 15"/>
          <p:cNvSpPr/>
          <p:nvPr/>
        </p:nvSpPr>
        <p:spPr>
          <a:xfrm>
            <a:off x="8034528" y="1100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94528" y="1220000"/>
            <a:ext cx="3760104" cy="360000"/>
          </a:xfrm>
          <a:prstGeom prst="rect">
            <a:avLst/>
          </a:prstGeom>
          <a:noFill/>
        </p:spPr>
        <p:txBody>
          <a:bodyPr wrap="square">
            <a:spAutoFit/>
          </a:bodyPr>
          <a:lstStyle/>
          <a:p>
            <a:pPr algn="l"/>
            <a:r>
              <a:rPr sz="1200" b="0">
                <a:solidFill>
                  <a:srgbClr val="FFFFFF"/>
                </a:solidFill>
              </a:rPr>
              <a:t>code --version</a:t>
            </a:r>
          </a:p>
        </p:txBody>
      </p:sp>
      <p:sp>
        <p:nvSpPr>
          <p:cNvPr id="18" name="Rectangle 17"/>
          <p:cNvSpPr/>
          <p:nvPr/>
        </p:nvSpPr>
        <p:spPr>
          <a:xfrm>
            <a:off x="274320" y="1538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4320" y="1658000"/>
            <a:ext cx="3760104" cy="360000"/>
          </a:xfrm>
          <a:prstGeom prst="rect">
            <a:avLst/>
          </a:prstGeom>
          <a:noFill/>
        </p:spPr>
        <p:txBody>
          <a:bodyPr wrap="square">
            <a:spAutoFit/>
          </a:bodyPr>
          <a:lstStyle/>
          <a:p>
            <a:pPr algn="l"/>
            <a:r>
              <a:rPr sz="1200" b="0">
                <a:solidFill>
                  <a:srgbClr val="FFFFFF"/>
                </a:solidFill>
                <a:latin typeface="Courier New"/>
              </a:rPr>
              <a:t>Claude Code (AI CLI)</a:t>
            </a:r>
          </a:p>
        </p:txBody>
      </p:sp>
      <p:sp>
        <p:nvSpPr>
          <p:cNvPr id="20" name="Rectangle 19"/>
          <p:cNvSpPr/>
          <p:nvPr/>
        </p:nvSpPr>
        <p:spPr>
          <a:xfrm>
            <a:off x="4154424" y="1538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14424" y="1658000"/>
            <a:ext cx="3760104" cy="360000"/>
          </a:xfrm>
          <a:prstGeom prst="rect">
            <a:avLst/>
          </a:prstGeom>
          <a:noFill/>
        </p:spPr>
        <p:txBody>
          <a:bodyPr wrap="square">
            <a:spAutoFit/>
          </a:bodyPr>
          <a:lstStyle/>
          <a:p>
            <a:pPr algn="l"/>
            <a:r>
              <a:rPr sz="1200" b="0">
                <a:solidFill>
                  <a:srgbClr val="FFFFFF"/>
                </a:solidFill>
              </a:rPr>
              <a:t>Skills + agentic authoring</a:t>
            </a:r>
          </a:p>
        </p:txBody>
      </p:sp>
      <p:sp>
        <p:nvSpPr>
          <p:cNvPr id="22" name="Rectangle 21"/>
          <p:cNvSpPr/>
          <p:nvPr/>
        </p:nvSpPr>
        <p:spPr>
          <a:xfrm>
            <a:off x="8034528" y="1538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94528" y="1658000"/>
            <a:ext cx="3760104" cy="360000"/>
          </a:xfrm>
          <a:prstGeom prst="rect">
            <a:avLst/>
          </a:prstGeom>
          <a:noFill/>
        </p:spPr>
        <p:txBody>
          <a:bodyPr wrap="square">
            <a:spAutoFit/>
          </a:bodyPr>
          <a:lstStyle/>
          <a:p>
            <a:pPr algn="l"/>
            <a:r>
              <a:rPr sz="1200" b="0">
                <a:solidFill>
                  <a:srgbClr val="FFFFFF"/>
                </a:solidFill>
              </a:rPr>
              <a:t>claude --version</a:t>
            </a:r>
          </a:p>
        </p:txBody>
      </p:sp>
      <p:sp>
        <p:nvSpPr>
          <p:cNvPr id="24" name="Rectangle 23"/>
          <p:cNvSpPr/>
          <p:nvPr/>
        </p:nvSpPr>
        <p:spPr>
          <a:xfrm>
            <a:off x="274320" y="1976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4320" y="2096000"/>
            <a:ext cx="3760104" cy="360000"/>
          </a:xfrm>
          <a:prstGeom prst="rect">
            <a:avLst/>
          </a:prstGeom>
          <a:noFill/>
        </p:spPr>
        <p:txBody>
          <a:bodyPr wrap="square">
            <a:spAutoFit/>
          </a:bodyPr>
          <a:lstStyle/>
          <a:p>
            <a:pPr algn="l"/>
            <a:r>
              <a:rPr sz="1200" b="0">
                <a:solidFill>
                  <a:srgbClr val="FFFFFF"/>
                </a:solidFill>
                <a:latin typeface="Courier New"/>
              </a:rPr>
              <a:t>Node.js LTS</a:t>
            </a:r>
          </a:p>
        </p:txBody>
      </p:sp>
      <p:sp>
        <p:nvSpPr>
          <p:cNvPr id="26" name="Rectangle 25"/>
          <p:cNvSpPr/>
          <p:nvPr/>
        </p:nvSpPr>
        <p:spPr>
          <a:xfrm>
            <a:off x="4154424" y="1976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14424" y="2096000"/>
            <a:ext cx="3760104" cy="360000"/>
          </a:xfrm>
          <a:prstGeom prst="rect">
            <a:avLst/>
          </a:prstGeom>
          <a:noFill/>
        </p:spPr>
        <p:txBody>
          <a:bodyPr wrap="square">
            <a:spAutoFit/>
          </a:bodyPr>
          <a:lstStyle/>
          <a:p>
            <a:pPr algn="l"/>
            <a:r>
              <a:rPr sz="1200" b="0">
                <a:solidFill>
                  <a:srgbClr val="FFFFFF"/>
                </a:solidFill>
              </a:rPr>
              <a:t>Runtime for Playwright / TS</a:t>
            </a:r>
          </a:p>
        </p:txBody>
      </p:sp>
      <p:sp>
        <p:nvSpPr>
          <p:cNvPr id="28" name="Rectangle 27"/>
          <p:cNvSpPr/>
          <p:nvPr/>
        </p:nvSpPr>
        <p:spPr>
          <a:xfrm>
            <a:off x="8034528" y="1976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4528" y="2096000"/>
            <a:ext cx="3760104" cy="360000"/>
          </a:xfrm>
          <a:prstGeom prst="rect">
            <a:avLst/>
          </a:prstGeom>
          <a:noFill/>
        </p:spPr>
        <p:txBody>
          <a:bodyPr wrap="square">
            <a:spAutoFit/>
          </a:bodyPr>
          <a:lstStyle/>
          <a:p>
            <a:pPr algn="l"/>
            <a:r>
              <a:rPr sz="1200" b="0">
                <a:solidFill>
                  <a:srgbClr val="FFFFFF"/>
                </a:solidFill>
              </a:rPr>
              <a:t>node -v</a:t>
            </a:r>
          </a:p>
        </p:txBody>
      </p:sp>
      <p:sp>
        <p:nvSpPr>
          <p:cNvPr id="30" name="Rectangle 29"/>
          <p:cNvSpPr/>
          <p:nvPr/>
        </p:nvSpPr>
        <p:spPr>
          <a:xfrm>
            <a:off x="274320" y="2414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4320" y="2534000"/>
            <a:ext cx="3760104" cy="360000"/>
          </a:xfrm>
          <a:prstGeom prst="rect">
            <a:avLst/>
          </a:prstGeom>
          <a:noFill/>
        </p:spPr>
        <p:txBody>
          <a:bodyPr wrap="square">
            <a:spAutoFit/>
          </a:bodyPr>
          <a:lstStyle/>
          <a:p>
            <a:pPr algn="l"/>
            <a:r>
              <a:rPr sz="1200" b="0">
                <a:solidFill>
                  <a:srgbClr val="FFFFFF"/>
                </a:solidFill>
                <a:latin typeface="Courier New"/>
              </a:rPr>
              <a:t>Playwright</a:t>
            </a:r>
          </a:p>
        </p:txBody>
      </p:sp>
      <p:sp>
        <p:nvSpPr>
          <p:cNvPr id="32" name="Rectangle 31"/>
          <p:cNvSpPr/>
          <p:nvPr/>
        </p:nvSpPr>
        <p:spPr>
          <a:xfrm>
            <a:off x="4154424" y="2414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14424" y="2534000"/>
            <a:ext cx="3760104" cy="360000"/>
          </a:xfrm>
          <a:prstGeom prst="rect">
            <a:avLst/>
          </a:prstGeom>
          <a:noFill/>
        </p:spPr>
        <p:txBody>
          <a:bodyPr wrap="square">
            <a:spAutoFit/>
          </a:bodyPr>
          <a:lstStyle/>
          <a:p>
            <a:pPr algn="l"/>
            <a:r>
              <a:rPr sz="1200" b="0">
                <a:solidFill>
                  <a:srgbClr val="FFFFFF"/>
                </a:solidFill>
              </a:rPr>
              <a:t>Browser automation + MCP</a:t>
            </a:r>
          </a:p>
        </p:txBody>
      </p:sp>
      <p:sp>
        <p:nvSpPr>
          <p:cNvPr id="34" name="Rectangle 33"/>
          <p:cNvSpPr/>
          <p:nvPr/>
        </p:nvSpPr>
        <p:spPr>
          <a:xfrm>
            <a:off x="8034528" y="2414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94528" y="2534000"/>
            <a:ext cx="3760104" cy="360000"/>
          </a:xfrm>
          <a:prstGeom prst="rect">
            <a:avLst/>
          </a:prstGeom>
          <a:noFill/>
        </p:spPr>
        <p:txBody>
          <a:bodyPr wrap="square">
            <a:spAutoFit/>
          </a:bodyPr>
          <a:lstStyle/>
          <a:p>
            <a:pPr algn="l"/>
            <a:r>
              <a:rPr sz="1200" b="0">
                <a:solidFill>
                  <a:srgbClr val="FFFFFF"/>
                </a:solidFill>
              </a:rPr>
              <a:t>npx playwright --version</a:t>
            </a:r>
          </a:p>
        </p:txBody>
      </p:sp>
      <p:sp>
        <p:nvSpPr>
          <p:cNvPr id="36" name="Rectangle 35"/>
          <p:cNvSpPr/>
          <p:nvPr/>
        </p:nvSpPr>
        <p:spPr>
          <a:xfrm>
            <a:off x="274320" y="2852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4320" y="2972000"/>
            <a:ext cx="3760104" cy="360000"/>
          </a:xfrm>
          <a:prstGeom prst="rect">
            <a:avLst/>
          </a:prstGeom>
          <a:noFill/>
        </p:spPr>
        <p:txBody>
          <a:bodyPr wrap="square">
            <a:spAutoFit/>
          </a:bodyPr>
          <a:lstStyle/>
          <a:p>
            <a:pPr algn="l"/>
            <a:r>
              <a:rPr sz="1200" b="0">
                <a:solidFill>
                  <a:srgbClr val="FFFFFF"/>
                </a:solidFill>
                <a:latin typeface="Courier New"/>
              </a:rPr>
              <a:t>Docker Engine</a:t>
            </a:r>
          </a:p>
        </p:txBody>
      </p:sp>
      <p:sp>
        <p:nvSpPr>
          <p:cNvPr id="38" name="Rectangle 37"/>
          <p:cNvSpPr/>
          <p:nvPr/>
        </p:nvSpPr>
        <p:spPr>
          <a:xfrm>
            <a:off x="4154424" y="2852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14424" y="2972000"/>
            <a:ext cx="3760104" cy="360000"/>
          </a:xfrm>
          <a:prstGeom prst="rect">
            <a:avLst/>
          </a:prstGeom>
          <a:noFill/>
        </p:spPr>
        <p:txBody>
          <a:bodyPr wrap="square">
            <a:spAutoFit/>
          </a:bodyPr>
          <a:lstStyle/>
          <a:p>
            <a:pPr algn="l"/>
            <a:r>
              <a:rPr sz="1200" b="0">
                <a:solidFill>
                  <a:srgbClr val="FFFFFF"/>
                </a:solidFill>
              </a:rPr>
              <a:t>CI/CD containerised runs</a:t>
            </a:r>
          </a:p>
        </p:txBody>
      </p:sp>
      <p:sp>
        <p:nvSpPr>
          <p:cNvPr id="40" name="Rectangle 39"/>
          <p:cNvSpPr/>
          <p:nvPr/>
        </p:nvSpPr>
        <p:spPr>
          <a:xfrm>
            <a:off x="8034528" y="2852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94528" y="2972000"/>
            <a:ext cx="3760104" cy="360000"/>
          </a:xfrm>
          <a:prstGeom prst="rect">
            <a:avLst/>
          </a:prstGeom>
          <a:noFill/>
        </p:spPr>
        <p:txBody>
          <a:bodyPr wrap="square">
            <a:spAutoFit/>
          </a:bodyPr>
          <a:lstStyle/>
          <a:p>
            <a:pPr algn="l"/>
            <a:r>
              <a:rPr sz="1200" b="0">
                <a:solidFill>
                  <a:srgbClr val="FFFFFF"/>
                </a:solidFill>
              </a:rPr>
              <a:t>docker info</a:t>
            </a:r>
          </a:p>
        </p:txBody>
      </p:sp>
      <p:sp>
        <p:nvSpPr>
          <p:cNvPr id="42" name="Rectangle 41"/>
          <p:cNvSpPr/>
          <p:nvPr/>
        </p:nvSpPr>
        <p:spPr>
          <a:xfrm>
            <a:off x="274320" y="3290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4320" y="3410000"/>
            <a:ext cx="3760104" cy="360000"/>
          </a:xfrm>
          <a:prstGeom prst="rect">
            <a:avLst/>
          </a:prstGeom>
          <a:noFill/>
        </p:spPr>
        <p:txBody>
          <a:bodyPr wrap="square">
            <a:spAutoFit/>
          </a:bodyPr>
          <a:lstStyle/>
          <a:p>
            <a:pPr algn="l"/>
            <a:r>
              <a:rPr sz="1200" b="0">
                <a:solidFill>
                  <a:srgbClr val="FFFFFF"/>
                </a:solidFill>
                <a:latin typeface="Courier New"/>
              </a:rPr>
              <a:t>ANTHROPIC_API_KEY</a:t>
            </a:r>
          </a:p>
        </p:txBody>
      </p:sp>
      <p:sp>
        <p:nvSpPr>
          <p:cNvPr id="44" name="Rectangle 43"/>
          <p:cNvSpPr/>
          <p:nvPr/>
        </p:nvSpPr>
        <p:spPr>
          <a:xfrm>
            <a:off x="4154424" y="3290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214424" y="3410000"/>
            <a:ext cx="3760104" cy="360000"/>
          </a:xfrm>
          <a:prstGeom prst="rect">
            <a:avLst/>
          </a:prstGeom>
          <a:noFill/>
        </p:spPr>
        <p:txBody>
          <a:bodyPr wrap="square">
            <a:spAutoFit/>
          </a:bodyPr>
          <a:lstStyle/>
          <a:p>
            <a:pPr algn="l"/>
            <a:r>
              <a:rPr sz="1200" b="0">
                <a:solidFill>
                  <a:srgbClr val="FFFFFF"/>
                </a:solidFill>
              </a:rPr>
              <a:t>Anthropic SDK authentication</a:t>
            </a:r>
          </a:p>
        </p:txBody>
      </p:sp>
      <p:sp>
        <p:nvSpPr>
          <p:cNvPr id="46" name="Rectangle 45"/>
          <p:cNvSpPr/>
          <p:nvPr/>
        </p:nvSpPr>
        <p:spPr>
          <a:xfrm>
            <a:off x="8034528" y="3290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94528" y="3410000"/>
            <a:ext cx="3760104" cy="360000"/>
          </a:xfrm>
          <a:prstGeom prst="rect">
            <a:avLst/>
          </a:prstGeom>
          <a:noFill/>
        </p:spPr>
        <p:txBody>
          <a:bodyPr wrap="square">
            <a:spAutoFit/>
          </a:bodyPr>
          <a:lstStyle/>
          <a:p>
            <a:pPr algn="l"/>
            <a:r>
              <a:rPr sz="1200" b="0">
                <a:solidFill>
                  <a:srgbClr val="FFFFFF"/>
                </a:solidFill>
              </a:rPr>
              <a:t>echo $ANTHROPIC_API_KEY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Setup</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The System Under Test — Web Detective</a:t>
            </a:r>
          </a:p>
        </p:txBody>
      </p:sp>
      <p:sp>
        <p:nvSpPr>
          <p:cNvPr id="6" name="Rectangle 5"/>
          <p:cNvSpPr/>
          <p:nvPr/>
        </p:nvSpPr>
        <p:spPr>
          <a:xfrm>
            <a:off x="274320"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40196"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740000"/>
            <a:ext cx="5545836" cy="300000"/>
          </a:xfrm>
          <a:prstGeom prst="rect">
            <a:avLst/>
          </a:prstGeom>
          <a:noFill/>
        </p:spPr>
        <p:txBody>
          <a:bodyPr wrap="square">
            <a:spAutoFit/>
          </a:bodyPr>
          <a:lstStyle/>
          <a:p>
            <a:pPr algn="l"/>
            <a:r>
              <a:rPr sz="1400" b="1">
                <a:solidFill>
                  <a:srgbClr val="58A6FF"/>
                </a:solidFill>
              </a:rPr>
              <a:t>Tech Stack</a:t>
            </a:r>
          </a:p>
        </p:txBody>
      </p:sp>
      <p:sp>
        <p:nvSpPr>
          <p:cNvPr id="9" name="TextBox 8"/>
          <p:cNvSpPr txBox="1"/>
          <p:nvPr/>
        </p:nvSpPr>
        <p:spPr>
          <a:xfrm>
            <a:off x="457200" y="1090000"/>
            <a:ext cx="5545836" cy="5548000"/>
          </a:xfrm>
          <a:prstGeom prst="rect">
            <a:avLst/>
          </a:prstGeom>
          <a:noFill/>
        </p:spPr>
        <p:txBody>
          <a:bodyPr wrap="square">
            <a:spAutoFit/>
          </a:bodyPr>
          <a:lstStyle/>
          <a:p>
            <a:pPr algn="l">
              <a:lnSpc>
                <a:spcPts val="1700"/>
              </a:lnSpc>
            </a:pPr>
            <a:r>
              <a:rPr sz="1300" b="0">
                <a:solidFill>
                  <a:srgbClr val="FFFFFF"/>
                </a:solidFill>
              </a:rPr>
              <a:t>React 18 + TypeScript + Vite</a:t>
            </a:r>
          </a:p>
          <a:p>
            <a:pPr algn="l">
              <a:lnSpc>
                <a:spcPts val="1700"/>
              </a:lnSpc>
            </a:pPr>
            <a:r>
              <a:rPr sz="1300" b="0">
                <a:solidFill>
                  <a:srgbClr val="FFFFFF"/>
                </a:solidFill>
              </a:rPr>
              <a:t>React Router v6</a:t>
            </a:r>
          </a:p>
          <a:p>
            <a:pPr algn="l">
              <a:lnSpc>
                <a:spcPts val="1700"/>
              </a:lnSpc>
            </a:pPr>
            <a:r>
              <a:rPr sz="1300" b="0">
                <a:solidFill>
                  <a:srgbClr val="FFFFFF"/>
                </a:solidFill>
              </a:rPr>
              <a:t>Recharts (dashboard charts)</a:t>
            </a:r>
          </a:p>
          <a:p>
            <a:pPr algn="l">
              <a:lnSpc>
                <a:spcPts val="1700"/>
              </a:lnSpc>
            </a:pPr>
            <a:r>
              <a:rPr sz="1300" b="0">
                <a:solidFill>
                  <a:srgbClr val="FFFFFF"/>
                </a:solidFill>
              </a:rPr>
              <a:t>Playwright (automation layer)</a:t>
            </a:r>
          </a:p>
          <a:p>
            <a:pPr algn="l">
              <a:lnSpc>
                <a:spcPts val="1700"/>
              </a:lnSpc>
            </a:pPr>
            <a:r>
              <a:rPr sz="1300" b="0">
                <a:solidFill>
                  <a:srgbClr val="FFFFFF"/>
                </a:solidFill>
              </a:rPr>
              <a:t>Anthropic SDK (LLM reasoning)</a:t>
            </a:r>
          </a:p>
          <a:p>
            <a:pPr algn="l">
              <a:lnSpc>
                <a:spcPts val="1700"/>
              </a:lnSpc>
            </a:pPr>
            <a:r>
              <a:rPr sz="1300" b="0">
                <a:solidFill>
                  <a:srgbClr val="FFFFFF"/>
                </a:solidFill>
              </a:rPr>
              <a:t/>
            </a:r>
          </a:p>
          <a:p>
            <a:pPr algn="l">
              <a:lnSpc>
                <a:spcPts val="1700"/>
              </a:lnSpc>
            </a:pPr>
            <a:r>
              <a:rPr sz="1300" b="0">
                <a:solidFill>
                  <a:srgbClr val="39D353"/>
                </a:solidFill>
              </a:rPr>
              <a:t>npm install  &amp;&amp;  npm run dev</a:t>
            </a:r>
          </a:p>
          <a:p>
            <a:pPr algn="l">
              <a:lnSpc>
                <a:spcPts val="1700"/>
              </a:lnSpc>
            </a:pPr>
            <a:r>
              <a:rPr sz="1300" b="0">
                <a:solidFill>
                  <a:srgbClr val="8B949E"/>
                </a:solidFill>
              </a:rPr>
              <a:t>→  http://localhost:5173</a:t>
            </a:r>
          </a:p>
        </p:txBody>
      </p:sp>
      <p:sp>
        <p:nvSpPr>
          <p:cNvPr id="10" name="TextBox 9"/>
          <p:cNvSpPr txBox="1"/>
          <p:nvPr/>
        </p:nvSpPr>
        <p:spPr>
          <a:xfrm>
            <a:off x="6323076" y="740000"/>
            <a:ext cx="5545836" cy="300000"/>
          </a:xfrm>
          <a:prstGeom prst="rect">
            <a:avLst/>
          </a:prstGeom>
          <a:noFill/>
        </p:spPr>
        <p:txBody>
          <a:bodyPr wrap="square">
            <a:spAutoFit/>
          </a:bodyPr>
          <a:lstStyle/>
          <a:p>
            <a:pPr algn="l"/>
            <a:r>
              <a:rPr sz="1400" b="1">
                <a:solidFill>
                  <a:srgbClr val="58A6FF"/>
                </a:solidFill>
              </a:rPr>
              <a:t>App Routes</a:t>
            </a:r>
          </a:p>
        </p:txBody>
      </p:sp>
      <p:sp>
        <p:nvSpPr>
          <p:cNvPr id="11" name="TextBox 10"/>
          <p:cNvSpPr txBox="1"/>
          <p:nvPr/>
        </p:nvSpPr>
        <p:spPr>
          <a:xfrm>
            <a:off x="6323076" y="1090000"/>
            <a:ext cx="5545836" cy="5548000"/>
          </a:xfrm>
          <a:prstGeom prst="rect">
            <a:avLst/>
          </a:prstGeom>
          <a:noFill/>
        </p:spPr>
        <p:txBody>
          <a:bodyPr wrap="square">
            <a:spAutoFit/>
          </a:bodyPr>
          <a:lstStyle/>
          <a:p>
            <a:pPr algn="l">
              <a:lnSpc>
                <a:spcPts val="1700"/>
              </a:lnSpc>
            </a:pPr>
            <a:r>
              <a:rPr sz="1300" b="0">
                <a:solidFill>
                  <a:srgbClr val="FFFFFF"/>
                </a:solidFill>
              </a:rPr>
              <a:t>/login   Auth form, session redirect</a:t>
            </a:r>
          </a:p>
          <a:p>
            <a:pPr algn="l">
              <a:lnSpc>
                <a:spcPts val="1700"/>
              </a:lnSpc>
            </a:pPr>
            <a:r>
              <a:rPr sz="1300" b="0">
                <a:solidFill>
                  <a:srgbClr val="FFFFFF"/>
                </a:solidFill>
              </a:rPr>
              <a:t>/dashboard   Stats + Recharts charts</a:t>
            </a:r>
          </a:p>
          <a:p>
            <a:pPr algn="l">
              <a:lnSpc>
                <a:spcPts val="1700"/>
              </a:lnSpc>
            </a:pPr>
            <a:r>
              <a:rPr sz="1300" b="0">
                <a:solidFill>
                  <a:srgbClr val="FFFFFF"/>
                </a:solidFill>
              </a:rPr>
              <a:t>/products   Searchable product table</a:t>
            </a:r>
          </a:p>
          <a:p>
            <a:pPr algn="l">
              <a:lnSpc>
                <a:spcPts val="1700"/>
              </a:lnSpc>
            </a:pPr>
            <a:r>
              <a:rPr sz="1300" b="0">
                <a:solidFill>
                  <a:srgbClr val="FFFFFF"/>
                </a:solidFill>
              </a:rPr>
              <a:t/>
            </a:r>
          </a:p>
          <a:p>
            <a:pPr algn="l">
              <a:lnSpc>
                <a:spcPts val="1700"/>
              </a:lnSpc>
            </a:pPr>
            <a:r>
              <a:rPr sz="1300" b="0">
                <a:solidFill>
                  <a:srgbClr val="8B949E"/>
                </a:solidFill>
              </a:rPr>
              <a:t>Credentials</a:t>
            </a:r>
          </a:p>
          <a:p>
            <a:pPr algn="l">
              <a:lnSpc>
                <a:spcPts val="1700"/>
              </a:lnSpc>
            </a:pPr>
            <a:r>
              <a:rPr sz="1300" b="0">
                <a:solidFill>
                  <a:srgbClr val="39D353"/>
                </a:solidFill>
              </a:rPr>
              <a:t>admin@shop.com  /  password123</a:t>
            </a:r>
          </a:p>
          <a:p>
            <a:pPr algn="l">
              <a:lnSpc>
                <a:spcPts val="1700"/>
              </a:lnSpc>
            </a:pPr>
            <a:r>
              <a:rPr sz="1300" b="0">
                <a:solidFill>
                  <a:srgbClr val="FFFFFF"/>
                </a:solidFill>
              </a:rPr>
              <a:t/>
            </a:r>
          </a:p>
          <a:p>
            <a:pPr algn="l">
              <a:lnSpc>
                <a:spcPts val="1700"/>
              </a:lnSpc>
            </a:pPr>
            <a:r>
              <a:rPr sz="1300" b="0">
                <a:solidFill>
                  <a:srgbClr val="8B949E"/>
                </a:solidFill>
              </a:rPr>
              <a:t>Purpose: intentionally simple so focus
stays on automation patterns.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Setup</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Repository Structure</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tree -L 2</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8B949E"/>
                </a:solidFill>
                <a:latin typeface="Courier New"/>
              </a:rPr>
              <a:t>src/                  React app (the system under test)</a:t>
            </a:r>
          </a:p>
          <a:p>
            <a:pPr algn="l">
              <a:lnSpc>
                <a:spcPts val="1500"/>
              </a:lnSpc>
            </a:pPr>
            <a:r>
              <a:rPr sz="1200" b="0">
                <a:solidFill>
                  <a:srgbClr val="8B949E"/>
                </a:solidFill>
                <a:latin typeface="Courier New"/>
              </a:rPr>
              <a:t>tests/                Hand-written Playwright specs + POMs</a:t>
            </a:r>
          </a:p>
          <a:p>
            <a:pPr algn="l">
              <a:lnSpc>
                <a:spcPts val="1500"/>
              </a:lnSpc>
            </a:pPr>
            <a:r>
              <a:rPr sz="1200" b="0">
                <a:solidFill>
                  <a:srgbClr val="8B949E"/>
                </a:solidFill>
                <a:latin typeface="Courier New"/>
              </a:rPr>
              <a:t>  fixtures/           Shared setup (auth, baseURL)</a:t>
            </a:r>
          </a:p>
          <a:p>
            <a:pPr algn="l">
              <a:lnSpc>
                <a:spcPts val="1500"/>
              </a:lnSpc>
            </a:pPr>
            <a:r>
              <a:rPr sz="1200" b="0">
                <a:solidFill>
                  <a:srgbClr val="8B949E"/>
                </a:solidFill>
                <a:latin typeface="Courier New"/>
              </a:rPr>
              <a:t>  pages/              Page Object Models</a:t>
            </a:r>
          </a:p>
          <a:p>
            <a:pPr algn="l">
              <a:lnSpc>
                <a:spcPts val="1500"/>
              </a:lnSpc>
            </a:pPr>
            <a:r>
              <a:rPr sz="1200" b="0">
                <a:solidFill>
                  <a:srgbClr val="8B949E"/>
                </a:solidFill>
                <a:latin typeface="Courier New"/>
              </a:rPr>
              <a:t>examples/             Workshop chapter code</a:t>
            </a:r>
          </a:p>
          <a:p>
            <a:pPr algn="l">
              <a:lnSpc>
                <a:spcPts val="1500"/>
              </a:lnSpc>
            </a:pPr>
            <a:r>
              <a:rPr sz="1200" b="0">
                <a:solidFill>
                  <a:srgbClr val="FFFFFF"/>
                </a:solidFill>
                <a:latin typeface="Courier New"/>
              </a:rPr>
              <a:t>  ch1-foundations/    brittle-test.spec.ts, task-graph.ts</a:t>
            </a:r>
          </a:p>
          <a:p>
            <a:pPr algn="l">
              <a:lnSpc>
                <a:spcPts val="1500"/>
              </a:lnSpc>
            </a:pPr>
            <a:r>
              <a:rPr sz="1200" b="0">
                <a:solidFill>
                  <a:srgbClr val="FFFFFF"/>
                </a:solidFill>
                <a:latin typeface="Courier New"/>
              </a:rPr>
              <a:t>  ch2-execution-layer/ action-wrapper.ts, browser-session.ts</a:t>
            </a:r>
          </a:p>
          <a:p>
            <a:pPr algn="l">
              <a:lnSpc>
                <a:spcPts val="1500"/>
              </a:lnSpc>
            </a:pPr>
            <a:r>
              <a:rPr sz="1200" b="0">
                <a:solidFill>
                  <a:srgbClr val="FFFFFF"/>
                </a:solidFill>
                <a:latin typeface="Courier New"/>
              </a:rPr>
              <a:t>  ch3-mcp/            server.ts, playwright-mcp-client.ts</a:t>
            </a:r>
          </a:p>
          <a:p>
            <a:pPr algn="l">
              <a:lnSpc>
                <a:spcPts val="1500"/>
              </a:lnSpc>
            </a:pPr>
            <a:r>
              <a:rPr sz="1200" b="0">
                <a:solidFill>
                  <a:srgbClr val="FFFFFF"/>
                </a:solidFill>
                <a:latin typeface="Courier New"/>
              </a:rPr>
              <a:t>  ch4-self-healing/   locator-store.ts, self-healer.ts</a:t>
            </a:r>
          </a:p>
          <a:p>
            <a:pPr algn="l">
              <a:lnSpc>
                <a:spcPts val="1500"/>
              </a:lnSpc>
            </a:pPr>
            <a:r>
              <a:rPr sz="1200" b="0">
                <a:solidFill>
                  <a:srgbClr val="FFA657"/>
                </a:solidFill>
                <a:latin typeface="Courier New"/>
              </a:rPr>
              <a:t>  ch4.1-playwright-agents/  planner.ts, healer.ts</a:t>
            </a:r>
          </a:p>
          <a:p>
            <a:pPr algn="l">
              <a:lnSpc>
                <a:spcPts val="1500"/>
              </a:lnSpc>
            </a:pPr>
            <a:r>
              <a:rPr sz="1200" b="0">
                <a:solidFill>
                  <a:srgbClr val="FFFFFF"/>
                </a:solidFill>
                <a:latin typeface="Courier New"/>
              </a:rPr>
              <a:t>  ch5-custom-agent/   agent.ts, tools.ts, prompts.ts</a:t>
            </a:r>
          </a:p>
          <a:p>
            <a:pPr algn="l">
              <a:lnSpc>
                <a:spcPts val="1500"/>
              </a:lnSpc>
            </a:pPr>
            <a:r>
              <a:rPr sz="1200" b="0">
                <a:solidFill>
                  <a:srgbClr val="FFFFFF"/>
                </a:solidFill>
                <a:latin typeface="Courier New"/>
              </a:rPr>
              <a:t>  ch7-agent-ci/       agent-runner.ts, reporter.ts, scenarios.ts</a:t>
            </a:r>
          </a:p>
          <a:p>
            <a:pPr algn="l">
              <a:lnSpc>
                <a:spcPts val="1500"/>
              </a:lnSpc>
            </a:pPr>
            <a:r>
              <a:rPr sz="1200" b="0">
                <a:solidFill>
                  <a:srgbClr val="D2A8FF"/>
                </a:solidFill>
                <a:latin typeface="Courier New"/>
              </a:rPr>
              <a:t>.claude/skills/       pw-run, pw-debug, pw-plan, pw-self-heal …</a:t>
            </a:r>
          </a:p>
          <a:p>
            <a:pPr algn="l">
              <a:lnSpc>
                <a:spcPts val="1500"/>
              </a:lnSpc>
            </a:pPr>
            <a:r>
              <a:rPr sz="1200" b="0">
                <a:solidFill>
                  <a:srgbClr val="8B949E"/>
                </a:solidFill>
                <a:latin typeface="Courier New"/>
              </a:rPr>
              <a:t>.github/workflows/    per-chapter CI jobs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Setup</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Environment Check — Run These Now</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39D353"/>
                </a:solidFill>
              </a:rPr>
              <a:t>npx playwright test --reporter=list</a:t>
            </a:r>
          </a:p>
          <a:p>
            <a:pPr algn="l">
              <a:lnSpc>
                <a:spcPts val="1800"/>
              </a:lnSpc>
            </a:pPr>
            <a:r>
              <a:rPr sz="1400" b="0">
                <a:solidFill>
                  <a:srgbClr val="8B949E"/>
                </a:solidFill>
              </a:rPr>
              <a:t>  → should show tests/auth.spec.ts, products.spec.ts, dashboard.spec.ts</a:t>
            </a:r>
          </a:p>
          <a:p>
            <a:pPr algn="l">
              <a:lnSpc>
                <a:spcPts val="1800"/>
              </a:lnSpc>
            </a:pPr>
            <a:r>
              <a:rPr sz="1400" b="0">
                <a:solidFill>
                  <a:srgbClr val="FFFFFF"/>
                </a:solidFill>
              </a:rPr>
              <a:t/>
            </a:r>
          </a:p>
          <a:p>
            <a:pPr algn="l">
              <a:lnSpc>
                <a:spcPts val="1800"/>
              </a:lnSpc>
            </a:pPr>
            <a:r>
              <a:rPr sz="1400" b="0">
                <a:solidFill>
                  <a:srgbClr val="39D353"/>
                </a:solidFill>
              </a:rPr>
              <a:t>ANTHROPIC_API_KEY=sk-ant-... node -e "require('@anthropic-ai/sdk')"</a:t>
            </a:r>
          </a:p>
          <a:p>
            <a:pPr algn="l">
              <a:lnSpc>
                <a:spcPts val="1800"/>
              </a:lnSpc>
            </a:pPr>
            <a:r>
              <a:rPr sz="1400" b="0">
                <a:solidFill>
                  <a:srgbClr val="8B949E"/>
                </a:solidFill>
              </a:rPr>
              <a:t>  → no error = SDK wired correctly</a:t>
            </a:r>
          </a:p>
          <a:p>
            <a:pPr algn="l">
              <a:lnSpc>
                <a:spcPts val="1800"/>
              </a:lnSpc>
            </a:pPr>
            <a:r>
              <a:rPr sz="1400" b="0">
                <a:solidFill>
                  <a:srgbClr val="FFFFFF"/>
                </a:solidFill>
              </a:rPr>
              <a:t/>
            </a:r>
          </a:p>
          <a:p>
            <a:pPr algn="l">
              <a:lnSpc>
                <a:spcPts val="1800"/>
              </a:lnSpc>
            </a:pPr>
            <a:r>
              <a:rPr sz="1400" b="0">
                <a:solidFill>
                  <a:srgbClr val="39D353"/>
                </a:solidFill>
              </a:rPr>
              <a:t>npx ts-node examples/ch5-custom-agent/agent.ts</a:t>
            </a:r>
          </a:p>
          <a:p>
            <a:pPr algn="l">
              <a:lnSpc>
                <a:spcPts val="1800"/>
              </a:lnSpc>
            </a:pPr>
            <a:r>
              <a:rPr sz="1400" b="0">
                <a:solidFill>
                  <a:srgbClr val="8B949E"/>
                </a:solidFill>
              </a:rPr>
              <a:t>  → agent should log steps and pass the full e-commerce scenario</a:t>
            </a:r>
          </a:p>
          <a:p>
            <a:pPr algn="l">
              <a:lnSpc>
                <a:spcPts val="1800"/>
              </a:lnSpc>
            </a:pPr>
            <a:r>
              <a:rPr sz="1400" b="0">
                <a:solidFill>
                  <a:srgbClr val="FFFFFF"/>
                </a:solidFill>
              </a:rPr>
              <a:t/>
            </a:r>
          </a:p>
          <a:p>
            <a:pPr algn="l">
              <a:lnSpc>
                <a:spcPts val="1800"/>
              </a:lnSpc>
            </a:pPr>
            <a:r>
              <a:rPr sz="1400" b="0">
                <a:solidFill>
                  <a:srgbClr val="F78466"/>
                </a:solidFill>
              </a:rPr>
              <a:t>If anything fails → raise your hand now.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37160"/>
            <a:ext cx="1371600" cy="34747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9184" y="164592"/>
            <a:ext cx="1280160" cy="320040"/>
          </a:xfrm>
          <a:prstGeom prst="rect">
            <a:avLst/>
          </a:prstGeom>
          <a:noFill/>
        </p:spPr>
        <p:txBody>
          <a:bodyPr wrap="square">
            <a:spAutoFit/>
          </a:bodyPr>
          <a:lstStyle/>
          <a:p>
            <a:pPr algn="ctr"/>
            <a:r>
              <a:rPr sz="1300" b="1">
                <a:solidFill>
                  <a:srgbClr val="0D1117"/>
                </a:solidFill>
              </a:rPr>
              <a:t>CH 1  ·  09:30</a:t>
            </a:r>
          </a:p>
        </p:txBody>
      </p:sp>
      <p:sp>
        <p:nvSpPr>
          <p:cNvPr id="6" name="TextBox 5"/>
          <p:cNvSpPr txBox="1"/>
          <p:nvPr/>
        </p:nvSpPr>
        <p:spPr>
          <a:xfrm>
            <a:off x="1874519" y="109728"/>
            <a:ext cx="9900000" cy="600000"/>
          </a:xfrm>
          <a:prstGeom prst="rect">
            <a:avLst/>
          </a:prstGeom>
          <a:noFill/>
        </p:spPr>
        <p:txBody>
          <a:bodyPr wrap="square">
            <a:spAutoFit/>
          </a:bodyPr>
          <a:lstStyle/>
          <a:p>
            <a:pPr algn="l"/>
            <a:r>
              <a:rPr sz="3000" b="1">
                <a:solidFill>
                  <a:srgbClr val="FFFFFF"/>
                </a:solidFill>
              </a:rPr>
              <a:t>Foundations of Agentic Automation</a:t>
            </a:r>
          </a:p>
        </p:txBody>
      </p:sp>
      <p:sp>
        <p:nvSpPr>
          <p:cNvPr id="7" name="TextBox 6"/>
          <p:cNvSpPr txBox="1"/>
          <p:nvPr/>
        </p:nvSpPr>
        <p:spPr>
          <a:xfrm>
            <a:off x="1874519" y="660000"/>
            <a:ext cx="9900000" cy="347472"/>
          </a:xfrm>
          <a:prstGeom prst="rect">
            <a:avLst/>
          </a:prstGeom>
          <a:noFill/>
        </p:spPr>
        <p:txBody>
          <a:bodyPr wrap="square">
            <a:spAutoFit/>
          </a:bodyPr>
          <a:lstStyle/>
          <a:p>
            <a:pPr algn="l"/>
            <a:r>
              <a:rPr sz="1500" b="0">
                <a:solidFill>
                  <a:srgbClr val="8B949E"/>
                </a:solidFill>
              </a:rPr>
              <a:t>75 min  ·  Why traditional scripts fail and how agents fix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Traditional Script vs. Agentic System</a:t>
            </a:r>
          </a:p>
        </p:txBody>
      </p:sp>
      <p:sp>
        <p:nvSpPr>
          <p:cNvPr id="6" name="Rectangle 5"/>
          <p:cNvSpPr/>
          <p:nvPr/>
        </p:nvSpPr>
        <p:spPr>
          <a:xfrm>
            <a:off x="274320"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40196"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740000"/>
            <a:ext cx="5545836" cy="300000"/>
          </a:xfrm>
          <a:prstGeom prst="rect">
            <a:avLst/>
          </a:prstGeom>
          <a:noFill/>
        </p:spPr>
        <p:txBody>
          <a:bodyPr wrap="square">
            <a:spAutoFit/>
          </a:bodyPr>
          <a:lstStyle/>
          <a:p>
            <a:pPr algn="l"/>
            <a:r>
              <a:rPr sz="1400" b="1">
                <a:solidFill>
                  <a:srgbClr val="D2A8FF"/>
                </a:solidFill>
              </a:rPr>
              <a:t>Traditional Playwright Test</a:t>
            </a:r>
          </a:p>
        </p:txBody>
      </p:sp>
      <p:sp>
        <p:nvSpPr>
          <p:cNvPr id="9" name="TextBox 8"/>
          <p:cNvSpPr txBox="1"/>
          <p:nvPr/>
        </p:nvSpPr>
        <p:spPr>
          <a:xfrm>
            <a:off x="457200" y="1090000"/>
            <a:ext cx="5545836" cy="5548000"/>
          </a:xfrm>
          <a:prstGeom prst="rect">
            <a:avLst/>
          </a:prstGeom>
          <a:noFill/>
        </p:spPr>
        <p:txBody>
          <a:bodyPr wrap="square">
            <a:spAutoFit/>
          </a:bodyPr>
          <a:lstStyle/>
          <a:p>
            <a:pPr algn="l">
              <a:lnSpc>
                <a:spcPts val="1700"/>
              </a:lnSpc>
            </a:pPr>
            <a:r>
              <a:rPr sz="1300" b="0">
                <a:solidFill>
                  <a:srgbClr val="FFFFFF"/>
                </a:solidFill>
              </a:rPr>
              <a:t>Hardcoded sequence of steps</a:t>
            </a:r>
          </a:p>
          <a:p>
            <a:pPr algn="l">
              <a:lnSpc>
                <a:spcPts val="1700"/>
              </a:lnSpc>
            </a:pPr>
            <a:r>
              <a:rPr sz="1300" b="0">
                <a:solidFill>
                  <a:srgbClr val="FF7B72"/>
                </a:solidFill>
              </a:rPr>
              <a:t>Breaks on any selector change</a:t>
            </a:r>
          </a:p>
          <a:p>
            <a:pPr algn="l">
              <a:lnSpc>
                <a:spcPts val="1700"/>
              </a:lnSpc>
            </a:pPr>
            <a:r>
              <a:rPr sz="1300" b="0">
                <a:solidFill>
                  <a:srgbClr val="FF7B72"/>
                </a:solidFill>
              </a:rPr>
              <a:t>No awareness of page state</a:t>
            </a:r>
          </a:p>
          <a:p>
            <a:pPr algn="l">
              <a:lnSpc>
                <a:spcPts val="1700"/>
              </a:lnSpc>
            </a:pPr>
            <a:r>
              <a:rPr sz="1300" b="0">
                <a:solidFill>
                  <a:srgbClr val="FF7B72"/>
                </a:solidFill>
              </a:rPr>
              <a:t>No recovery from failure</a:t>
            </a:r>
          </a:p>
          <a:p>
            <a:pPr algn="l">
              <a:lnSpc>
                <a:spcPts val="1700"/>
              </a:lnSpc>
            </a:pPr>
            <a:r>
              <a:rPr sz="1300" b="0">
                <a:solidFill>
                  <a:srgbClr val="FF7B72"/>
                </a:solidFill>
              </a:rPr>
              <a:t>Knows exactly one path to success</a:t>
            </a:r>
          </a:p>
          <a:p>
            <a:pPr algn="l">
              <a:lnSpc>
                <a:spcPts val="1700"/>
              </a:lnSpc>
            </a:pPr>
            <a:r>
              <a:rPr sz="1300" b="0">
                <a:solidFill>
                  <a:srgbClr val="FF7B72"/>
                </a:solidFill>
              </a:rPr>
              <a:t>Requires human to update after
every UI change</a:t>
            </a:r>
          </a:p>
        </p:txBody>
      </p:sp>
      <p:sp>
        <p:nvSpPr>
          <p:cNvPr id="10" name="TextBox 9"/>
          <p:cNvSpPr txBox="1"/>
          <p:nvPr/>
        </p:nvSpPr>
        <p:spPr>
          <a:xfrm>
            <a:off x="6323076" y="740000"/>
            <a:ext cx="5545836" cy="300000"/>
          </a:xfrm>
          <a:prstGeom prst="rect">
            <a:avLst/>
          </a:prstGeom>
          <a:noFill/>
        </p:spPr>
        <p:txBody>
          <a:bodyPr wrap="square">
            <a:spAutoFit/>
          </a:bodyPr>
          <a:lstStyle/>
          <a:p>
            <a:pPr algn="l"/>
            <a:r>
              <a:rPr sz="1400" b="1">
                <a:solidFill>
                  <a:srgbClr val="D2A8FF"/>
                </a:solidFill>
              </a:rPr>
              <a:t>Agentic System</a:t>
            </a:r>
          </a:p>
        </p:txBody>
      </p:sp>
      <p:sp>
        <p:nvSpPr>
          <p:cNvPr id="11" name="TextBox 10"/>
          <p:cNvSpPr txBox="1"/>
          <p:nvPr/>
        </p:nvSpPr>
        <p:spPr>
          <a:xfrm>
            <a:off x="6323076" y="1090000"/>
            <a:ext cx="5545836" cy="5548000"/>
          </a:xfrm>
          <a:prstGeom prst="rect">
            <a:avLst/>
          </a:prstGeom>
          <a:noFill/>
        </p:spPr>
        <p:txBody>
          <a:bodyPr wrap="square">
            <a:spAutoFit/>
          </a:bodyPr>
          <a:lstStyle/>
          <a:p>
            <a:pPr algn="l">
              <a:lnSpc>
                <a:spcPts val="1700"/>
              </a:lnSpc>
            </a:pPr>
            <a:r>
              <a:rPr sz="1300" b="0">
                <a:solidFill>
                  <a:srgbClr val="FFFFFF"/>
                </a:solidFill>
              </a:rPr>
              <a:t>Goal-driven: given a task, figures out steps</a:t>
            </a:r>
          </a:p>
          <a:p>
            <a:pPr algn="l">
              <a:lnSpc>
                <a:spcPts val="1700"/>
              </a:lnSpc>
            </a:pPr>
            <a:r>
              <a:rPr sz="1300" b="0">
                <a:solidFill>
                  <a:srgbClr val="39D353"/>
                </a:solidFill>
              </a:rPr>
              <a:t>Observes current state before acting</a:t>
            </a:r>
          </a:p>
          <a:p>
            <a:pPr algn="l">
              <a:lnSpc>
                <a:spcPts val="1700"/>
              </a:lnSpc>
            </a:pPr>
            <a:r>
              <a:rPr sz="1300" b="0">
                <a:solidFill>
                  <a:srgbClr val="39D353"/>
                </a:solidFill>
              </a:rPr>
              <a:t>Adapts: tries alternatives on failure</a:t>
            </a:r>
          </a:p>
          <a:p>
            <a:pPr algn="l">
              <a:lnSpc>
                <a:spcPts val="1700"/>
              </a:lnSpc>
            </a:pPr>
            <a:r>
              <a:rPr sz="1300" b="0">
                <a:solidFill>
                  <a:srgbClr val="39D353"/>
                </a:solidFill>
              </a:rPr>
              <a:t>Verifies: checks success criteria</a:t>
            </a:r>
          </a:p>
          <a:p>
            <a:pPr algn="l">
              <a:lnSpc>
                <a:spcPts val="1700"/>
              </a:lnSpc>
            </a:pPr>
            <a:r>
              <a:rPr sz="1300" b="0">
                <a:solidFill>
                  <a:srgbClr val="39D353"/>
                </a:solidFill>
              </a:rPr>
              <a:t>Learns: updates locator memory</a:t>
            </a:r>
          </a:p>
          <a:p>
            <a:pPr algn="l">
              <a:lnSpc>
                <a:spcPts val="1700"/>
              </a:lnSpc>
            </a:pPr>
            <a:r>
              <a:rPr sz="1300" b="0">
                <a:solidFill>
                  <a:srgbClr val="39D353"/>
                </a:solidFill>
              </a:rPr>
              <a:t>Self-heals: repairs broken selectors
without human intervention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The Agentic Reasoning Loop</a:t>
            </a:r>
          </a:p>
        </p:txBody>
      </p:sp>
      <p:sp>
        <p:nvSpPr>
          <p:cNvPr id="6" name="Rectangle 5"/>
          <p:cNvSpPr/>
          <p:nvPr/>
        </p:nvSpPr>
        <p:spPr>
          <a:xfrm>
            <a:off x="274320" y="680000"/>
            <a:ext cx="2298062" cy="597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80000"/>
            <a:ext cx="2298062" cy="8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14320" y="800000"/>
            <a:ext cx="2218062" cy="400000"/>
          </a:xfrm>
          <a:prstGeom prst="rect">
            <a:avLst/>
          </a:prstGeom>
          <a:noFill/>
        </p:spPr>
        <p:txBody>
          <a:bodyPr wrap="square">
            <a:spAutoFit/>
          </a:bodyPr>
          <a:lstStyle/>
          <a:p>
            <a:pPr algn="ctr"/>
            <a:r>
              <a:rPr sz="1500" b="1">
                <a:solidFill>
                  <a:srgbClr val="D2A8FF"/>
                </a:solidFill>
              </a:rPr>
              <a:t>① Observe</a:t>
            </a:r>
          </a:p>
        </p:txBody>
      </p:sp>
      <p:sp>
        <p:nvSpPr>
          <p:cNvPr id="9" name="TextBox 8"/>
          <p:cNvSpPr txBox="1"/>
          <p:nvPr/>
        </p:nvSpPr>
        <p:spPr>
          <a:xfrm>
            <a:off x="314320" y="1240000"/>
            <a:ext cx="2218062" cy="5278000"/>
          </a:xfrm>
          <a:prstGeom prst="rect">
            <a:avLst/>
          </a:prstGeom>
          <a:noFill/>
        </p:spPr>
        <p:txBody>
          <a:bodyPr wrap="square">
            <a:spAutoFit/>
          </a:bodyPr>
          <a:lstStyle/>
          <a:p>
            <a:pPr algn="ctr"/>
            <a:r>
              <a:rPr sz="1200" b="0">
                <a:solidFill>
                  <a:srgbClr val="8B949E"/>
                </a:solidFill>
              </a:rPr>
              <a:t>ariaSnapshot() — capture page state as structured text</a:t>
            </a:r>
          </a:p>
        </p:txBody>
      </p:sp>
      <p:sp>
        <p:nvSpPr>
          <p:cNvPr id="10" name="TextBox 9"/>
          <p:cNvSpPr txBox="1"/>
          <p:nvPr/>
        </p:nvSpPr>
        <p:spPr>
          <a:xfrm>
            <a:off x="2578382" y="3569000"/>
            <a:ext cx="30000" cy="200000"/>
          </a:xfrm>
          <a:prstGeom prst="rect">
            <a:avLst/>
          </a:prstGeom>
          <a:noFill/>
        </p:spPr>
        <p:txBody>
          <a:bodyPr wrap="square">
            <a:spAutoFit/>
          </a:bodyPr>
          <a:lstStyle/>
          <a:p>
            <a:pPr algn="l"/>
            <a:r>
              <a:rPr sz="1800" b="1">
                <a:solidFill>
                  <a:srgbClr val="D2A8FF"/>
                </a:solidFill>
              </a:rPr>
              <a:t>→</a:t>
            </a:r>
          </a:p>
        </p:txBody>
      </p:sp>
      <p:sp>
        <p:nvSpPr>
          <p:cNvPr id="11" name="Rectangle 10"/>
          <p:cNvSpPr/>
          <p:nvPr/>
        </p:nvSpPr>
        <p:spPr>
          <a:xfrm>
            <a:off x="2608382" y="680000"/>
            <a:ext cx="2298062" cy="597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608382" y="680000"/>
            <a:ext cx="2298062" cy="8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48382" y="800000"/>
            <a:ext cx="2218062" cy="400000"/>
          </a:xfrm>
          <a:prstGeom prst="rect">
            <a:avLst/>
          </a:prstGeom>
          <a:noFill/>
        </p:spPr>
        <p:txBody>
          <a:bodyPr wrap="square">
            <a:spAutoFit/>
          </a:bodyPr>
          <a:lstStyle/>
          <a:p>
            <a:pPr algn="ctr"/>
            <a:r>
              <a:rPr sz="1500" b="1">
                <a:solidFill>
                  <a:srgbClr val="D2A8FF"/>
                </a:solidFill>
              </a:rPr>
              <a:t>② Plan</a:t>
            </a:r>
          </a:p>
        </p:txBody>
      </p:sp>
      <p:sp>
        <p:nvSpPr>
          <p:cNvPr id="14" name="TextBox 13"/>
          <p:cNvSpPr txBox="1"/>
          <p:nvPr/>
        </p:nvSpPr>
        <p:spPr>
          <a:xfrm>
            <a:off x="2648382" y="1240000"/>
            <a:ext cx="2218062" cy="5278000"/>
          </a:xfrm>
          <a:prstGeom prst="rect">
            <a:avLst/>
          </a:prstGeom>
          <a:noFill/>
        </p:spPr>
        <p:txBody>
          <a:bodyPr wrap="square">
            <a:spAutoFit/>
          </a:bodyPr>
          <a:lstStyle/>
          <a:p>
            <a:pPr algn="ctr"/>
            <a:r>
              <a:rPr sz="1200" b="0">
                <a:solidFill>
                  <a:srgbClr val="8B949E"/>
                </a:solidFill>
              </a:rPr>
              <a:t>Decompose goal into steps; choose next action</a:t>
            </a:r>
          </a:p>
        </p:txBody>
      </p:sp>
      <p:sp>
        <p:nvSpPr>
          <p:cNvPr id="15" name="TextBox 14"/>
          <p:cNvSpPr txBox="1"/>
          <p:nvPr/>
        </p:nvSpPr>
        <p:spPr>
          <a:xfrm>
            <a:off x="4912444" y="3569000"/>
            <a:ext cx="30000" cy="200000"/>
          </a:xfrm>
          <a:prstGeom prst="rect">
            <a:avLst/>
          </a:prstGeom>
          <a:noFill/>
        </p:spPr>
        <p:txBody>
          <a:bodyPr wrap="square">
            <a:spAutoFit/>
          </a:bodyPr>
          <a:lstStyle/>
          <a:p>
            <a:pPr algn="l"/>
            <a:r>
              <a:rPr sz="1800" b="1">
                <a:solidFill>
                  <a:srgbClr val="D2A8FF"/>
                </a:solidFill>
              </a:rPr>
              <a:t>→</a:t>
            </a:r>
          </a:p>
        </p:txBody>
      </p:sp>
      <p:sp>
        <p:nvSpPr>
          <p:cNvPr id="16" name="Rectangle 15"/>
          <p:cNvSpPr/>
          <p:nvPr/>
        </p:nvSpPr>
        <p:spPr>
          <a:xfrm>
            <a:off x="4942444" y="680000"/>
            <a:ext cx="2298062" cy="597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42444" y="680000"/>
            <a:ext cx="2298062" cy="8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2444" y="800000"/>
            <a:ext cx="2218062" cy="400000"/>
          </a:xfrm>
          <a:prstGeom prst="rect">
            <a:avLst/>
          </a:prstGeom>
          <a:noFill/>
        </p:spPr>
        <p:txBody>
          <a:bodyPr wrap="square">
            <a:spAutoFit/>
          </a:bodyPr>
          <a:lstStyle/>
          <a:p>
            <a:pPr algn="ctr"/>
            <a:r>
              <a:rPr sz="1500" b="1">
                <a:solidFill>
                  <a:srgbClr val="D2A8FF"/>
                </a:solidFill>
              </a:rPr>
              <a:t>③ Act</a:t>
            </a:r>
          </a:p>
        </p:txBody>
      </p:sp>
      <p:sp>
        <p:nvSpPr>
          <p:cNvPr id="19" name="TextBox 18"/>
          <p:cNvSpPr txBox="1"/>
          <p:nvPr/>
        </p:nvSpPr>
        <p:spPr>
          <a:xfrm>
            <a:off x="4982444" y="1240000"/>
            <a:ext cx="2218062" cy="5278000"/>
          </a:xfrm>
          <a:prstGeom prst="rect">
            <a:avLst/>
          </a:prstGeom>
          <a:noFill/>
        </p:spPr>
        <p:txBody>
          <a:bodyPr wrap="square">
            <a:spAutoFit/>
          </a:bodyPr>
          <a:lstStyle/>
          <a:p>
            <a:pPr algn="ctr"/>
            <a:r>
              <a:rPr sz="1200" b="0">
                <a:solidFill>
                  <a:srgbClr val="8B949E"/>
                </a:solidFill>
              </a:rPr>
              <a:t>click() / fill() / navigate() — modify browser state</a:t>
            </a:r>
          </a:p>
        </p:txBody>
      </p:sp>
      <p:sp>
        <p:nvSpPr>
          <p:cNvPr id="20" name="TextBox 19"/>
          <p:cNvSpPr txBox="1"/>
          <p:nvPr/>
        </p:nvSpPr>
        <p:spPr>
          <a:xfrm>
            <a:off x="7246506" y="3569000"/>
            <a:ext cx="30000" cy="200000"/>
          </a:xfrm>
          <a:prstGeom prst="rect">
            <a:avLst/>
          </a:prstGeom>
          <a:noFill/>
        </p:spPr>
        <p:txBody>
          <a:bodyPr wrap="square">
            <a:spAutoFit/>
          </a:bodyPr>
          <a:lstStyle/>
          <a:p>
            <a:pPr algn="l"/>
            <a:r>
              <a:rPr sz="1800" b="1">
                <a:solidFill>
                  <a:srgbClr val="D2A8FF"/>
                </a:solidFill>
              </a:rPr>
              <a:t>→</a:t>
            </a:r>
          </a:p>
        </p:txBody>
      </p:sp>
      <p:sp>
        <p:nvSpPr>
          <p:cNvPr id="21" name="Rectangle 20"/>
          <p:cNvSpPr/>
          <p:nvPr/>
        </p:nvSpPr>
        <p:spPr>
          <a:xfrm>
            <a:off x="7276506" y="680000"/>
            <a:ext cx="2298062" cy="597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6506" y="680000"/>
            <a:ext cx="2298062" cy="8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6506" y="800000"/>
            <a:ext cx="2218062" cy="400000"/>
          </a:xfrm>
          <a:prstGeom prst="rect">
            <a:avLst/>
          </a:prstGeom>
          <a:noFill/>
        </p:spPr>
        <p:txBody>
          <a:bodyPr wrap="square">
            <a:spAutoFit/>
          </a:bodyPr>
          <a:lstStyle/>
          <a:p>
            <a:pPr algn="ctr"/>
            <a:r>
              <a:rPr sz="1500" b="1">
                <a:solidFill>
                  <a:srgbClr val="D2A8FF"/>
                </a:solidFill>
              </a:rPr>
              <a:t>④ Verify</a:t>
            </a:r>
          </a:p>
        </p:txBody>
      </p:sp>
      <p:sp>
        <p:nvSpPr>
          <p:cNvPr id="24" name="TextBox 23"/>
          <p:cNvSpPr txBox="1"/>
          <p:nvPr/>
        </p:nvSpPr>
        <p:spPr>
          <a:xfrm>
            <a:off x="7316506" y="1240000"/>
            <a:ext cx="2218062" cy="5278000"/>
          </a:xfrm>
          <a:prstGeom prst="rect">
            <a:avLst/>
          </a:prstGeom>
          <a:noFill/>
        </p:spPr>
        <p:txBody>
          <a:bodyPr wrap="square">
            <a:spAutoFit/>
          </a:bodyPr>
          <a:lstStyle/>
          <a:p>
            <a:pPr algn="ctr"/>
            <a:r>
              <a:rPr sz="1200" b="0">
                <a:solidFill>
                  <a:srgbClr val="8B949E"/>
                </a:solidFill>
              </a:rPr>
              <a:t>assert_visible() / assert_text() — confirm expectations</a:t>
            </a:r>
          </a:p>
        </p:txBody>
      </p:sp>
      <p:sp>
        <p:nvSpPr>
          <p:cNvPr id="25" name="TextBox 24"/>
          <p:cNvSpPr txBox="1"/>
          <p:nvPr/>
        </p:nvSpPr>
        <p:spPr>
          <a:xfrm>
            <a:off x="9580568" y="3569000"/>
            <a:ext cx="30000" cy="200000"/>
          </a:xfrm>
          <a:prstGeom prst="rect">
            <a:avLst/>
          </a:prstGeom>
          <a:noFill/>
        </p:spPr>
        <p:txBody>
          <a:bodyPr wrap="square">
            <a:spAutoFit/>
          </a:bodyPr>
          <a:lstStyle/>
          <a:p>
            <a:pPr algn="l"/>
            <a:r>
              <a:rPr sz="1800" b="1">
                <a:solidFill>
                  <a:srgbClr val="D2A8FF"/>
                </a:solidFill>
              </a:rPr>
              <a:t>→</a:t>
            </a:r>
          </a:p>
        </p:txBody>
      </p:sp>
      <p:sp>
        <p:nvSpPr>
          <p:cNvPr id="26" name="Rectangle 25"/>
          <p:cNvSpPr/>
          <p:nvPr/>
        </p:nvSpPr>
        <p:spPr>
          <a:xfrm>
            <a:off x="9610568" y="680000"/>
            <a:ext cx="2298062" cy="597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10568" y="680000"/>
            <a:ext cx="2298062" cy="8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0568" y="800000"/>
            <a:ext cx="2218062" cy="400000"/>
          </a:xfrm>
          <a:prstGeom prst="rect">
            <a:avLst/>
          </a:prstGeom>
          <a:noFill/>
        </p:spPr>
        <p:txBody>
          <a:bodyPr wrap="square">
            <a:spAutoFit/>
          </a:bodyPr>
          <a:lstStyle/>
          <a:p>
            <a:pPr algn="ctr"/>
            <a:r>
              <a:rPr sz="1500" b="1">
                <a:solidFill>
                  <a:srgbClr val="D2A8FF"/>
                </a:solidFill>
              </a:rPr>
              <a:t>⑤ Learn</a:t>
            </a:r>
          </a:p>
        </p:txBody>
      </p:sp>
      <p:sp>
        <p:nvSpPr>
          <p:cNvPr id="29" name="TextBox 28"/>
          <p:cNvSpPr txBox="1"/>
          <p:nvPr/>
        </p:nvSpPr>
        <p:spPr>
          <a:xfrm>
            <a:off x="9650568" y="1240000"/>
            <a:ext cx="2218062" cy="5278000"/>
          </a:xfrm>
          <a:prstGeom prst="rect">
            <a:avLst/>
          </a:prstGeom>
          <a:noFill/>
        </p:spPr>
        <p:txBody>
          <a:bodyPr wrap="square">
            <a:spAutoFit/>
          </a:bodyPr>
          <a:lstStyle/>
          <a:p>
            <a:pPr algn="ctr"/>
            <a:r>
              <a:rPr sz="1200" b="0">
                <a:solidFill>
                  <a:srgbClr val="8B949E"/>
                </a:solidFill>
              </a:rPr>
              <a:t>Store healed selectors; log timing; update memory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Three Agentic Architectural Patterns</a:t>
            </a:r>
          </a:p>
        </p:txBody>
      </p:sp>
      <p:sp>
        <p:nvSpPr>
          <p:cNvPr id="6" name="Rectangle 5"/>
          <p:cNvSpPr/>
          <p:nvPr/>
        </p:nvSpPr>
        <p:spPr>
          <a:xfrm>
            <a:off x="274320" y="680000"/>
            <a:ext cx="3820104" cy="597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80000"/>
            <a:ext cx="3820104" cy="6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94320" y="800000"/>
            <a:ext cx="3580104" cy="300000"/>
          </a:xfrm>
          <a:prstGeom prst="rect">
            <a:avLst/>
          </a:prstGeom>
          <a:noFill/>
        </p:spPr>
        <p:txBody>
          <a:bodyPr wrap="square">
            <a:spAutoFit/>
          </a:bodyPr>
          <a:lstStyle/>
          <a:p>
            <a:pPr algn="l"/>
            <a:r>
              <a:rPr sz="1600" b="1">
                <a:solidFill>
                  <a:srgbClr val="D2A8FF"/>
                </a:solidFill>
              </a:rPr>
              <a:t>Reactive Agent</a:t>
            </a:r>
          </a:p>
        </p:txBody>
      </p:sp>
      <p:sp>
        <p:nvSpPr>
          <p:cNvPr id="9" name="TextBox 8"/>
          <p:cNvSpPr txBox="1"/>
          <p:nvPr/>
        </p:nvSpPr>
        <p:spPr>
          <a:xfrm>
            <a:off x="394320" y="1180000"/>
            <a:ext cx="3580104" cy="5078000"/>
          </a:xfrm>
          <a:prstGeom prst="rect">
            <a:avLst/>
          </a:prstGeom>
          <a:noFill/>
        </p:spPr>
        <p:txBody>
          <a:bodyPr wrap="square">
            <a:spAutoFit/>
          </a:bodyPr>
          <a:lstStyle/>
          <a:p>
            <a:pPr algn="l"/>
            <a:r>
              <a:rPr sz="1300" b="0">
                <a:solidFill>
                  <a:srgbClr val="FFFFFF"/>
                </a:solidFill>
              </a:rPr>
              <a:t>Responds to specific triggers.
Event fires → observe → act → done.
Example: healer fires when a locator fails.</a:t>
            </a:r>
          </a:p>
        </p:txBody>
      </p:sp>
      <p:sp>
        <p:nvSpPr>
          <p:cNvPr id="10" name="Rectangle 9"/>
          <p:cNvSpPr/>
          <p:nvPr/>
        </p:nvSpPr>
        <p:spPr>
          <a:xfrm>
            <a:off x="334320" y="6158000"/>
            <a:ext cx="3700104" cy="38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4320" y="6218000"/>
            <a:ext cx="3580104" cy="320000"/>
          </a:xfrm>
          <a:prstGeom prst="rect">
            <a:avLst/>
          </a:prstGeom>
          <a:noFill/>
        </p:spPr>
        <p:txBody>
          <a:bodyPr wrap="square">
            <a:spAutoFit/>
          </a:bodyPr>
          <a:lstStyle/>
          <a:p>
            <a:pPr algn="l"/>
            <a:r>
              <a:rPr sz="1200" b="0">
                <a:solidFill>
                  <a:srgbClr val="8B949E"/>
                </a:solidFill>
              </a:rPr>
              <a:t>Simple, predictable,
limited to predefined triggers.</a:t>
            </a:r>
          </a:p>
        </p:txBody>
      </p:sp>
      <p:sp>
        <p:nvSpPr>
          <p:cNvPr id="12" name="Rectangle 11"/>
          <p:cNvSpPr/>
          <p:nvPr/>
        </p:nvSpPr>
        <p:spPr>
          <a:xfrm>
            <a:off x="4184424" y="680000"/>
            <a:ext cx="3820104" cy="597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84424" y="680000"/>
            <a:ext cx="3820104" cy="6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04424" y="800000"/>
            <a:ext cx="3580104" cy="300000"/>
          </a:xfrm>
          <a:prstGeom prst="rect">
            <a:avLst/>
          </a:prstGeom>
          <a:noFill/>
        </p:spPr>
        <p:txBody>
          <a:bodyPr wrap="square">
            <a:spAutoFit/>
          </a:bodyPr>
          <a:lstStyle/>
          <a:p>
            <a:pPr algn="l"/>
            <a:r>
              <a:rPr sz="1600" b="1">
                <a:solidFill>
                  <a:srgbClr val="58A6FF"/>
                </a:solidFill>
              </a:rPr>
              <a:t>Goal-Driven Agent</a:t>
            </a:r>
          </a:p>
        </p:txBody>
      </p:sp>
      <p:sp>
        <p:nvSpPr>
          <p:cNvPr id="15" name="TextBox 14"/>
          <p:cNvSpPr txBox="1"/>
          <p:nvPr/>
        </p:nvSpPr>
        <p:spPr>
          <a:xfrm>
            <a:off x="4304424" y="1180000"/>
            <a:ext cx="3580104" cy="5078000"/>
          </a:xfrm>
          <a:prstGeom prst="rect">
            <a:avLst/>
          </a:prstGeom>
          <a:noFill/>
        </p:spPr>
        <p:txBody>
          <a:bodyPr wrap="square">
            <a:spAutoFit/>
          </a:bodyPr>
          <a:lstStyle/>
          <a:p>
            <a:pPr algn="l"/>
            <a:r>
              <a:rPr sz="1300" b="0">
                <a:solidFill>
                  <a:srgbClr val="FFFFFF"/>
                </a:solidFill>
              </a:rPr>
              <a:t>Given a high-level goal, plans and executes a sequence of actions.
Example: WebTestAgent.run(tasks.fullEcommerce())</a:t>
            </a:r>
          </a:p>
        </p:txBody>
      </p:sp>
      <p:sp>
        <p:nvSpPr>
          <p:cNvPr id="16" name="Rectangle 15"/>
          <p:cNvSpPr/>
          <p:nvPr/>
        </p:nvSpPr>
        <p:spPr>
          <a:xfrm>
            <a:off x="4244424" y="6158000"/>
            <a:ext cx="3700104" cy="38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04424" y="6218000"/>
            <a:ext cx="3580104" cy="320000"/>
          </a:xfrm>
          <a:prstGeom prst="rect">
            <a:avLst/>
          </a:prstGeom>
          <a:noFill/>
        </p:spPr>
        <p:txBody>
          <a:bodyPr wrap="square">
            <a:spAutoFit/>
          </a:bodyPr>
          <a:lstStyle/>
          <a:p>
            <a:pPr algn="l"/>
            <a:r>
              <a:rPr sz="1200" b="0">
                <a:solidFill>
                  <a:srgbClr val="8B949E"/>
                </a:solidFill>
              </a:rPr>
              <a:t>Flexible, adapts to page state,
may take multiple paths to succeed.</a:t>
            </a:r>
          </a:p>
        </p:txBody>
      </p:sp>
      <p:sp>
        <p:nvSpPr>
          <p:cNvPr id="18" name="Rectangle 17"/>
          <p:cNvSpPr/>
          <p:nvPr/>
        </p:nvSpPr>
        <p:spPr>
          <a:xfrm>
            <a:off x="8094528" y="680000"/>
            <a:ext cx="3820104" cy="597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4528" y="680000"/>
            <a:ext cx="3820104" cy="60000"/>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4528" y="800000"/>
            <a:ext cx="3580104" cy="300000"/>
          </a:xfrm>
          <a:prstGeom prst="rect">
            <a:avLst/>
          </a:prstGeom>
          <a:noFill/>
        </p:spPr>
        <p:txBody>
          <a:bodyPr wrap="square">
            <a:spAutoFit/>
          </a:bodyPr>
          <a:lstStyle/>
          <a:p>
            <a:pPr algn="l"/>
            <a:r>
              <a:rPr sz="1600" b="1">
                <a:solidFill>
                  <a:srgbClr val="39D353"/>
                </a:solidFill>
              </a:rPr>
              <a:t>Multi-Agent Pipeline</a:t>
            </a:r>
          </a:p>
        </p:txBody>
      </p:sp>
      <p:sp>
        <p:nvSpPr>
          <p:cNvPr id="21" name="TextBox 20"/>
          <p:cNvSpPr txBox="1"/>
          <p:nvPr/>
        </p:nvSpPr>
        <p:spPr>
          <a:xfrm>
            <a:off x="8214528" y="1180000"/>
            <a:ext cx="3580104" cy="5078000"/>
          </a:xfrm>
          <a:prstGeom prst="rect">
            <a:avLst/>
          </a:prstGeom>
          <a:noFill/>
        </p:spPr>
        <p:txBody>
          <a:bodyPr wrap="square">
            <a:spAutoFit/>
          </a:bodyPr>
          <a:lstStyle/>
          <a:p>
            <a:pPr algn="l"/>
            <a:r>
              <a:rPr sz="1300" b="0">
                <a:solidFill>
                  <a:srgbClr val="FFFFFF"/>
                </a:solidFill>
              </a:rPr>
              <a:t>Specialist agents hand off to each other:
Planner → Generator → Healer.
Example: Ch4.1 Playwright Agents.</a:t>
            </a:r>
          </a:p>
        </p:txBody>
      </p:sp>
      <p:sp>
        <p:nvSpPr>
          <p:cNvPr id="22" name="Rectangle 21"/>
          <p:cNvSpPr/>
          <p:nvPr/>
        </p:nvSpPr>
        <p:spPr>
          <a:xfrm>
            <a:off x="8154528" y="6158000"/>
            <a:ext cx="3700104" cy="38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14528" y="6218000"/>
            <a:ext cx="3580104" cy="320000"/>
          </a:xfrm>
          <a:prstGeom prst="rect">
            <a:avLst/>
          </a:prstGeom>
          <a:noFill/>
        </p:spPr>
        <p:txBody>
          <a:bodyPr wrap="square">
            <a:spAutoFit/>
          </a:bodyPr>
          <a:lstStyle/>
          <a:p>
            <a:pPr algn="l"/>
            <a:r>
              <a:rPr sz="1200" b="0">
                <a:solidFill>
                  <a:srgbClr val="8B949E"/>
                </a:solidFill>
              </a:rPr>
              <a:t>Each agent is small and focused;
pipeline handles complex workflows.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1</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Anti-Patterns in brittle-test.spec.ts</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ch1-foundations/brittle-test.spec.ts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7B72"/>
                </a:solidFill>
                <a:latin typeface="Courier New"/>
              </a:rPr>
              <a:t>await page.waitForTimeout(2000)         // ❌ masks timing, not fixes it</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await page.click(</a:t>
            </a:r>
          </a:p>
          <a:p>
            <a:pPr algn="l">
              <a:lnSpc>
                <a:spcPts val="1500"/>
              </a:lnSpc>
            </a:pPr>
            <a:r>
              <a:rPr sz="1200" b="0">
                <a:solidFill>
                  <a:srgbClr val="FF7B72"/>
                </a:solidFill>
                <a:latin typeface="Courier New"/>
              </a:rPr>
              <a:t>  '.login-card &gt; form &gt; div:nth-child(1) &gt; input'  // ❌ structural CSS</a:t>
            </a:r>
          </a:p>
          <a:p>
            <a:pPr algn="l">
              <a:lnSpc>
                <a:spcPts val="1500"/>
              </a:lnSpc>
            </a:pPr>
            <a:r>
              <a:rPr sz="1200" b="0">
                <a:solidFill>
                  <a:srgbClr val="FFFFFF"/>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FF7B72"/>
                </a:solidFill>
                <a:latin typeface="Courier New"/>
              </a:rPr>
              <a:t>await page.click('.login-card &gt; form &gt; button:nth-child(1)')  // ❌ position</a:t>
            </a:r>
          </a:p>
          <a:p>
            <a:pPr algn="l">
              <a:lnSpc>
                <a:spcPts val="1500"/>
              </a:lnSpc>
            </a:pPr>
            <a:r>
              <a:rPr sz="1200" b="0">
                <a:solidFill>
                  <a:srgbClr val="FFFFFF"/>
                </a:solidFill>
                <a:latin typeface="Courier New"/>
              </a:rPr>
              <a:t/>
            </a:r>
          </a:p>
          <a:p>
            <a:pPr algn="l">
              <a:lnSpc>
                <a:spcPts val="1500"/>
              </a:lnSpc>
            </a:pPr>
            <a:r>
              <a:rPr sz="1200" b="0">
                <a:solidFill>
                  <a:srgbClr val="FF7B72"/>
                </a:solidFill>
                <a:latin typeface="Courier New"/>
              </a:rPr>
              <a:t>await page.waitForTimeout(1500)         // ❌ another sleep</a:t>
            </a:r>
          </a:p>
          <a:p>
            <a:pPr algn="l">
              <a:lnSpc>
                <a:spcPts val="1500"/>
              </a:lnSpc>
            </a:pPr>
            <a:r>
              <a:rPr sz="1200" b="0">
                <a:solidFill>
                  <a:srgbClr val="FFFFFF"/>
                </a:solidFill>
                <a:latin typeface="Courier New"/>
              </a:rPr>
              <a:t/>
            </a:r>
          </a:p>
          <a:p>
            <a:pPr algn="l">
              <a:lnSpc>
                <a:spcPts val="1500"/>
              </a:lnSpc>
            </a:pPr>
            <a:r>
              <a:rPr sz="1200" b="0">
                <a:solidFill>
                  <a:srgbClr val="FF7B72"/>
                </a:solidFill>
                <a:latin typeface="Courier New"/>
              </a:rPr>
              <a:t>const heading = await page.$('.page-header &gt; h2')  // ❌ CSS class assert</a:t>
            </a:r>
          </a:p>
          <a:p>
            <a:pPr algn="l">
              <a:lnSpc>
                <a:spcPts val="1500"/>
              </a:lnSpc>
            </a:pPr>
            <a:r>
              <a:rPr sz="1200" b="0">
                <a:solidFill>
                  <a:srgbClr val="FFFFFF"/>
                </a:solidFill>
                <a:latin typeface="Courier New"/>
              </a:rPr>
              <a:t>const text = await heading?.textContent()</a:t>
            </a:r>
          </a:p>
          <a:p>
            <a:pPr algn="l">
              <a:lnSpc>
                <a:spcPts val="1500"/>
              </a:lnSpc>
            </a:pPr>
            <a:r>
              <a:rPr sz="1200" b="0">
                <a:solidFill>
                  <a:srgbClr val="FFFFFF"/>
                </a:solidFill>
                <a:latin typeface="Courier New"/>
              </a:rPr>
              <a:t>expect(text).toBe('Dashboard')</a:t>
            </a:r>
          </a:p>
          <a:p>
            <a:pPr algn="l">
              <a:lnSpc>
                <a:spcPts val="1500"/>
              </a:lnSpc>
            </a:pPr>
            <a:r>
              <a:rPr sz="1200" b="0">
                <a:solidFill>
                  <a:srgbClr val="FFFFFF"/>
                </a:solidFill>
                <a:latin typeface="Courier New"/>
              </a:rPr>
              <a:t/>
            </a:r>
          </a:p>
          <a:p>
            <a:pPr algn="l">
              <a:lnSpc>
                <a:spcPts val="1500"/>
              </a:lnSpc>
            </a:pPr>
            <a:r>
              <a:rPr sz="1200" b="0">
                <a:solidFill>
                  <a:srgbClr val="8B949E"/>
                </a:solidFill>
                <a:latin typeface="Courier New"/>
              </a:rPr>
              <a:t>// Resilient alternative:</a:t>
            </a:r>
          </a:p>
          <a:p>
            <a:pPr algn="l">
              <a:lnSpc>
                <a:spcPts val="1500"/>
              </a:lnSpc>
            </a:pPr>
            <a:r>
              <a:rPr sz="1200" b="0">
                <a:solidFill>
                  <a:srgbClr val="39D353"/>
                </a:solidFill>
                <a:latin typeface="Courier New"/>
              </a:rPr>
              <a:t>await page.getByRole('heading', { name: 'Dashboard' }).waitFor()  //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From Brittle to Resilient</a:t>
            </a:r>
          </a:p>
        </p:txBody>
      </p:sp>
      <p:sp>
        <p:nvSpPr>
          <p:cNvPr id="6" name="Rectangle 5"/>
          <p:cNvSpPr/>
          <p:nvPr/>
        </p:nvSpPr>
        <p:spPr>
          <a:xfrm>
            <a:off x="274320"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40196"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740000"/>
            <a:ext cx="5545836" cy="300000"/>
          </a:xfrm>
          <a:prstGeom prst="rect">
            <a:avLst/>
          </a:prstGeom>
          <a:noFill/>
        </p:spPr>
        <p:txBody>
          <a:bodyPr wrap="square">
            <a:spAutoFit/>
          </a:bodyPr>
          <a:lstStyle/>
          <a:p>
            <a:pPr algn="l"/>
            <a:r>
              <a:rPr sz="1400" b="1">
                <a:solidFill>
                  <a:srgbClr val="D2A8FF"/>
                </a:solidFill>
              </a:rPr>
              <a:t>Brittle (avoid)</a:t>
            </a:r>
          </a:p>
        </p:txBody>
      </p:sp>
      <p:sp>
        <p:nvSpPr>
          <p:cNvPr id="9" name="TextBox 8"/>
          <p:cNvSpPr txBox="1"/>
          <p:nvPr/>
        </p:nvSpPr>
        <p:spPr>
          <a:xfrm>
            <a:off x="457200" y="1090000"/>
            <a:ext cx="5545836" cy="5548000"/>
          </a:xfrm>
          <a:prstGeom prst="rect">
            <a:avLst/>
          </a:prstGeom>
          <a:noFill/>
        </p:spPr>
        <p:txBody>
          <a:bodyPr wrap="square">
            <a:spAutoFit/>
          </a:bodyPr>
          <a:lstStyle/>
          <a:p>
            <a:pPr algn="l">
              <a:lnSpc>
                <a:spcPts val="1700"/>
              </a:lnSpc>
            </a:pPr>
            <a:r>
              <a:rPr sz="1300" b="0">
                <a:solidFill>
                  <a:srgbClr val="FF7B72"/>
                </a:solidFill>
              </a:rPr>
              <a:t>page.waitForTimeout(2000)</a:t>
            </a:r>
          </a:p>
          <a:p>
            <a:pPr algn="l">
              <a:lnSpc>
                <a:spcPts val="1700"/>
              </a:lnSpc>
            </a:pPr>
            <a:r>
              <a:rPr sz="1300" b="0">
                <a:solidFill>
                  <a:srgbClr val="8B949E"/>
                </a:solidFill>
              </a:rPr>
              <a:t>→ Replace with: page.waitForLoadState()
   or element.waitFor({ state: 'visible' })</a:t>
            </a:r>
          </a:p>
          <a:p>
            <a:pPr algn="l">
              <a:lnSpc>
                <a:spcPts val="1700"/>
              </a:lnSpc>
            </a:pPr>
            <a:r>
              <a:rPr sz="1300" b="0">
                <a:solidFill>
                  <a:srgbClr val="FFFFFF"/>
                </a:solidFill>
              </a:rPr>
              <a:t/>
            </a:r>
          </a:p>
          <a:p>
            <a:pPr algn="l">
              <a:lnSpc>
                <a:spcPts val="1700"/>
              </a:lnSpc>
            </a:pPr>
            <a:r>
              <a:rPr sz="1300" b="0">
                <a:solidFill>
                  <a:srgbClr val="FF7B72"/>
                </a:solidFill>
              </a:rPr>
              <a:t>'.login-card &gt; form &gt; div:nth-child(1)'</a:t>
            </a:r>
          </a:p>
          <a:p>
            <a:pPr algn="l">
              <a:lnSpc>
                <a:spcPts val="1700"/>
              </a:lnSpc>
            </a:pPr>
            <a:r>
              <a:rPr sz="1300" b="0">
                <a:solidFill>
                  <a:srgbClr val="8B949E"/>
                </a:solidFill>
              </a:rPr>
              <a:t>→ Replace with:
   page.getByLabel('Email address')</a:t>
            </a:r>
          </a:p>
          <a:p>
            <a:pPr algn="l">
              <a:lnSpc>
                <a:spcPts val="1700"/>
              </a:lnSpc>
            </a:pPr>
            <a:r>
              <a:rPr sz="1300" b="0">
                <a:solidFill>
                  <a:srgbClr val="FFFFFF"/>
                </a:solidFill>
              </a:rPr>
              <a:t/>
            </a:r>
          </a:p>
          <a:p>
            <a:pPr algn="l">
              <a:lnSpc>
                <a:spcPts val="1700"/>
              </a:lnSpc>
            </a:pPr>
            <a:r>
              <a:rPr sz="1300" b="0">
                <a:solidFill>
                  <a:srgbClr val="FF7B72"/>
                </a:solidFill>
              </a:rPr>
              <a:t>$eval('.form-error', el =&gt; el.textContent)</a:t>
            </a:r>
          </a:p>
          <a:p>
            <a:pPr algn="l">
              <a:lnSpc>
                <a:spcPts val="1700"/>
              </a:lnSpc>
            </a:pPr>
            <a:r>
              <a:rPr sz="1300" b="0">
                <a:solidFill>
                  <a:srgbClr val="8B949E"/>
                </a:solidFill>
              </a:rPr>
              <a:t>→ Replace with:
   expect(page.getByText('Invalid')).toBeVisible()</a:t>
            </a:r>
          </a:p>
        </p:txBody>
      </p:sp>
      <p:sp>
        <p:nvSpPr>
          <p:cNvPr id="10" name="TextBox 9"/>
          <p:cNvSpPr txBox="1"/>
          <p:nvPr/>
        </p:nvSpPr>
        <p:spPr>
          <a:xfrm>
            <a:off x="6323076" y="740000"/>
            <a:ext cx="5545836" cy="300000"/>
          </a:xfrm>
          <a:prstGeom prst="rect">
            <a:avLst/>
          </a:prstGeom>
          <a:noFill/>
        </p:spPr>
        <p:txBody>
          <a:bodyPr wrap="square">
            <a:spAutoFit/>
          </a:bodyPr>
          <a:lstStyle/>
          <a:p>
            <a:pPr algn="l"/>
            <a:r>
              <a:rPr sz="1400" b="1">
                <a:solidFill>
                  <a:srgbClr val="D2A8FF"/>
                </a:solidFill>
              </a:rPr>
              <a:t>Resilient (prefer)</a:t>
            </a:r>
          </a:p>
        </p:txBody>
      </p:sp>
      <p:sp>
        <p:nvSpPr>
          <p:cNvPr id="11" name="TextBox 10"/>
          <p:cNvSpPr txBox="1"/>
          <p:nvPr/>
        </p:nvSpPr>
        <p:spPr>
          <a:xfrm>
            <a:off x="6323076" y="1090000"/>
            <a:ext cx="5545836" cy="5548000"/>
          </a:xfrm>
          <a:prstGeom prst="rect">
            <a:avLst/>
          </a:prstGeom>
          <a:noFill/>
        </p:spPr>
        <p:txBody>
          <a:bodyPr wrap="square">
            <a:spAutoFit/>
          </a:bodyPr>
          <a:lstStyle/>
          <a:p>
            <a:pPr algn="l">
              <a:lnSpc>
                <a:spcPts val="1700"/>
              </a:lnSpc>
            </a:pPr>
            <a:r>
              <a:rPr sz="1300" b="0">
                <a:solidFill>
                  <a:srgbClr val="FFFFFF"/>
                </a:solidFill>
              </a:rPr>
              <a:t>ARIA-first selector hierarchy:</a:t>
            </a:r>
          </a:p>
          <a:p>
            <a:pPr algn="l">
              <a:lnSpc>
                <a:spcPts val="1700"/>
              </a:lnSpc>
            </a:pPr>
            <a:r>
              <a:rPr sz="1300" b="0">
                <a:solidFill>
                  <a:srgbClr val="39D353"/>
                </a:solidFill>
              </a:rPr>
              <a:t>1. getByRole('button', { name: 'Sign In' })</a:t>
            </a:r>
          </a:p>
          <a:p>
            <a:pPr algn="l">
              <a:lnSpc>
                <a:spcPts val="1700"/>
              </a:lnSpc>
            </a:pPr>
            <a:r>
              <a:rPr sz="1300" b="0">
                <a:solidFill>
                  <a:srgbClr val="39D353"/>
                </a:solidFill>
              </a:rPr>
              <a:t>2. getByLabel('Email address')</a:t>
            </a:r>
          </a:p>
          <a:p>
            <a:pPr algn="l">
              <a:lnSpc>
                <a:spcPts val="1700"/>
              </a:lnSpc>
            </a:pPr>
            <a:r>
              <a:rPr sz="1300" b="0">
                <a:solidFill>
                  <a:srgbClr val="39D353"/>
                </a:solidFill>
              </a:rPr>
              <a:t>3. getByPlaceholder('you@example.com')</a:t>
            </a:r>
          </a:p>
          <a:p>
            <a:pPr algn="l">
              <a:lnSpc>
                <a:spcPts val="1700"/>
              </a:lnSpc>
            </a:pPr>
            <a:r>
              <a:rPr sz="1300" b="0">
                <a:solidFill>
                  <a:srgbClr val="39D353"/>
                </a:solidFill>
              </a:rPr>
              <a:t>4. getByText('Forgot password?')</a:t>
            </a:r>
          </a:p>
          <a:p>
            <a:pPr algn="l">
              <a:lnSpc>
                <a:spcPts val="1700"/>
              </a:lnSpc>
            </a:pPr>
            <a:r>
              <a:rPr sz="1300" b="0">
                <a:solidFill>
                  <a:srgbClr val="E3B341"/>
                </a:solidFill>
              </a:rPr>
              <a:t>5. locator('.semantic-class')</a:t>
            </a:r>
          </a:p>
          <a:p>
            <a:pPr algn="l">
              <a:lnSpc>
                <a:spcPts val="1700"/>
              </a:lnSpc>
            </a:pPr>
            <a:r>
              <a:rPr sz="1300" b="0">
                <a:solidFill>
                  <a:srgbClr val="E3B341"/>
                </a:solidFill>
              </a:rPr>
              <a:t>6. locator('[data-testid=submit]')</a:t>
            </a:r>
          </a:p>
          <a:p>
            <a:pPr algn="l">
              <a:lnSpc>
                <a:spcPts val="1700"/>
              </a:lnSpc>
            </a:pPr>
            <a:r>
              <a:rPr sz="1300" b="0">
                <a:solidFill>
                  <a:srgbClr val="FF7B72"/>
                </a:solidFill>
              </a:rPr>
              <a:t>7. Structural CSS  (never use)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1</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Task Graphs — Data-Driven Test Plans</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A task graph is a DAG where each node is an AgentTask:</a:t>
            </a:r>
          </a:p>
          <a:p>
            <a:pPr algn="l">
              <a:lnSpc>
                <a:spcPts val="1800"/>
              </a:lnSpc>
            </a:pPr>
            <a:r>
              <a:rPr sz="1400" b="0">
                <a:solidFill>
                  <a:srgbClr val="FFFFFF"/>
                </a:solidFill>
              </a:rPr>
              <a:t/>
            </a:r>
          </a:p>
          <a:p>
            <a:pPr algn="l">
              <a:lnSpc>
                <a:spcPts val="1800"/>
              </a:lnSpc>
            </a:pPr>
            <a:r>
              <a:rPr sz="1400" b="0">
                <a:solidFill>
                  <a:srgbClr val="FFFFFF"/>
                </a:solidFill>
              </a:rPr>
              <a:t>  id:            unique key (e.g. 'submitCredentials')</a:t>
            </a:r>
          </a:p>
          <a:p>
            <a:pPr algn="l">
              <a:lnSpc>
                <a:spcPts val="1800"/>
              </a:lnSpc>
            </a:pPr>
            <a:r>
              <a:rPr sz="1400" b="0">
                <a:solidFill>
                  <a:srgbClr val="FFFFFF"/>
                </a:solidFill>
              </a:rPr>
              <a:t>  goal:          declarative description ('verify login redirects to dashboard')</a:t>
            </a:r>
          </a:p>
          <a:p>
            <a:pPr algn="l">
              <a:lnSpc>
                <a:spcPts val="1800"/>
              </a:lnSpc>
            </a:pPr>
            <a:r>
              <a:rPr sz="1400" b="0">
                <a:solidFill>
                  <a:srgbClr val="FFFFFF"/>
                </a:solidFill>
              </a:rPr>
              <a:t>  preconditions: tasks that must pass first</a:t>
            </a:r>
          </a:p>
          <a:p>
            <a:pPr algn="l">
              <a:lnSpc>
                <a:spcPts val="1800"/>
              </a:lnSpc>
            </a:pPr>
            <a:r>
              <a:rPr sz="1400" b="0">
                <a:solidFill>
                  <a:srgbClr val="FFFFFF"/>
                </a:solidFill>
              </a:rPr>
              <a:t>  action:        async (page) =&gt; void</a:t>
            </a:r>
          </a:p>
          <a:p>
            <a:pPr algn="l">
              <a:lnSpc>
                <a:spcPts val="1800"/>
              </a:lnSpc>
            </a:pPr>
            <a:r>
              <a:rPr sz="1400" b="0">
                <a:solidFill>
                  <a:srgbClr val="FFFFFF"/>
                </a:solidFill>
              </a:rPr>
              <a:t>  verify:        async (page) =&gt; boolean</a:t>
            </a:r>
          </a:p>
          <a:p>
            <a:pPr algn="l">
              <a:lnSpc>
                <a:spcPts val="1800"/>
              </a:lnSpc>
            </a:pPr>
            <a:r>
              <a:rPr sz="1400" b="0">
                <a:solidFill>
                  <a:srgbClr val="FFFFFF"/>
                </a:solidFill>
              </a:rPr>
              <a:t/>
            </a:r>
          </a:p>
          <a:p>
            <a:pPr algn="l">
              <a:lnSpc>
                <a:spcPts val="1800"/>
              </a:lnSpc>
            </a:pPr>
            <a:r>
              <a:rPr sz="1400" b="0">
                <a:solidFill>
                  <a:srgbClr val="8B949E"/>
                </a:solidFill>
              </a:rPr>
              <a:t>Why this matters:</a:t>
            </a:r>
          </a:p>
          <a:p>
            <a:pPr algn="l">
              <a:lnSpc>
                <a:spcPts val="1800"/>
              </a:lnSpc>
            </a:pPr>
            <a:r>
              <a:rPr sz="1400" b="0">
                <a:solidFill>
                  <a:srgbClr val="FFFFFF"/>
                </a:solidFill>
              </a:rPr>
              <a:t>→ Runner checks preconditions before executing — no silent order bugs</a:t>
            </a:r>
          </a:p>
          <a:p>
            <a:pPr algn="l">
              <a:lnSpc>
                <a:spcPts val="1800"/>
              </a:lnSpc>
            </a:pPr>
            <a:r>
              <a:rPr sz="1400" b="0">
                <a:solidFill>
                  <a:srgbClr val="FFFFFF"/>
                </a:solidFill>
              </a:rPr>
              <a:t>→ Each task has a binary pass/fail — observable, loggable, retryable</a:t>
            </a:r>
          </a:p>
          <a:p>
            <a:pPr algn="l">
              <a:lnSpc>
                <a:spcPts val="1800"/>
              </a:lnSpc>
            </a:pPr>
            <a:r>
              <a:rPr sz="1400" b="0">
                <a:solidFill>
                  <a:srgbClr val="FFFFFF"/>
                </a:solidFill>
              </a:rPr>
              <a:t>→ Agent can skip already-passed nodes on retry — partial re-runs</a:t>
            </a:r>
          </a:p>
          <a:p>
            <a:pPr algn="l">
              <a:lnSpc>
                <a:spcPts val="1800"/>
              </a:lnSpc>
            </a:pPr>
            <a:r>
              <a:rPr sz="1400" b="0">
                <a:solidFill>
                  <a:srgbClr val="FFFFFF"/>
                </a:solidFill>
              </a:rPr>
              <a:t>→ Graph structure is the test plan — readable by humans and LLMs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1</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Task Graph Implementation</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ch1-foundations/task-graph.ts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interface AgentTask {</a:t>
            </a:r>
          </a:p>
          <a:p>
            <a:pPr algn="l">
              <a:lnSpc>
                <a:spcPts val="1500"/>
              </a:lnSpc>
            </a:pPr>
            <a:r>
              <a:rPr sz="1200" b="0">
                <a:solidFill>
                  <a:srgbClr val="FFFFFF"/>
                </a:solidFill>
                <a:latin typeface="Courier New"/>
              </a:rPr>
              <a:t>  id:            string</a:t>
            </a:r>
          </a:p>
          <a:p>
            <a:pPr algn="l">
              <a:lnSpc>
                <a:spcPts val="1500"/>
              </a:lnSpc>
            </a:pPr>
            <a:r>
              <a:rPr sz="1200" b="0">
                <a:solidFill>
                  <a:srgbClr val="FFFFFF"/>
                </a:solidFill>
                <a:latin typeface="Courier New"/>
              </a:rPr>
              <a:t>  goal:          string</a:t>
            </a:r>
          </a:p>
          <a:p>
            <a:pPr algn="l">
              <a:lnSpc>
                <a:spcPts val="1500"/>
              </a:lnSpc>
            </a:pPr>
            <a:r>
              <a:rPr sz="1200" b="0">
                <a:solidFill>
                  <a:srgbClr val="FFFFFF"/>
                </a:solidFill>
                <a:latin typeface="Courier New"/>
              </a:rPr>
              <a:t>  preconditions: string[]</a:t>
            </a:r>
          </a:p>
          <a:p>
            <a:pPr algn="l">
              <a:lnSpc>
                <a:spcPts val="1500"/>
              </a:lnSpc>
            </a:pPr>
            <a:r>
              <a:rPr sz="1200" b="0">
                <a:solidFill>
                  <a:srgbClr val="FFFFFF"/>
                </a:solidFill>
                <a:latin typeface="Courier New"/>
              </a:rPr>
              <a:t>  action:        (page: Page) =&gt; Promise&lt;void&gt;</a:t>
            </a:r>
          </a:p>
          <a:p>
            <a:pPr algn="l">
              <a:lnSpc>
                <a:spcPts val="1500"/>
              </a:lnSpc>
            </a:pPr>
            <a:r>
              <a:rPr sz="1200" b="0">
                <a:solidFill>
                  <a:srgbClr val="FFFFFF"/>
                </a:solidFill>
                <a:latin typeface="Courier New"/>
              </a:rPr>
              <a:t>  verify:        (page: Page) =&gt; Promise&lt;boolean&gt;</a:t>
            </a:r>
          </a:p>
          <a:p>
            <a:pPr algn="l">
              <a:lnSpc>
                <a:spcPts val="1500"/>
              </a:lnSpc>
            </a:pPr>
            <a:r>
              <a:rPr sz="1200" b="0">
                <a:solidFill>
                  <a:srgbClr val="FFFFFF"/>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const loginTaskGraph: AgentTask[] = [</a:t>
            </a:r>
          </a:p>
          <a:p>
            <a:pPr algn="l">
              <a:lnSpc>
                <a:spcPts val="1500"/>
              </a:lnSpc>
            </a:pPr>
            <a:r>
              <a:rPr sz="1200" b="0">
                <a:solidFill>
                  <a:srgbClr val="FFFFFF"/>
                </a:solidFill>
                <a:latin typeface="Courier New"/>
              </a:rPr>
              <a:t>  { id: 'navigateToLogin',</a:t>
            </a:r>
          </a:p>
          <a:p>
            <a:pPr algn="l">
              <a:lnSpc>
                <a:spcPts val="1500"/>
              </a:lnSpc>
            </a:pPr>
            <a:r>
              <a:rPr sz="1200" b="0">
                <a:solidFill>
                  <a:srgbClr val="8B949E"/>
                </a:solidFill>
                <a:latin typeface="Courier New"/>
              </a:rPr>
              <a:t>    goal: 'Open the login page',</a:t>
            </a:r>
          </a:p>
          <a:p>
            <a:pPr algn="l">
              <a:lnSpc>
                <a:spcPts val="1500"/>
              </a:lnSpc>
            </a:pPr>
            <a:r>
              <a:rPr sz="1200" b="0">
                <a:solidFill>
                  <a:srgbClr val="FFFFFF"/>
                </a:solidFill>
                <a:latin typeface="Courier New"/>
              </a:rPr>
              <a:t>    preconditions: [],</a:t>
            </a:r>
          </a:p>
          <a:p>
            <a:pPr algn="l">
              <a:lnSpc>
                <a:spcPts val="1500"/>
              </a:lnSpc>
            </a:pPr>
            <a:r>
              <a:rPr sz="1200" b="0">
                <a:solidFill>
                  <a:srgbClr val="FFFFFF"/>
                </a:solidFill>
                <a:latin typeface="Courier New"/>
              </a:rPr>
              <a:t>    action:  async p =&gt; p.goto('/login'),</a:t>
            </a:r>
          </a:p>
          <a:p>
            <a:pPr algn="l">
              <a:lnSpc>
                <a:spcPts val="1500"/>
              </a:lnSpc>
            </a:pPr>
            <a:r>
              <a:rPr sz="1200" b="0">
                <a:solidFill>
                  <a:srgbClr val="FFFFFF"/>
                </a:solidFill>
                <a:latin typeface="Courier New"/>
              </a:rPr>
              <a:t>    verify:  async p =&gt; p.url().includes('/login') },</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  { id: 'submitCredentials',</a:t>
            </a:r>
          </a:p>
          <a:p>
            <a:pPr algn="l">
              <a:lnSpc>
                <a:spcPts val="1500"/>
              </a:lnSpc>
            </a:pPr>
            <a:r>
              <a:rPr sz="1200" b="0">
                <a:solidFill>
                  <a:srgbClr val="FFA657"/>
                </a:solidFill>
                <a:latin typeface="Courier New"/>
              </a:rPr>
              <a:t>    preconditions: ['navigateToLogin'],   // enforced by runner</a:t>
            </a:r>
          </a:p>
          <a:p>
            <a:pPr algn="l">
              <a:lnSpc>
                <a:spcPts val="1500"/>
              </a:lnSpc>
            </a:pPr>
            <a:r>
              <a:rPr sz="1200" b="0">
                <a:solidFill>
                  <a:srgbClr val="FFFFFF"/>
                </a:solidFill>
                <a:latin typeface="Courier New"/>
              </a:rPr>
              <a:t>    action: async p =&gt; { /* fill + click */ },</a:t>
            </a:r>
          </a:p>
          <a:p>
            <a:pPr algn="l">
              <a:lnSpc>
                <a:spcPts val="1500"/>
              </a:lnSpc>
            </a:pPr>
            <a:r>
              <a:rPr sz="1200" b="0">
                <a:solidFill>
                  <a:srgbClr val="FFFFFF"/>
                </a:solidFill>
                <a:latin typeface="Courier New"/>
              </a:rPr>
              <a:t>    verify: async p =&gt; p.url().includes('/dashboard') },</a:t>
            </a:r>
          </a:p>
          <a:p>
            <a:pPr algn="l">
              <a:lnSpc>
                <a:spcPts val="1500"/>
              </a:lnSpc>
            </a:pPr>
            <a:r>
              <a:rPr sz="1200" b="0">
                <a:solidFill>
                  <a:srgbClr val="FFFFFF"/>
                </a:solidFill>
                <a:latin typeface="Courier New"/>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Discussion Questions</a:t>
            </a:r>
          </a:p>
        </p:txBody>
      </p:sp>
      <p:sp>
        <p:nvSpPr>
          <p:cNvPr id="6" name="Rectangle 5"/>
          <p:cNvSpPr/>
          <p:nvPr/>
        </p:nvSpPr>
        <p:spPr>
          <a:xfrm>
            <a:off x="274320" y="700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60000"/>
            <a:ext cx="700000" cy="1866000"/>
          </a:xfrm>
          <a:prstGeom prst="rect">
            <a:avLst/>
          </a:prstGeom>
          <a:noFill/>
        </p:spPr>
        <p:txBody>
          <a:bodyPr wrap="square">
            <a:spAutoFit/>
          </a:bodyPr>
          <a:lstStyle/>
          <a:p>
            <a:pPr algn="ctr"/>
            <a:r>
              <a:rPr sz="2800" b="1">
                <a:solidFill>
                  <a:srgbClr val="D2A8FF"/>
                </a:solidFill>
              </a:rPr>
              <a:t>1</a:t>
            </a:r>
          </a:p>
        </p:txBody>
      </p:sp>
      <p:sp>
        <p:nvSpPr>
          <p:cNvPr id="8" name="TextBox 7"/>
          <p:cNvSpPr txBox="1"/>
          <p:nvPr/>
        </p:nvSpPr>
        <p:spPr>
          <a:xfrm>
            <a:off x="1100000" y="780000"/>
            <a:ext cx="10788952" cy="1826000"/>
          </a:xfrm>
          <a:prstGeom prst="rect">
            <a:avLst/>
          </a:prstGeom>
          <a:noFill/>
        </p:spPr>
        <p:txBody>
          <a:bodyPr wrap="square">
            <a:spAutoFit/>
          </a:bodyPr>
          <a:lstStyle/>
          <a:p>
            <a:pPr algn="l"/>
            <a:r>
              <a:rPr sz="1400" b="0">
                <a:solidFill>
                  <a:srgbClr val="FFFFFF"/>
                </a:solidFill>
              </a:rPr>
              <a:t>The brittle test uses await page.waitForTimeout(2000). What specific problem does this mask, and what Playwright API should replace it?</a:t>
            </a:r>
          </a:p>
        </p:txBody>
      </p:sp>
      <p:sp>
        <p:nvSpPr>
          <p:cNvPr id="9" name="Rectangle 8"/>
          <p:cNvSpPr/>
          <p:nvPr/>
        </p:nvSpPr>
        <p:spPr>
          <a:xfrm>
            <a:off x="274320" y="2686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2746000"/>
            <a:ext cx="700000" cy="1866000"/>
          </a:xfrm>
          <a:prstGeom prst="rect">
            <a:avLst/>
          </a:prstGeom>
          <a:noFill/>
        </p:spPr>
        <p:txBody>
          <a:bodyPr wrap="square">
            <a:spAutoFit/>
          </a:bodyPr>
          <a:lstStyle/>
          <a:p>
            <a:pPr algn="ctr"/>
            <a:r>
              <a:rPr sz="2800" b="1">
                <a:solidFill>
                  <a:srgbClr val="D2A8FF"/>
                </a:solidFill>
              </a:rPr>
              <a:t>2</a:t>
            </a:r>
          </a:p>
        </p:txBody>
      </p:sp>
      <p:sp>
        <p:nvSpPr>
          <p:cNvPr id="11" name="TextBox 10"/>
          <p:cNvSpPr txBox="1"/>
          <p:nvPr/>
        </p:nvSpPr>
        <p:spPr>
          <a:xfrm>
            <a:off x="1100000" y="2766000"/>
            <a:ext cx="10788952" cy="1826000"/>
          </a:xfrm>
          <a:prstGeom prst="rect">
            <a:avLst/>
          </a:prstGeom>
          <a:noFill/>
        </p:spPr>
        <p:txBody>
          <a:bodyPr wrap="square">
            <a:spAutoFit/>
          </a:bodyPr>
          <a:lstStyle/>
          <a:p>
            <a:pPr algn="l"/>
            <a:r>
              <a:rPr sz="1400" b="0">
                <a:solidFill>
                  <a:srgbClr val="FFFFFF"/>
                </a:solidFill>
              </a:rPr>
              <a:t>Which of the five agentic phases (observe / plan / act / verify / learn) is absent from a traditional Playwright test, and why does its absence matter at scale?</a:t>
            </a:r>
          </a:p>
        </p:txBody>
      </p:sp>
      <p:sp>
        <p:nvSpPr>
          <p:cNvPr id="12" name="Rectangle 11"/>
          <p:cNvSpPr/>
          <p:nvPr/>
        </p:nvSpPr>
        <p:spPr>
          <a:xfrm>
            <a:off x="274320" y="4672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4732000"/>
            <a:ext cx="700000" cy="1866000"/>
          </a:xfrm>
          <a:prstGeom prst="rect">
            <a:avLst/>
          </a:prstGeom>
          <a:noFill/>
        </p:spPr>
        <p:txBody>
          <a:bodyPr wrap="square">
            <a:spAutoFit/>
          </a:bodyPr>
          <a:lstStyle/>
          <a:p>
            <a:pPr algn="ctr"/>
            <a:r>
              <a:rPr sz="2800" b="1">
                <a:solidFill>
                  <a:srgbClr val="D2A8FF"/>
                </a:solidFill>
              </a:rPr>
              <a:t>3</a:t>
            </a:r>
          </a:p>
        </p:txBody>
      </p:sp>
      <p:sp>
        <p:nvSpPr>
          <p:cNvPr id="14" name="TextBox 13"/>
          <p:cNvSpPr txBox="1"/>
          <p:nvPr/>
        </p:nvSpPr>
        <p:spPr>
          <a:xfrm>
            <a:off x="1100000" y="4752000"/>
            <a:ext cx="10788952" cy="1826000"/>
          </a:xfrm>
          <a:prstGeom prst="rect">
            <a:avLst/>
          </a:prstGeom>
          <a:noFill/>
        </p:spPr>
        <p:txBody>
          <a:bodyPr wrap="square">
            <a:spAutoFit/>
          </a:bodyPr>
          <a:lstStyle/>
          <a:p>
            <a:pPr algn="l"/>
            <a:r>
              <a:rPr sz="1400" b="0">
                <a:solidFill>
                  <a:srgbClr val="FFFFFF"/>
                </a:solidFill>
              </a:rPr>
              <a:t>loginTaskGraph has three tasks with preconditions. What happens if submitCredentials runs before navigateToLogin completes — and how does the task graph prevent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Workshop Tasks</a:t>
            </a:r>
          </a:p>
        </p:txBody>
      </p:sp>
      <p:sp>
        <p:nvSpPr>
          <p:cNvPr id="6" name="Rectangle 5"/>
          <p:cNvSpPr/>
          <p:nvPr/>
        </p:nvSpPr>
        <p:spPr>
          <a:xfrm>
            <a:off x="274320" y="680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40000"/>
            <a:ext cx="800000" cy="1379500"/>
          </a:xfrm>
          <a:prstGeom prst="rect">
            <a:avLst/>
          </a:prstGeom>
          <a:noFill/>
        </p:spPr>
        <p:txBody>
          <a:bodyPr wrap="square">
            <a:spAutoFit/>
          </a:bodyPr>
          <a:lstStyle/>
          <a:p>
            <a:pPr algn="l"/>
            <a:r>
              <a:rPr sz="1300" b="1">
                <a:solidFill>
                  <a:srgbClr val="D2A8FF"/>
                </a:solidFill>
              </a:rPr>
              <a:t>Task A</a:t>
            </a:r>
          </a:p>
        </p:txBody>
      </p:sp>
      <p:sp>
        <p:nvSpPr>
          <p:cNvPr id="8" name="TextBox 7"/>
          <p:cNvSpPr txBox="1"/>
          <p:nvPr/>
        </p:nvSpPr>
        <p:spPr>
          <a:xfrm>
            <a:off x="1200000" y="740000"/>
            <a:ext cx="3600000" cy="1379500"/>
          </a:xfrm>
          <a:prstGeom prst="rect">
            <a:avLst/>
          </a:prstGeom>
          <a:noFill/>
        </p:spPr>
        <p:txBody>
          <a:bodyPr wrap="square">
            <a:spAutoFit/>
          </a:bodyPr>
          <a:lstStyle/>
          <a:p>
            <a:pPr algn="l"/>
            <a:r>
              <a:rPr sz="1400" b="1">
                <a:solidFill>
                  <a:srgbClr val="FFFFFF"/>
                </a:solidFill>
              </a:rPr>
              <a:t>Run the brittle test</a:t>
            </a:r>
          </a:p>
        </p:txBody>
      </p:sp>
      <p:sp>
        <p:nvSpPr>
          <p:cNvPr id="9" name="TextBox 8"/>
          <p:cNvSpPr txBox="1"/>
          <p:nvPr/>
        </p:nvSpPr>
        <p:spPr>
          <a:xfrm>
            <a:off x="4900000" y="740000"/>
            <a:ext cx="6988952" cy="1379500"/>
          </a:xfrm>
          <a:prstGeom prst="rect">
            <a:avLst/>
          </a:prstGeom>
          <a:noFill/>
        </p:spPr>
        <p:txBody>
          <a:bodyPr wrap="square">
            <a:spAutoFit/>
          </a:bodyPr>
          <a:lstStyle/>
          <a:p>
            <a:pPr algn="l"/>
            <a:r>
              <a:rPr sz="1200" b="0">
                <a:solidFill>
                  <a:srgbClr val="8B949E"/>
                </a:solidFill>
              </a:rPr>
              <a:t>npx playwright test examples/ch1-foundations/brittle-test.spec.ts
Rename .login-card → .auth-card in Login.tsx — watch it fail for the wrong reason.</a:t>
            </a:r>
          </a:p>
        </p:txBody>
      </p:sp>
      <p:sp>
        <p:nvSpPr>
          <p:cNvPr id="10" name="Rectangle 9"/>
          <p:cNvSpPr/>
          <p:nvPr/>
        </p:nvSpPr>
        <p:spPr>
          <a:xfrm>
            <a:off x="274320" y="2179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39500"/>
            <a:ext cx="800000" cy="1379500"/>
          </a:xfrm>
          <a:prstGeom prst="rect">
            <a:avLst/>
          </a:prstGeom>
          <a:noFill/>
        </p:spPr>
        <p:txBody>
          <a:bodyPr wrap="square">
            <a:spAutoFit/>
          </a:bodyPr>
          <a:lstStyle/>
          <a:p>
            <a:pPr algn="l"/>
            <a:r>
              <a:rPr sz="1300" b="1">
                <a:solidFill>
                  <a:srgbClr val="D2A8FF"/>
                </a:solidFill>
              </a:rPr>
              <a:t>Task B</a:t>
            </a:r>
          </a:p>
        </p:txBody>
      </p:sp>
      <p:sp>
        <p:nvSpPr>
          <p:cNvPr id="12" name="TextBox 11"/>
          <p:cNvSpPr txBox="1"/>
          <p:nvPr/>
        </p:nvSpPr>
        <p:spPr>
          <a:xfrm>
            <a:off x="1200000" y="2239500"/>
            <a:ext cx="3600000" cy="1379500"/>
          </a:xfrm>
          <a:prstGeom prst="rect">
            <a:avLst/>
          </a:prstGeom>
          <a:noFill/>
        </p:spPr>
        <p:txBody>
          <a:bodyPr wrap="square">
            <a:spAutoFit/>
          </a:bodyPr>
          <a:lstStyle/>
          <a:p>
            <a:pPr algn="l"/>
            <a:r>
              <a:rPr sz="1400" b="1">
                <a:solidFill>
                  <a:srgbClr val="FFFFFF"/>
                </a:solidFill>
              </a:rPr>
              <a:t>Map anti-patterns to the loop</a:t>
            </a:r>
          </a:p>
        </p:txBody>
      </p:sp>
      <p:sp>
        <p:nvSpPr>
          <p:cNvPr id="13" name="TextBox 12"/>
          <p:cNvSpPr txBox="1"/>
          <p:nvPr/>
        </p:nvSpPr>
        <p:spPr>
          <a:xfrm>
            <a:off x="4900000" y="2239500"/>
            <a:ext cx="6988952" cy="1379500"/>
          </a:xfrm>
          <a:prstGeom prst="rect">
            <a:avLst/>
          </a:prstGeom>
          <a:noFill/>
        </p:spPr>
        <p:txBody>
          <a:bodyPr wrap="square">
            <a:spAutoFit/>
          </a:bodyPr>
          <a:lstStyle/>
          <a:p>
            <a:pPr algn="l"/>
            <a:r>
              <a:rPr sz="1200" b="0">
                <a:solidFill>
                  <a:srgbClr val="8B949E"/>
                </a:solidFill>
              </a:rPr>
              <a:t>For each ❌ in brittle-test.spec.ts, identify which agentic phase it prevents
(observe/plan/act/verify/learn). Write the ARIA-first replacement selector.</a:t>
            </a:r>
          </a:p>
        </p:txBody>
      </p:sp>
      <p:sp>
        <p:nvSpPr>
          <p:cNvPr id="14" name="Rectangle 13"/>
          <p:cNvSpPr/>
          <p:nvPr/>
        </p:nvSpPr>
        <p:spPr>
          <a:xfrm>
            <a:off x="274320" y="3679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739000"/>
            <a:ext cx="800000" cy="1379500"/>
          </a:xfrm>
          <a:prstGeom prst="rect">
            <a:avLst/>
          </a:prstGeom>
          <a:noFill/>
        </p:spPr>
        <p:txBody>
          <a:bodyPr wrap="square">
            <a:spAutoFit/>
          </a:bodyPr>
          <a:lstStyle/>
          <a:p>
            <a:pPr algn="l"/>
            <a:r>
              <a:rPr sz="1300" b="1">
                <a:solidFill>
                  <a:srgbClr val="D2A8FF"/>
                </a:solidFill>
              </a:rPr>
              <a:t>Task C</a:t>
            </a:r>
          </a:p>
        </p:txBody>
      </p:sp>
      <p:sp>
        <p:nvSpPr>
          <p:cNvPr id="16" name="TextBox 15"/>
          <p:cNvSpPr txBox="1"/>
          <p:nvPr/>
        </p:nvSpPr>
        <p:spPr>
          <a:xfrm>
            <a:off x="1200000" y="3739000"/>
            <a:ext cx="3600000" cy="1379500"/>
          </a:xfrm>
          <a:prstGeom prst="rect">
            <a:avLst/>
          </a:prstGeom>
          <a:noFill/>
        </p:spPr>
        <p:txBody>
          <a:bodyPr wrap="square">
            <a:spAutoFit/>
          </a:bodyPr>
          <a:lstStyle/>
          <a:p>
            <a:pPr algn="l"/>
            <a:r>
              <a:rPr sz="1400" b="1">
                <a:solidFill>
                  <a:srgbClr val="FFFFFF"/>
                </a:solidFill>
              </a:rPr>
              <a:t>Read the resilient version</a:t>
            </a:r>
          </a:p>
        </p:txBody>
      </p:sp>
      <p:sp>
        <p:nvSpPr>
          <p:cNvPr id="17" name="TextBox 16"/>
          <p:cNvSpPr txBox="1"/>
          <p:nvPr/>
        </p:nvSpPr>
        <p:spPr>
          <a:xfrm>
            <a:off x="4900000" y="3739000"/>
            <a:ext cx="6988952" cy="1379500"/>
          </a:xfrm>
          <a:prstGeom prst="rect">
            <a:avLst/>
          </a:prstGeom>
          <a:noFill/>
        </p:spPr>
        <p:txBody>
          <a:bodyPr wrap="square">
            <a:spAutoFit/>
          </a:bodyPr>
          <a:lstStyle/>
          <a:p>
            <a:pPr algn="l"/>
            <a:r>
              <a:rPr sz="1200" b="0">
                <a:solidFill>
                  <a:srgbClr val="8B949E"/>
                </a:solidFill>
              </a:rPr>
              <a:t>Open tests/auth.spec.ts. Note every getByRole / getByLabel call.
Count how many CSS selectors remain — aim for zero.</a:t>
            </a:r>
          </a:p>
        </p:txBody>
      </p:sp>
      <p:sp>
        <p:nvSpPr>
          <p:cNvPr id="18" name="Rectangle 17"/>
          <p:cNvSpPr/>
          <p:nvPr/>
        </p:nvSpPr>
        <p:spPr>
          <a:xfrm>
            <a:off x="274320" y="5178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5238500"/>
            <a:ext cx="800000" cy="1379500"/>
          </a:xfrm>
          <a:prstGeom prst="rect">
            <a:avLst/>
          </a:prstGeom>
          <a:noFill/>
        </p:spPr>
        <p:txBody>
          <a:bodyPr wrap="square">
            <a:spAutoFit/>
          </a:bodyPr>
          <a:lstStyle/>
          <a:p>
            <a:pPr algn="l"/>
            <a:r>
              <a:rPr sz="1300" b="1">
                <a:solidFill>
                  <a:srgbClr val="D2A8FF"/>
                </a:solidFill>
              </a:rPr>
              <a:t>Task D</a:t>
            </a:r>
          </a:p>
        </p:txBody>
      </p:sp>
      <p:sp>
        <p:nvSpPr>
          <p:cNvPr id="20" name="TextBox 19"/>
          <p:cNvSpPr txBox="1"/>
          <p:nvPr/>
        </p:nvSpPr>
        <p:spPr>
          <a:xfrm>
            <a:off x="1200000" y="5238500"/>
            <a:ext cx="3600000" cy="1379500"/>
          </a:xfrm>
          <a:prstGeom prst="rect">
            <a:avLst/>
          </a:prstGeom>
          <a:noFill/>
        </p:spPr>
        <p:txBody>
          <a:bodyPr wrap="square">
            <a:spAutoFit/>
          </a:bodyPr>
          <a:lstStyle/>
          <a:p>
            <a:pPr algn="l"/>
            <a:r>
              <a:rPr sz="1400" b="1">
                <a:solidFill>
                  <a:srgbClr val="FFFFFF"/>
                </a:solidFill>
              </a:rPr>
              <a:t>Extend the task graph</a:t>
            </a:r>
          </a:p>
        </p:txBody>
      </p:sp>
      <p:sp>
        <p:nvSpPr>
          <p:cNvPr id="21" name="TextBox 20"/>
          <p:cNvSpPr txBox="1"/>
          <p:nvPr/>
        </p:nvSpPr>
        <p:spPr>
          <a:xfrm>
            <a:off x="4900000" y="5238500"/>
            <a:ext cx="6988952" cy="1379500"/>
          </a:xfrm>
          <a:prstGeom prst="rect">
            <a:avLst/>
          </a:prstGeom>
          <a:noFill/>
        </p:spPr>
        <p:txBody>
          <a:bodyPr wrap="square">
            <a:spAutoFit/>
          </a:bodyPr>
          <a:lstStyle/>
          <a:p>
            <a:pPr algn="l"/>
            <a:r>
              <a:rPr sz="1200" b="0">
                <a:solidFill>
                  <a:srgbClr val="8B949E"/>
                </a:solidFill>
              </a:rPr>
              <a:t>Add a logoutTask node to loginTaskGraph with preconditions: ['submitCredentials'].
Implement action + verify. Run the graph via the provided runner.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286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286000"/>
            <a:ext cx="12188952" cy="4572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086000"/>
            <a:ext cx="12188952" cy="400000"/>
          </a:xfrm>
          <a:prstGeom prst="rect">
            <a:avLst/>
          </a:prstGeom>
          <a:noFill/>
        </p:spPr>
        <p:txBody>
          <a:bodyPr wrap="square">
            <a:spAutoFit/>
          </a:bodyPr>
          <a:lstStyle/>
          <a:p>
            <a:pPr algn="ctr"/>
            <a:r>
              <a:rPr sz="3600" b="1">
                <a:solidFill>
                  <a:srgbClr val="0D1117"/>
                </a:solidFill>
              </a:rPr>
              <a:t>☕  Break</a:t>
            </a:r>
          </a:p>
        </p:txBody>
      </p:sp>
      <p:sp>
        <p:nvSpPr>
          <p:cNvPr id="6" name="TextBox 5"/>
          <p:cNvSpPr txBox="1"/>
          <p:nvPr/>
        </p:nvSpPr>
        <p:spPr>
          <a:xfrm>
            <a:off x="0" y="2566000"/>
            <a:ext cx="12188952" cy="400000"/>
          </a:xfrm>
          <a:prstGeom prst="rect">
            <a:avLst/>
          </a:prstGeom>
          <a:noFill/>
        </p:spPr>
        <p:txBody>
          <a:bodyPr wrap="square">
            <a:spAutoFit/>
          </a:bodyPr>
          <a:lstStyle/>
          <a:p>
            <a:pPr algn="ctr"/>
            <a:r>
              <a:rPr sz="2000" b="0">
                <a:solidFill>
                  <a:srgbClr val="8B949E"/>
                </a:solidFill>
              </a:rPr>
              <a:t>10:45 – 11:00  ·  15 minutes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37160"/>
            <a:ext cx="1371600" cy="34747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9184" y="164592"/>
            <a:ext cx="1280160" cy="320040"/>
          </a:xfrm>
          <a:prstGeom prst="rect">
            <a:avLst/>
          </a:prstGeom>
          <a:noFill/>
        </p:spPr>
        <p:txBody>
          <a:bodyPr wrap="square">
            <a:spAutoFit/>
          </a:bodyPr>
          <a:lstStyle/>
          <a:p>
            <a:pPr algn="ctr"/>
            <a:r>
              <a:rPr sz="1300" b="1">
                <a:solidFill>
                  <a:srgbClr val="0D1117"/>
                </a:solidFill>
              </a:rPr>
              <a:t>CH 2  ·  11:00</a:t>
            </a:r>
          </a:p>
        </p:txBody>
      </p:sp>
      <p:sp>
        <p:nvSpPr>
          <p:cNvPr id="6" name="TextBox 5"/>
          <p:cNvSpPr txBox="1"/>
          <p:nvPr/>
        </p:nvSpPr>
        <p:spPr>
          <a:xfrm>
            <a:off x="1874519" y="109728"/>
            <a:ext cx="9900000" cy="600000"/>
          </a:xfrm>
          <a:prstGeom prst="rect">
            <a:avLst/>
          </a:prstGeom>
          <a:noFill/>
        </p:spPr>
        <p:txBody>
          <a:bodyPr wrap="square">
            <a:spAutoFit/>
          </a:bodyPr>
          <a:lstStyle/>
          <a:p>
            <a:pPr algn="l"/>
            <a:r>
              <a:rPr sz="3000" b="1">
                <a:solidFill>
                  <a:srgbClr val="FFFFFF"/>
                </a:solidFill>
              </a:rPr>
              <a:t>Browser as Execution Layer</a:t>
            </a:r>
          </a:p>
        </p:txBody>
      </p:sp>
      <p:sp>
        <p:nvSpPr>
          <p:cNvPr id="7" name="TextBox 6"/>
          <p:cNvSpPr txBox="1"/>
          <p:nvPr/>
        </p:nvSpPr>
        <p:spPr>
          <a:xfrm>
            <a:off x="1874519" y="660000"/>
            <a:ext cx="9900000" cy="347472"/>
          </a:xfrm>
          <a:prstGeom prst="rect">
            <a:avLst/>
          </a:prstGeom>
          <a:noFill/>
        </p:spPr>
        <p:txBody>
          <a:bodyPr wrap="square">
            <a:spAutoFit/>
          </a:bodyPr>
          <a:lstStyle/>
          <a:p>
            <a:pPr algn="l"/>
            <a:r>
              <a:rPr sz="1500" b="0">
                <a:solidFill>
                  <a:srgbClr val="8B949E"/>
                </a:solidFill>
              </a:rPr>
              <a:t>90 min  ·  Build a fault-tolerant action toolkit that LLMs can call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2</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Playwright as an Action Vocabulary — Not a Test Runner</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Key mental shift:</a:t>
            </a:r>
          </a:p>
          <a:p>
            <a:pPr algn="l">
              <a:lnSpc>
                <a:spcPts val="1800"/>
              </a:lnSpc>
            </a:pPr>
            <a:r>
              <a:rPr sz="1400" b="0">
                <a:solidFill>
                  <a:srgbClr val="F78466"/>
                </a:solidFill>
              </a:rPr>
              <a:t>  Traditional mindset:  'I am writing a test.'</a:t>
            </a:r>
          </a:p>
          <a:p>
            <a:pPr algn="l">
              <a:lnSpc>
                <a:spcPts val="1800"/>
              </a:lnSpc>
            </a:pPr>
            <a:r>
              <a:rPr sz="1400" b="0">
                <a:solidFill>
                  <a:srgbClr val="39D353"/>
                </a:solidFill>
              </a:rPr>
              <a:t>  Agentic mindset:      'I am defining tools an LLM can call.'</a:t>
            </a:r>
          </a:p>
          <a:p>
            <a:pPr algn="l">
              <a:lnSpc>
                <a:spcPts val="1800"/>
              </a:lnSpc>
            </a:pPr>
            <a:r>
              <a:rPr sz="1400" b="0">
                <a:solidFill>
                  <a:srgbClr val="FFFFFF"/>
                </a:solidFill>
              </a:rPr>
              <a:t/>
            </a:r>
          </a:p>
          <a:p>
            <a:pPr algn="l">
              <a:lnSpc>
                <a:spcPts val="1800"/>
              </a:lnSpc>
            </a:pPr>
            <a:r>
              <a:rPr sz="1400" b="0">
                <a:solidFill>
                  <a:srgbClr val="FFFFFF"/>
                </a:solidFill>
              </a:rPr>
              <a:t>Every browser interaction becomes a typed tool with:</a:t>
            </a:r>
          </a:p>
          <a:p>
            <a:pPr algn="l">
              <a:lnSpc>
                <a:spcPts val="1800"/>
              </a:lnSpc>
            </a:pPr>
            <a:r>
              <a:rPr sz="1400" b="0">
                <a:solidFill>
                  <a:srgbClr val="FFFFFF"/>
                </a:solidFill>
              </a:rPr>
              <a:t>  • A clear input schema  (selector, value, url …)</a:t>
            </a:r>
          </a:p>
          <a:p>
            <a:pPr algn="l">
              <a:lnSpc>
                <a:spcPts val="1800"/>
              </a:lnSpc>
            </a:pPr>
            <a:r>
              <a:rPr sz="1400" b="0">
                <a:solidFill>
                  <a:srgbClr val="FFFFFF"/>
                </a:solidFill>
              </a:rPr>
              <a:t>  • A structured ActionResult  { ok, durationMs, error?, snapshot? }</a:t>
            </a:r>
          </a:p>
          <a:p>
            <a:pPr algn="l">
              <a:lnSpc>
                <a:spcPts val="1800"/>
              </a:lnSpc>
            </a:pPr>
            <a:r>
              <a:rPr sz="1400" b="0">
                <a:solidFill>
                  <a:srgbClr val="FFFFFF"/>
                </a:solidFill>
              </a:rPr>
              <a:t>  • Retry logic built in  — no bare await page.click()</a:t>
            </a:r>
          </a:p>
          <a:p>
            <a:pPr algn="l">
              <a:lnSpc>
                <a:spcPts val="1800"/>
              </a:lnSpc>
            </a:pPr>
            <a:r>
              <a:rPr sz="1400" b="0">
                <a:solidFill>
                  <a:srgbClr val="FFFFFF"/>
                </a:solidFill>
              </a:rPr>
              <a:t/>
            </a:r>
          </a:p>
          <a:p>
            <a:pPr algn="l">
              <a:lnSpc>
                <a:spcPts val="1800"/>
              </a:lnSpc>
            </a:pPr>
            <a:r>
              <a:rPr sz="1400" b="0">
                <a:solidFill>
                  <a:srgbClr val="8B949E"/>
                </a:solidFill>
              </a:rPr>
              <a:t>This wrapper layer is what lets an LLM orchestrate Playwright</a:t>
            </a:r>
          </a:p>
          <a:p>
            <a:pPr algn="l">
              <a:lnSpc>
                <a:spcPts val="1800"/>
              </a:lnSpc>
            </a:pPr>
            <a:r>
              <a:rPr sz="1400" b="0">
                <a:solidFill>
                  <a:srgbClr val="8B949E"/>
                </a:solidFill>
              </a:rPr>
              <a:t>without knowing anything about the test framework internals.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2</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ActionWrapper — The LLM-Callable Interface</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ch2-execution-layer/action-wrapper.ts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interface ActionResult {</a:t>
            </a:r>
          </a:p>
          <a:p>
            <a:pPr algn="l">
              <a:lnSpc>
                <a:spcPts val="1500"/>
              </a:lnSpc>
            </a:pPr>
            <a:r>
              <a:rPr sz="1200" b="0">
                <a:solidFill>
                  <a:srgbClr val="FFFFFF"/>
                </a:solidFill>
                <a:latin typeface="Courier New"/>
              </a:rPr>
              <a:t>  ok:          boolean         // false = agent must re-plan</a:t>
            </a:r>
          </a:p>
          <a:p>
            <a:pPr algn="l">
              <a:lnSpc>
                <a:spcPts val="1500"/>
              </a:lnSpc>
            </a:pPr>
            <a:r>
              <a:rPr sz="1200" b="0">
                <a:solidFill>
                  <a:srgbClr val="FFFFFF"/>
                </a:solidFill>
                <a:latin typeface="Courier New"/>
              </a:rPr>
              <a:t>  durationMs:  number          // perf signal for adaptive agents</a:t>
            </a:r>
          </a:p>
          <a:p>
            <a:pPr algn="l">
              <a:lnSpc>
                <a:spcPts val="1500"/>
              </a:lnSpc>
            </a:pPr>
            <a:r>
              <a:rPr sz="1200" b="0">
                <a:solidFill>
                  <a:srgbClr val="FFFFFF"/>
                </a:solidFill>
                <a:latin typeface="Courier New"/>
              </a:rPr>
              <a:t>  error?:      string          // structured — not a raw exception</a:t>
            </a:r>
          </a:p>
          <a:p>
            <a:pPr algn="l">
              <a:lnSpc>
                <a:spcPts val="1500"/>
              </a:lnSpc>
            </a:pPr>
            <a:r>
              <a:rPr sz="1200" b="0">
                <a:solidFill>
                  <a:srgbClr val="FFFFFF"/>
                </a:solidFill>
                <a:latin typeface="Courier New"/>
              </a:rPr>
              <a:t>  snapshot?:   string          // a11y tree after the action</a:t>
            </a:r>
          </a:p>
          <a:p>
            <a:pPr algn="l">
              <a:lnSpc>
                <a:spcPts val="1500"/>
              </a:lnSpc>
            </a:pPr>
            <a:r>
              <a:rPr sz="1200" b="0">
                <a:solidFill>
                  <a:srgbClr val="FFFFFF"/>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class ActionWrapper {</a:t>
            </a:r>
          </a:p>
          <a:p>
            <a:pPr algn="l">
              <a:lnSpc>
                <a:spcPts val="1500"/>
              </a:lnSpc>
            </a:pPr>
            <a:r>
              <a:rPr sz="1200" b="0">
                <a:solidFill>
                  <a:srgbClr val="58A6FF"/>
                </a:solidFill>
                <a:latin typeface="Courier New"/>
              </a:rPr>
              <a:t>  async click(selector: string, desc: string): Promise&lt;ActionResult&gt;</a:t>
            </a:r>
          </a:p>
          <a:p>
            <a:pPr algn="l">
              <a:lnSpc>
                <a:spcPts val="1500"/>
              </a:lnSpc>
            </a:pPr>
            <a:r>
              <a:rPr sz="1200" b="0">
                <a:solidFill>
                  <a:srgbClr val="58A6FF"/>
                </a:solidFill>
                <a:latin typeface="Courier New"/>
              </a:rPr>
              <a:t>  async fill(selector: string, value: string): Promise&lt;ActionResult&gt;</a:t>
            </a:r>
          </a:p>
          <a:p>
            <a:pPr algn="l">
              <a:lnSpc>
                <a:spcPts val="1500"/>
              </a:lnSpc>
            </a:pPr>
            <a:r>
              <a:rPr sz="1200" b="0">
                <a:solidFill>
                  <a:srgbClr val="58A6FF"/>
                </a:solidFill>
                <a:latin typeface="Courier New"/>
              </a:rPr>
              <a:t>  async navigate(url: string):                 Promise&lt;ActionResult&gt;</a:t>
            </a:r>
          </a:p>
          <a:p>
            <a:pPr algn="l">
              <a:lnSpc>
                <a:spcPts val="1500"/>
              </a:lnSpc>
            </a:pPr>
            <a:r>
              <a:rPr sz="1200" b="0">
                <a:solidFill>
                  <a:srgbClr val="58A6FF"/>
                </a:solidFill>
                <a:latin typeface="Courier New"/>
              </a:rPr>
              <a:t>  async snapshot():                            Promise&lt;ActionResult&gt;</a:t>
            </a:r>
          </a:p>
          <a:p>
            <a:pPr algn="l">
              <a:lnSpc>
                <a:spcPts val="1500"/>
              </a:lnSpc>
            </a:pPr>
            <a:r>
              <a:rPr sz="1200" b="0">
                <a:solidFill>
                  <a:srgbClr val="58A6FF"/>
                </a:solidFill>
                <a:latin typeface="Courier New"/>
              </a:rPr>
              <a:t>  async assertVisible(selector, desc):         Promise&lt;ActionResult&gt;</a:t>
            </a:r>
          </a:p>
          <a:p>
            <a:pPr algn="l">
              <a:lnSpc>
                <a:spcPts val="1500"/>
              </a:lnSpc>
            </a:pPr>
            <a:r>
              <a:rPr sz="1200" b="0">
                <a:solidFill>
                  <a:srgbClr val="FFFFFF"/>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8B949E"/>
                </a:solidFill>
                <a:latin typeface="Courier New"/>
              </a:rPr>
              <a:t>// Every call returns ok:false instead of throwing.</a:t>
            </a:r>
          </a:p>
          <a:p>
            <a:pPr algn="l">
              <a:lnSpc>
                <a:spcPts val="1500"/>
              </a:lnSpc>
            </a:pPr>
            <a:r>
              <a:rPr sz="1200" b="0">
                <a:solidFill>
                  <a:srgbClr val="8B949E"/>
                </a:solidFill>
                <a:latin typeface="Courier New"/>
              </a:rPr>
              <a:t>// The agent reads ok and decides whether to retry, re-plan, or fail.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2</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BrowserSession — Fault-Tolerant Navigation</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ch2-execution-layer/browser-session.ts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class BrowserSession {</a:t>
            </a:r>
          </a:p>
          <a:p>
            <a:pPr algn="l">
              <a:lnSpc>
                <a:spcPts val="1500"/>
              </a:lnSpc>
            </a:pPr>
            <a:r>
              <a:rPr sz="1200" b="0">
                <a:solidFill>
                  <a:srgbClr val="FFFFFF"/>
                </a:solidFill>
                <a:latin typeface="Courier New"/>
              </a:rPr>
              <a:t>  async navigateWithRetry(url: string, maxRetries = 3) {</a:t>
            </a:r>
          </a:p>
          <a:p>
            <a:pPr algn="l">
              <a:lnSpc>
                <a:spcPts val="1500"/>
              </a:lnSpc>
            </a:pPr>
            <a:r>
              <a:rPr sz="1200" b="0">
                <a:solidFill>
                  <a:srgbClr val="FFFFFF"/>
                </a:solidFill>
                <a:latin typeface="Courier New"/>
              </a:rPr>
              <a:t>    for (let attempt = 1; attempt &lt;= maxRetries; attempt++) {</a:t>
            </a:r>
          </a:p>
          <a:p>
            <a:pPr algn="l">
              <a:lnSpc>
                <a:spcPts val="1500"/>
              </a:lnSpc>
            </a:pPr>
            <a:r>
              <a:rPr sz="1200" b="0">
                <a:solidFill>
                  <a:srgbClr val="FFFFFF"/>
                </a:solidFill>
                <a:latin typeface="Courier New"/>
              </a:rPr>
              <a:t>      try {</a:t>
            </a:r>
          </a:p>
          <a:p>
            <a:pPr algn="l">
              <a:lnSpc>
                <a:spcPts val="1500"/>
              </a:lnSpc>
            </a:pPr>
            <a:r>
              <a:rPr sz="1200" b="0">
                <a:solidFill>
                  <a:srgbClr val="FFFFFF"/>
                </a:solidFill>
                <a:latin typeface="Courier New"/>
              </a:rPr>
              <a:t>        await this.page.goto(url, { waitUntil: 'domcontentloaded' })</a:t>
            </a:r>
          </a:p>
          <a:p>
            <a:pPr algn="l">
              <a:lnSpc>
                <a:spcPts val="1500"/>
              </a:lnSpc>
            </a:pPr>
            <a:r>
              <a:rPr sz="1200" b="0">
                <a:solidFill>
                  <a:srgbClr val="39D353"/>
                </a:solidFill>
                <a:latin typeface="Courier New"/>
              </a:rPr>
              <a:t>        return  // success</a:t>
            </a:r>
          </a:p>
          <a:p>
            <a:pPr algn="l">
              <a:lnSpc>
                <a:spcPts val="1500"/>
              </a:lnSpc>
            </a:pPr>
            <a:r>
              <a:rPr sz="1200" b="0">
                <a:solidFill>
                  <a:srgbClr val="FFFFFF"/>
                </a:solidFill>
                <a:latin typeface="Courier New"/>
              </a:rPr>
              <a:t>      } catch {</a:t>
            </a:r>
          </a:p>
          <a:p>
            <a:pPr algn="l">
              <a:lnSpc>
                <a:spcPts val="1500"/>
              </a:lnSpc>
            </a:pPr>
            <a:r>
              <a:rPr sz="1200" b="0">
                <a:solidFill>
                  <a:srgbClr val="FFFFFF"/>
                </a:solidFill>
                <a:latin typeface="Courier New"/>
              </a:rPr>
              <a:t>        if (attempt === maxRetries) throw</a:t>
            </a:r>
          </a:p>
          <a:p>
            <a:pPr algn="l">
              <a:lnSpc>
                <a:spcPts val="1500"/>
              </a:lnSpc>
            </a:pPr>
            <a:r>
              <a:rPr sz="1200" b="0">
                <a:solidFill>
                  <a:srgbClr val="FFFFFF"/>
                </a:solidFill>
                <a:latin typeface="Courier New"/>
              </a:rPr>
              <a:t>        await new Promise(r =&gt;</a:t>
            </a:r>
          </a:p>
          <a:p>
            <a:pPr algn="l">
              <a:lnSpc>
                <a:spcPts val="1500"/>
              </a:lnSpc>
            </a:pPr>
            <a:r>
              <a:rPr sz="1200" b="0">
                <a:solidFill>
                  <a:srgbClr val="F78466"/>
                </a:solidFill>
                <a:latin typeface="Courier New"/>
              </a:rPr>
              <a:t>          setTimeout(r, this.retryDelayMs * attempt))  // linear back-off</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8B949E"/>
                </a:solidFill>
                <a:latin typeface="Courier New"/>
              </a:rPr>
              <a:t>// Note: retryDelayMs * attempt is LINEAR, not exponential.</a:t>
            </a:r>
          </a:p>
          <a:p>
            <a:pPr algn="l">
              <a:lnSpc>
                <a:spcPts val="1500"/>
              </a:lnSpc>
            </a:pPr>
            <a:r>
              <a:rPr sz="1200" b="0">
                <a:solidFill>
                  <a:srgbClr val="8B949E"/>
                </a:solidFill>
                <a:latin typeface="Courier New"/>
              </a:rPr>
              <a:t>// Exponential: retryDelayMs * 2^(attempt-1)</a:t>
            </a:r>
          </a:p>
          <a:p>
            <a:pPr algn="l">
              <a:lnSpc>
                <a:spcPts val="1500"/>
              </a:lnSpc>
            </a:pPr>
            <a:r>
              <a:rPr sz="1200" b="0">
                <a:solidFill>
                  <a:srgbClr val="8B949E"/>
                </a:solidFill>
                <a:latin typeface="Courier New"/>
              </a:rPr>
              <a:t>// Use exponential when failures signal server overload.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2</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Extracting Page State for LLM Reasoning</a:t>
            </a:r>
          </a:p>
        </p:txBody>
      </p:sp>
      <p:sp>
        <p:nvSpPr>
          <p:cNvPr id="6" name="Rectangle 5"/>
          <p:cNvSpPr/>
          <p:nvPr/>
        </p:nvSpPr>
        <p:spPr>
          <a:xfrm>
            <a:off x="274320"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40196"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740000"/>
            <a:ext cx="5545836" cy="300000"/>
          </a:xfrm>
          <a:prstGeom prst="rect">
            <a:avLst/>
          </a:prstGeom>
          <a:noFill/>
        </p:spPr>
        <p:txBody>
          <a:bodyPr wrap="square">
            <a:spAutoFit/>
          </a:bodyPr>
          <a:lstStyle/>
          <a:p>
            <a:pPr algn="l"/>
            <a:r>
              <a:rPr sz="1400" b="1">
                <a:solidFill>
                  <a:srgbClr val="58A6FF"/>
                </a:solidFill>
              </a:rPr>
              <a:t>Accessibility Tree  (prefer)</a:t>
            </a:r>
          </a:p>
        </p:txBody>
      </p:sp>
      <p:sp>
        <p:nvSpPr>
          <p:cNvPr id="9" name="TextBox 8"/>
          <p:cNvSpPr txBox="1"/>
          <p:nvPr/>
        </p:nvSpPr>
        <p:spPr>
          <a:xfrm>
            <a:off x="457200" y="1090000"/>
            <a:ext cx="5545836" cy="5548000"/>
          </a:xfrm>
          <a:prstGeom prst="rect">
            <a:avLst/>
          </a:prstGeom>
          <a:noFill/>
        </p:spPr>
        <p:txBody>
          <a:bodyPr wrap="square">
            <a:spAutoFit/>
          </a:bodyPr>
          <a:lstStyle/>
          <a:p>
            <a:pPr algn="l">
              <a:lnSpc>
                <a:spcPts val="1700"/>
              </a:lnSpc>
            </a:pPr>
            <a:r>
              <a:rPr sz="1300" b="0">
                <a:solidFill>
                  <a:srgbClr val="39D353"/>
                </a:solidFill>
              </a:rPr>
              <a:t>page.locator('body').ariaSnapshot()</a:t>
            </a:r>
          </a:p>
          <a:p>
            <a:pPr algn="l">
              <a:lnSpc>
                <a:spcPts val="1700"/>
              </a:lnSpc>
            </a:pPr>
            <a:r>
              <a:rPr sz="1300" b="0">
                <a:solidFill>
                  <a:srgbClr val="FFFFFF"/>
                </a:solidFill>
              </a:rPr>
              <a:t/>
            </a:r>
          </a:p>
          <a:p>
            <a:pPr algn="l">
              <a:lnSpc>
                <a:spcPts val="1700"/>
              </a:lnSpc>
            </a:pPr>
            <a:r>
              <a:rPr sz="1300" b="0">
                <a:solidFill>
                  <a:srgbClr val="FFFFFF"/>
                </a:solidFill>
              </a:rPr>
              <a:t>✓ Text — no image tokens</a:t>
            </a:r>
          </a:p>
          <a:p>
            <a:pPr algn="l">
              <a:lnSpc>
                <a:spcPts val="1700"/>
              </a:lnSpc>
            </a:pPr>
            <a:r>
              <a:rPr sz="1300" b="0">
                <a:solidFill>
                  <a:srgbClr val="FFFFFF"/>
                </a:solidFill>
              </a:rPr>
              <a:t>✓ Headless — works in CI</a:t>
            </a:r>
          </a:p>
          <a:p>
            <a:pPr algn="l">
              <a:lnSpc>
                <a:spcPts val="1700"/>
              </a:lnSpc>
            </a:pPr>
            <a:r>
              <a:rPr sz="1300" b="0">
                <a:solidFill>
                  <a:srgbClr val="FFFFFF"/>
                </a:solidFill>
              </a:rPr>
              <a:t>✓ Fast — no screenshot latency</a:t>
            </a:r>
          </a:p>
          <a:p>
            <a:pPr algn="l">
              <a:lnSpc>
                <a:spcPts val="1700"/>
              </a:lnSpc>
            </a:pPr>
            <a:r>
              <a:rPr sz="1300" b="0">
                <a:solidFill>
                  <a:srgbClr val="FFFFFF"/>
                </a:solidFill>
              </a:rPr>
              <a:t>✓ Structured — roles, names, states</a:t>
            </a:r>
          </a:p>
          <a:p>
            <a:pPr algn="l">
              <a:lnSpc>
                <a:spcPts val="1700"/>
              </a:lnSpc>
            </a:pPr>
            <a:r>
              <a:rPr sz="1300" b="0">
                <a:solidFill>
                  <a:srgbClr val="FFFFFF"/>
                </a:solidFill>
              </a:rPr>
              <a:t>✓ Better for forms, tables, lists</a:t>
            </a:r>
          </a:p>
          <a:p>
            <a:pPr algn="l">
              <a:lnSpc>
                <a:spcPts val="1700"/>
              </a:lnSpc>
            </a:pPr>
            <a:r>
              <a:rPr sz="1300" b="0">
                <a:solidFill>
                  <a:srgbClr val="FFFFFF"/>
                </a:solidFill>
              </a:rPr>
              <a:t/>
            </a:r>
          </a:p>
          <a:p>
            <a:pPr algn="l">
              <a:lnSpc>
                <a:spcPts val="1700"/>
              </a:lnSpc>
            </a:pPr>
            <a:r>
              <a:rPr sz="1300" b="0">
                <a:solidFill>
                  <a:srgbClr val="8B949E"/>
                </a:solidFill>
              </a:rPr>
              <a:t>Cap at 3000–4000 chars to stay
within context budget.</a:t>
            </a:r>
          </a:p>
        </p:txBody>
      </p:sp>
      <p:sp>
        <p:nvSpPr>
          <p:cNvPr id="10" name="TextBox 9"/>
          <p:cNvSpPr txBox="1"/>
          <p:nvPr/>
        </p:nvSpPr>
        <p:spPr>
          <a:xfrm>
            <a:off x="6323076" y="740000"/>
            <a:ext cx="5545836" cy="300000"/>
          </a:xfrm>
          <a:prstGeom prst="rect">
            <a:avLst/>
          </a:prstGeom>
          <a:noFill/>
        </p:spPr>
        <p:txBody>
          <a:bodyPr wrap="square">
            <a:spAutoFit/>
          </a:bodyPr>
          <a:lstStyle/>
          <a:p>
            <a:pPr algn="l"/>
            <a:r>
              <a:rPr sz="1400" b="1">
                <a:solidFill>
                  <a:srgbClr val="58A6FF"/>
                </a:solidFill>
              </a:rPr>
              <a:t>Screenshot  (fallback)</a:t>
            </a:r>
          </a:p>
        </p:txBody>
      </p:sp>
      <p:sp>
        <p:nvSpPr>
          <p:cNvPr id="11" name="TextBox 10"/>
          <p:cNvSpPr txBox="1"/>
          <p:nvPr/>
        </p:nvSpPr>
        <p:spPr>
          <a:xfrm>
            <a:off x="6323076" y="1090000"/>
            <a:ext cx="5545836" cy="5548000"/>
          </a:xfrm>
          <a:prstGeom prst="rect">
            <a:avLst/>
          </a:prstGeom>
          <a:noFill/>
        </p:spPr>
        <p:txBody>
          <a:bodyPr wrap="square">
            <a:spAutoFit/>
          </a:bodyPr>
          <a:lstStyle/>
          <a:p>
            <a:pPr algn="l">
              <a:lnSpc>
                <a:spcPts val="1700"/>
              </a:lnSpc>
            </a:pPr>
            <a:r>
              <a:rPr sz="1300" b="0">
                <a:solidFill>
                  <a:srgbClr val="F78466"/>
                </a:solidFill>
              </a:rPr>
              <a:t>await page.screenshot({ path: '...' })</a:t>
            </a:r>
          </a:p>
          <a:p>
            <a:pPr algn="l">
              <a:lnSpc>
                <a:spcPts val="1700"/>
              </a:lnSpc>
            </a:pPr>
            <a:r>
              <a:rPr sz="1300" b="0">
                <a:solidFill>
                  <a:srgbClr val="FFFFFF"/>
                </a:solidFill>
              </a:rPr>
              <a:t/>
            </a:r>
          </a:p>
          <a:p>
            <a:pPr algn="l">
              <a:lnSpc>
                <a:spcPts val="1700"/>
              </a:lnSpc>
            </a:pPr>
            <a:r>
              <a:rPr sz="1300" b="0">
                <a:solidFill>
                  <a:srgbClr val="FFFFFF"/>
                </a:solidFill>
              </a:rPr>
              <a:t>✓ Captures charts, canvas, SVGs</a:t>
            </a:r>
          </a:p>
          <a:p>
            <a:pPr algn="l">
              <a:lnSpc>
                <a:spcPts val="1700"/>
              </a:lnSpc>
            </a:pPr>
            <a:r>
              <a:rPr sz="1300" b="0">
                <a:solidFill>
                  <a:srgbClr val="FFFFFF"/>
                </a:solidFill>
              </a:rPr>
              <a:t>✓ Useful for visual regression</a:t>
            </a:r>
          </a:p>
          <a:p>
            <a:pPr algn="l">
              <a:lnSpc>
                <a:spcPts val="1700"/>
              </a:lnSpc>
            </a:pPr>
            <a:r>
              <a:rPr sz="1300" b="0">
                <a:solidFill>
                  <a:srgbClr val="FFFFFF"/>
                </a:solidFill>
              </a:rPr>
              <a:t>✗ Slow — render + encode</a:t>
            </a:r>
          </a:p>
          <a:p>
            <a:pPr algn="l">
              <a:lnSpc>
                <a:spcPts val="1700"/>
              </a:lnSpc>
            </a:pPr>
            <a:r>
              <a:rPr sz="1300" b="0">
                <a:solidFill>
                  <a:srgbClr val="FFFFFF"/>
                </a:solidFill>
              </a:rPr>
              <a:t>✗ Expensive — image tokens</a:t>
            </a:r>
          </a:p>
          <a:p>
            <a:pPr algn="l">
              <a:lnSpc>
                <a:spcPts val="1700"/>
              </a:lnSpc>
            </a:pPr>
            <a:r>
              <a:rPr sz="1300" b="0">
                <a:solidFill>
                  <a:srgbClr val="FFFFFF"/>
                </a:solidFill>
              </a:rPr>
              <a:t>✗ Sensitive to viewport size</a:t>
            </a:r>
          </a:p>
          <a:p>
            <a:pPr algn="l">
              <a:lnSpc>
                <a:spcPts val="1700"/>
              </a:lnSpc>
            </a:pPr>
            <a:r>
              <a:rPr sz="1300" b="0">
                <a:solidFill>
                  <a:srgbClr val="FFFFFF"/>
                </a:solidFill>
              </a:rPr>
              <a:t/>
            </a:r>
          </a:p>
          <a:p>
            <a:pPr algn="l">
              <a:lnSpc>
                <a:spcPts val="1700"/>
              </a:lnSpc>
            </a:pPr>
            <a:r>
              <a:rPr sz="1300" b="0">
                <a:solidFill>
                  <a:srgbClr val="8B949E"/>
                </a:solidFill>
              </a:rPr>
              <a:t>Use for Recharts on /dashboard
or any canvas-based component.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2</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Playwright CLI — Commands Every Agent QA Must Know</a:t>
            </a:r>
          </a:p>
        </p:txBody>
      </p:sp>
      <p:sp>
        <p:nvSpPr>
          <p:cNvPr id="6" name="Rectangle 5"/>
          <p:cNvSpPr/>
          <p:nvPr/>
        </p:nvSpPr>
        <p:spPr>
          <a:xfrm>
            <a:off x="274320" y="680000"/>
            <a:ext cx="5802156" cy="42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4320" y="800000"/>
            <a:ext cx="5700156" cy="360000"/>
          </a:xfrm>
          <a:prstGeom prst="rect">
            <a:avLst/>
          </a:prstGeom>
          <a:noFill/>
        </p:spPr>
        <p:txBody>
          <a:bodyPr wrap="square">
            <a:spAutoFit/>
          </a:bodyPr>
          <a:lstStyle/>
          <a:p>
            <a:pPr algn="l"/>
            <a:r>
              <a:rPr sz="1300" b="1">
                <a:solidFill>
                  <a:srgbClr val="0D1117"/>
                </a:solidFill>
              </a:rPr>
              <a:t>Command</a:t>
            </a:r>
          </a:p>
        </p:txBody>
      </p:sp>
      <p:sp>
        <p:nvSpPr>
          <p:cNvPr id="8" name="Rectangle 7"/>
          <p:cNvSpPr/>
          <p:nvPr/>
        </p:nvSpPr>
        <p:spPr>
          <a:xfrm>
            <a:off x="6094476" y="680000"/>
            <a:ext cx="5802156" cy="42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4476" y="800000"/>
            <a:ext cx="5700156" cy="360000"/>
          </a:xfrm>
          <a:prstGeom prst="rect">
            <a:avLst/>
          </a:prstGeom>
          <a:noFill/>
        </p:spPr>
        <p:txBody>
          <a:bodyPr wrap="square">
            <a:spAutoFit/>
          </a:bodyPr>
          <a:lstStyle/>
          <a:p>
            <a:pPr algn="l"/>
            <a:r>
              <a:rPr sz="1300" b="1">
                <a:solidFill>
                  <a:srgbClr val="0D1117"/>
                </a:solidFill>
              </a:rPr>
              <a:t>Purpose</a:t>
            </a:r>
          </a:p>
        </p:txBody>
      </p:sp>
      <p:sp>
        <p:nvSpPr>
          <p:cNvPr id="10" name="Rectangle 9"/>
          <p:cNvSpPr/>
          <p:nvPr/>
        </p:nvSpPr>
        <p:spPr>
          <a:xfrm>
            <a:off x="274320" y="1100000"/>
            <a:ext cx="5802156"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4320" y="1220000"/>
            <a:ext cx="5700156" cy="360000"/>
          </a:xfrm>
          <a:prstGeom prst="rect">
            <a:avLst/>
          </a:prstGeom>
          <a:noFill/>
        </p:spPr>
        <p:txBody>
          <a:bodyPr wrap="square">
            <a:spAutoFit/>
          </a:bodyPr>
          <a:lstStyle/>
          <a:p>
            <a:pPr algn="l"/>
            <a:r>
              <a:rPr sz="1200" b="0">
                <a:solidFill>
                  <a:srgbClr val="FFFFFF"/>
                </a:solidFill>
                <a:latin typeface="Courier New"/>
              </a:rPr>
              <a:t>npx playwright test --headed --debug</a:t>
            </a:r>
          </a:p>
        </p:txBody>
      </p:sp>
      <p:sp>
        <p:nvSpPr>
          <p:cNvPr id="12" name="Rectangle 11"/>
          <p:cNvSpPr/>
          <p:nvPr/>
        </p:nvSpPr>
        <p:spPr>
          <a:xfrm>
            <a:off x="6094476" y="1100000"/>
            <a:ext cx="5802156"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54476" y="1220000"/>
            <a:ext cx="5700156" cy="360000"/>
          </a:xfrm>
          <a:prstGeom prst="rect">
            <a:avLst/>
          </a:prstGeom>
          <a:noFill/>
        </p:spPr>
        <p:txBody>
          <a:bodyPr wrap="square">
            <a:spAutoFit/>
          </a:bodyPr>
          <a:lstStyle/>
          <a:p>
            <a:pPr algn="l"/>
            <a:r>
              <a:rPr sz="1200" b="0">
                <a:solidFill>
                  <a:srgbClr val="FFFFFF"/>
                </a:solidFill>
              </a:rPr>
              <a:t>Step through test interactively in Inspector</a:t>
            </a:r>
          </a:p>
        </p:txBody>
      </p:sp>
      <p:sp>
        <p:nvSpPr>
          <p:cNvPr id="14" name="Rectangle 13"/>
          <p:cNvSpPr/>
          <p:nvPr/>
        </p:nvSpPr>
        <p:spPr>
          <a:xfrm>
            <a:off x="274320" y="1538000"/>
            <a:ext cx="5802156"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4320" y="1658000"/>
            <a:ext cx="5700156" cy="360000"/>
          </a:xfrm>
          <a:prstGeom prst="rect">
            <a:avLst/>
          </a:prstGeom>
          <a:noFill/>
        </p:spPr>
        <p:txBody>
          <a:bodyPr wrap="square">
            <a:spAutoFit/>
          </a:bodyPr>
          <a:lstStyle/>
          <a:p>
            <a:pPr algn="l"/>
            <a:r>
              <a:rPr sz="1200" b="0">
                <a:solidFill>
                  <a:srgbClr val="FFFFFF"/>
                </a:solidFill>
                <a:latin typeface="Courier New"/>
              </a:rPr>
              <a:t>npx playwright codegen &lt;url&gt;</a:t>
            </a:r>
          </a:p>
        </p:txBody>
      </p:sp>
      <p:sp>
        <p:nvSpPr>
          <p:cNvPr id="16" name="Rectangle 15"/>
          <p:cNvSpPr/>
          <p:nvPr/>
        </p:nvSpPr>
        <p:spPr>
          <a:xfrm>
            <a:off x="6094476" y="1538000"/>
            <a:ext cx="5802156"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54476" y="1658000"/>
            <a:ext cx="5700156" cy="360000"/>
          </a:xfrm>
          <a:prstGeom prst="rect">
            <a:avLst/>
          </a:prstGeom>
          <a:noFill/>
        </p:spPr>
        <p:txBody>
          <a:bodyPr wrap="square">
            <a:spAutoFit/>
          </a:bodyPr>
          <a:lstStyle/>
          <a:p>
            <a:pPr algn="l"/>
            <a:r>
              <a:rPr sz="1200" b="0">
                <a:solidFill>
                  <a:srgbClr val="FFFFFF"/>
                </a:solidFill>
              </a:rPr>
              <a:t>Record interactions, auto-generate ARIA selectors</a:t>
            </a:r>
          </a:p>
        </p:txBody>
      </p:sp>
      <p:sp>
        <p:nvSpPr>
          <p:cNvPr id="18" name="Rectangle 17"/>
          <p:cNvSpPr/>
          <p:nvPr/>
        </p:nvSpPr>
        <p:spPr>
          <a:xfrm>
            <a:off x="274320" y="1976000"/>
            <a:ext cx="5802156"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4320" y="2096000"/>
            <a:ext cx="5700156" cy="360000"/>
          </a:xfrm>
          <a:prstGeom prst="rect">
            <a:avLst/>
          </a:prstGeom>
          <a:noFill/>
        </p:spPr>
        <p:txBody>
          <a:bodyPr wrap="square">
            <a:spAutoFit/>
          </a:bodyPr>
          <a:lstStyle/>
          <a:p>
            <a:pPr algn="l"/>
            <a:r>
              <a:rPr sz="1200" b="0">
                <a:solidFill>
                  <a:srgbClr val="FFFFFF"/>
                </a:solidFill>
                <a:latin typeface="Courier New"/>
              </a:rPr>
              <a:t>npx playwright show-report</a:t>
            </a:r>
          </a:p>
        </p:txBody>
      </p:sp>
      <p:sp>
        <p:nvSpPr>
          <p:cNvPr id="20" name="Rectangle 19"/>
          <p:cNvSpPr/>
          <p:nvPr/>
        </p:nvSpPr>
        <p:spPr>
          <a:xfrm>
            <a:off x="6094476" y="1976000"/>
            <a:ext cx="5802156"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54476" y="2096000"/>
            <a:ext cx="5700156" cy="360000"/>
          </a:xfrm>
          <a:prstGeom prst="rect">
            <a:avLst/>
          </a:prstGeom>
          <a:noFill/>
        </p:spPr>
        <p:txBody>
          <a:bodyPr wrap="square">
            <a:spAutoFit/>
          </a:bodyPr>
          <a:lstStyle/>
          <a:p>
            <a:pPr algn="l"/>
            <a:r>
              <a:rPr sz="1200" b="0">
                <a:solidFill>
                  <a:srgbClr val="FFFFFF"/>
                </a:solidFill>
              </a:rPr>
              <a:t>HTML report: timeline, traces, screenshots</a:t>
            </a:r>
          </a:p>
        </p:txBody>
      </p:sp>
      <p:sp>
        <p:nvSpPr>
          <p:cNvPr id="22" name="Rectangle 21"/>
          <p:cNvSpPr/>
          <p:nvPr/>
        </p:nvSpPr>
        <p:spPr>
          <a:xfrm>
            <a:off x="274320" y="2414000"/>
            <a:ext cx="5802156"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4320" y="2534000"/>
            <a:ext cx="5700156" cy="360000"/>
          </a:xfrm>
          <a:prstGeom prst="rect">
            <a:avLst/>
          </a:prstGeom>
          <a:noFill/>
        </p:spPr>
        <p:txBody>
          <a:bodyPr wrap="square">
            <a:spAutoFit/>
          </a:bodyPr>
          <a:lstStyle/>
          <a:p>
            <a:pPr algn="l"/>
            <a:r>
              <a:rPr sz="1200" b="0">
                <a:solidFill>
                  <a:srgbClr val="FFFFFF"/>
                </a:solidFill>
                <a:latin typeface="Courier New"/>
              </a:rPr>
              <a:t>npx playwright show-trace &lt;file&gt;</a:t>
            </a:r>
          </a:p>
        </p:txBody>
      </p:sp>
      <p:sp>
        <p:nvSpPr>
          <p:cNvPr id="24" name="Rectangle 23"/>
          <p:cNvSpPr/>
          <p:nvPr/>
        </p:nvSpPr>
        <p:spPr>
          <a:xfrm>
            <a:off x="6094476" y="2414000"/>
            <a:ext cx="5802156"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54476" y="2534000"/>
            <a:ext cx="5700156" cy="360000"/>
          </a:xfrm>
          <a:prstGeom prst="rect">
            <a:avLst/>
          </a:prstGeom>
          <a:noFill/>
        </p:spPr>
        <p:txBody>
          <a:bodyPr wrap="square">
            <a:spAutoFit/>
          </a:bodyPr>
          <a:lstStyle/>
          <a:p>
            <a:pPr algn="l"/>
            <a:r>
              <a:rPr sz="1200" b="0">
                <a:solidFill>
                  <a:srgbClr val="FFFFFF"/>
                </a:solidFill>
              </a:rPr>
              <a:t>Offline trace viewer — step through every action</a:t>
            </a:r>
          </a:p>
        </p:txBody>
      </p:sp>
      <p:sp>
        <p:nvSpPr>
          <p:cNvPr id="26" name="Rectangle 25"/>
          <p:cNvSpPr/>
          <p:nvPr/>
        </p:nvSpPr>
        <p:spPr>
          <a:xfrm>
            <a:off x="274320" y="2852000"/>
            <a:ext cx="5802156"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4320" y="2972000"/>
            <a:ext cx="5700156" cy="360000"/>
          </a:xfrm>
          <a:prstGeom prst="rect">
            <a:avLst/>
          </a:prstGeom>
          <a:noFill/>
        </p:spPr>
        <p:txBody>
          <a:bodyPr wrap="square">
            <a:spAutoFit/>
          </a:bodyPr>
          <a:lstStyle/>
          <a:p>
            <a:pPr algn="l"/>
            <a:r>
              <a:rPr sz="1200" b="0">
                <a:solidFill>
                  <a:srgbClr val="FFFFFF"/>
                </a:solidFill>
                <a:latin typeface="Courier New"/>
              </a:rPr>
              <a:t>PWDEBUG=1 npx playwright test</a:t>
            </a:r>
          </a:p>
        </p:txBody>
      </p:sp>
      <p:sp>
        <p:nvSpPr>
          <p:cNvPr id="28" name="Rectangle 27"/>
          <p:cNvSpPr/>
          <p:nvPr/>
        </p:nvSpPr>
        <p:spPr>
          <a:xfrm>
            <a:off x="6094476" y="2852000"/>
            <a:ext cx="5802156"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54476" y="2972000"/>
            <a:ext cx="5700156" cy="360000"/>
          </a:xfrm>
          <a:prstGeom prst="rect">
            <a:avLst/>
          </a:prstGeom>
          <a:noFill/>
        </p:spPr>
        <p:txBody>
          <a:bodyPr wrap="square">
            <a:spAutoFit/>
          </a:bodyPr>
          <a:lstStyle/>
          <a:p>
            <a:pPr algn="l"/>
            <a:r>
              <a:rPr sz="1200" b="0">
                <a:solidFill>
                  <a:srgbClr val="FFFFFF"/>
                </a:solidFill>
              </a:rPr>
              <a:t>Launch Playwright Inspector on first test</a:t>
            </a:r>
          </a:p>
        </p:txBody>
      </p:sp>
      <p:sp>
        <p:nvSpPr>
          <p:cNvPr id="30" name="Rectangle 29"/>
          <p:cNvSpPr/>
          <p:nvPr/>
        </p:nvSpPr>
        <p:spPr>
          <a:xfrm>
            <a:off x="274320" y="3290000"/>
            <a:ext cx="5802156"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4320" y="3410000"/>
            <a:ext cx="5700156" cy="360000"/>
          </a:xfrm>
          <a:prstGeom prst="rect">
            <a:avLst/>
          </a:prstGeom>
          <a:noFill/>
        </p:spPr>
        <p:txBody>
          <a:bodyPr wrap="square">
            <a:spAutoFit/>
          </a:bodyPr>
          <a:lstStyle/>
          <a:p>
            <a:pPr algn="l"/>
            <a:r>
              <a:rPr sz="1200" b="0">
                <a:solidFill>
                  <a:srgbClr val="FFFFFF"/>
                </a:solidFill>
                <a:latin typeface="Courier New"/>
              </a:rPr>
              <a:t>npx playwright test --ui</a:t>
            </a:r>
          </a:p>
        </p:txBody>
      </p:sp>
      <p:sp>
        <p:nvSpPr>
          <p:cNvPr id="32" name="Rectangle 31"/>
          <p:cNvSpPr/>
          <p:nvPr/>
        </p:nvSpPr>
        <p:spPr>
          <a:xfrm>
            <a:off x="6094476" y="3290000"/>
            <a:ext cx="5802156"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54476" y="3410000"/>
            <a:ext cx="5700156" cy="360000"/>
          </a:xfrm>
          <a:prstGeom prst="rect">
            <a:avLst/>
          </a:prstGeom>
          <a:noFill/>
        </p:spPr>
        <p:txBody>
          <a:bodyPr wrap="square">
            <a:spAutoFit/>
          </a:bodyPr>
          <a:lstStyle/>
          <a:p>
            <a:pPr algn="l"/>
            <a:r>
              <a:rPr sz="1200" b="0">
                <a:solidFill>
                  <a:srgbClr val="FFFFFF"/>
                </a:solidFill>
              </a:rPr>
              <a:t>Interactive test runner UI with live results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2</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codegen — Record and Refine Locators</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39D353"/>
                </a:solidFill>
              </a:rPr>
              <a:t>Run:  npx playwright codegen http://localhost:5173</a:t>
            </a:r>
          </a:p>
          <a:p>
            <a:pPr algn="l">
              <a:lnSpc>
                <a:spcPts val="1800"/>
              </a:lnSpc>
            </a:pPr>
            <a:r>
              <a:rPr sz="1400" b="0">
                <a:solidFill>
                  <a:srgbClr val="FFFFFF"/>
                </a:solidFill>
              </a:rPr>
              <a:t/>
            </a:r>
          </a:p>
          <a:p>
            <a:pPr algn="l">
              <a:lnSpc>
                <a:spcPts val="1800"/>
              </a:lnSpc>
            </a:pPr>
            <a:r>
              <a:rPr sz="1400" b="0">
                <a:solidFill>
                  <a:srgbClr val="8B949E"/>
                </a:solidFill>
              </a:rPr>
              <a:t>Codegen records every click and fill, then suggests selectors.</a:t>
            </a:r>
          </a:p>
          <a:p>
            <a:pPr algn="l">
              <a:lnSpc>
                <a:spcPts val="1800"/>
              </a:lnSpc>
            </a:pPr>
            <a:r>
              <a:rPr sz="1400" b="0">
                <a:solidFill>
                  <a:srgbClr val="FFFFFF"/>
                </a:solidFill>
              </a:rPr>
              <a:t>It prefers ARIA automatically — watch it choose:</a:t>
            </a:r>
          </a:p>
          <a:p>
            <a:pPr algn="l">
              <a:lnSpc>
                <a:spcPts val="1800"/>
              </a:lnSpc>
            </a:pPr>
            <a:r>
              <a:rPr sz="1400" b="0">
                <a:solidFill>
                  <a:srgbClr val="FFFFFF"/>
                </a:solidFill>
              </a:rPr>
              <a:t>  getByLabel('Email address')    over    input[type='email']</a:t>
            </a:r>
          </a:p>
          <a:p>
            <a:pPr algn="l">
              <a:lnSpc>
                <a:spcPts val="1800"/>
              </a:lnSpc>
            </a:pPr>
            <a:r>
              <a:rPr sz="1400" b="0">
                <a:solidFill>
                  <a:srgbClr val="FFFFFF"/>
                </a:solidFill>
              </a:rPr>
              <a:t>  getByRole('button', {name: 'Sign In'})    over    .btn-login</a:t>
            </a:r>
          </a:p>
          <a:p>
            <a:pPr algn="l">
              <a:lnSpc>
                <a:spcPts val="1800"/>
              </a:lnSpc>
            </a:pPr>
            <a:r>
              <a:rPr sz="1400" b="0">
                <a:solidFill>
                  <a:srgbClr val="FFFFFF"/>
                </a:solidFill>
              </a:rPr>
              <a:t/>
            </a:r>
          </a:p>
          <a:p>
            <a:pPr algn="l">
              <a:lnSpc>
                <a:spcPts val="1800"/>
              </a:lnSpc>
            </a:pPr>
            <a:r>
              <a:rPr sz="1400" b="0">
                <a:solidFill>
                  <a:srgbClr val="8B949E"/>
                </a:solidFill>
              </a:rPr>
              <a:t>Hands-on:</a:t>
            </a:r>
          </a:p>
          <a:p>
            <a:pPr algn="l">
              <a:lnSpc>
                <a:spcPts val="1800"/>
              </a:lnSpc>
            </a:pPr>
            <a:r>
              <a:rPr sz="1400" b="0">
                <a:solidFill>
                  <a:srgbClr val="FFFFFF"/>
                </a:solidFill>
              </a:rPr>
              <a:t>1. Run codegen against /login — perform a full login</a:t>
            </a:r>
          </a:p>
          <a:p>
            <a:pPr algn="l">
              <a:lnSpc>
                <a:spcPts val="1800"/>
              </a:lnSpc>
            </a:pPr>
            <a:r>
              <a:rPr sz="1400" b="0">
                <a:solidFill>
                  <a:srgbClr val="FFFFFF"/>
                </a:solidFill>
              </a:rPr>
              <a:t>2. Copy the generated test to a scratch file</a:t>
            </a:r>
          </a:p>
          <a:p>
            <a:pPr algn="l">
              <a:lnSpc>
                <a:spcPts val="1800"/>
              </a:lnSpc>
            </a:pPr>
            <a:r>
              <a:rPr sz="1400" b="0">
                <a:solidFill>
                  <a:srgbClr val="FFFFFF"/>
                </a:solidFill>
              </a:rPr>
              <a:t>3. Count CSS selectors vs ARIA selectors — aim for 0 CSS</a:t>
            </a:r>
          </a:p>
          <a:p>
            <a:pPr algn="l">
              <a:lnSpc>
                <a:spcPts val="1800"/>
              </a:lnSpc>
            </a:pPr>
            <a:r>
              <a:rPr sz="1400" b="0">
                <a:solidFill>
                  <a:srgbClr val="FFFFFF"/>
                </a:solidFill>
              </a:rPr>
              <a:t>4. Run it:  npx playwright test --reporter=list &lt;scratch-file&gt;</a:t>
            </a:r>
          </a:p>
          <a:p>
            <a:pPr algn="l">
              <a:lnSpc>
                <a:spcPts val="1800"/>
              </a:lnSpc>
            </a:pPr>
            <a:r>
              <a:rPr sz="1400" b="0">
                <a:solidFill>
                  <a:srgbClr val="FFFFFF"/>
                </a:solidFill>
              </a:rPr>
              <a:t/>
            </a:r>
          </a:p>
          <a:p>
            <a:pPr algn="l">
              <a:lnSpc>
                <a:spcPts val="1800"/>
              </a:lnSpc>
            </a:pPr>
            <a:r>
              <a:rPr sz="1400" b="0">
                <a:solidFill>
                  <a:srgbClr val="8B949E"/>
                </a:solidFill>
              </a:rPr>
              <a:t>If it uses a CSS selector, ask: what ARIA role does this element have?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2</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Debug Workflow — Traces + Inspector</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When a test fails:</a:t>
            </a:r>
          </a:p>
          <a:p>
            <a:pPr algn="l">
              <a:lnSpc>
                <a:spcPts val="1800"/>
              </a:lnSpc>
            </a:pPr>
            <a:r>
              <a:rPr sz="1400" b="0">
                <a:solidFill>
                  <a:srgbClr val="FFFFFF"/>
                </a:solidFill>
              </a:rPr>
              <a:t/>
            </a:r>
          </a:p>
          <a:p>
            <a:pPr algn="l">
              <a:lnSpc>
                <a:spcPts val="1800"/>
              </a:lnSpc>
            </a:pPr>
            <a:r>
              <a:rPr sz="1400" b="0">
                <a:solidFill>
                  <a:srgbClr val="FFFFFF"/>
                </a:solidFill>
              </a:rPr>
              <a:t>Step 1 — Run with trace:</a:t>
            </a:r>
          </a:p>
          <a:p>
            <a:pPr algn="l">
              <a:lnSpc>
                <a:spcPts val="1800"/>
              </a:lnSpc>
            </a:pPr>
            <a:r>
              <a:rPr sz="1400" b="0">
                <a:solidFill>
                  <a:srgbClr val="39D353"/>
                </a:solidFill>
              </a:rPr>
              <a:t>  npx playwright test --headed --trace=on --reporter=list</a:t>
            </a:r>
          </a:p>
          <a:p>
            <a:pPr algn="l">
              <a:lnSpc>
                <a:spcPts val="1800"/>
              </a:lnSpc>
            </a:pPr>
            <a:r>
              <a:rPr sz="1400" b="0">
                <a:solidFill>
                  <a:srgbClr val="FFFFFF"/>
                </a:solidFill>
              </a:rPr>
              <a:t/>
            </a:r>
          </a:p>
          <a:p>
            <a:pPr algn="l">
              <a:lnSpc>
                <a:spcPts val="1800"/>
              </a:lnSpc>
            </a:pPr>
            <a:r>
              <a:rPr sz="1400" b="0">
                <a:solidFill>
                  <a:srgbClr val="FFFFFF"/>
                </a:solidFill>
              </a:rPr>
              <a:t>Step 2 — Open the trace:</a:t>
            </a:r>
          </a:p>
          <a:p>
            <a:pPr algn="l">
              <a:lnSpc>
                <a:spcPts val="1800"/>
              </a:lnSpc>
            </a:pPr>
            <a:r>
              <a:rPr sz="1400" b="0">
                <a:solidFill>
                  <a:srgbClr val="39D353"/>
                </a:solidFill>
              </a:rPr>
              <a:t>  npx playwright show-trace test-results/.../trace.zip</a:t>
            </a:r>
          </a:p>
          <a:p>
            <a:pPr algn="l">
              <a:lnSpc>
                <a:spcPts val="1800"/>
              </a:lnSpc>
            </a:pPr>
            <a:r>
              <a:rPr sz="1400" b="0">
                <a:solidFill>
                  <a:srgbClr val="8B949E"/>
                </a:solidFill>
              </a:rPr>
              <a:t>  Each action has: DOM snapshot before/after, network, console</a:t>
            </a:r>
          </a:p>
          <a:p>
            <a:pPr algn="l">
              <a:lnSpc>
                <a:spcPts val="1800"/>
              </a:lnSpc>
            </a:pPr>
            <a:r>
              <a:rPr sz="1400" b="0">
                <a:solidFill>
                  <a:srgbClr val="FFFFFF"/>
                </a:solidFill>
              </a:rPr>
              <a:t/>
            </a:r>
          </a:p>
          <a:p>
            <a:pPr algn="l">
              <a:lnSpc>
                <a:spcPts val="1800"/>
              </a:lnSpc>
            </a:pPr>
            <a:r>
              <a:rPr sz="1400" b="0">
                <a:solidFill>
                  <a:srgbClr val="FFFFFF"/>
                </a:solidFill>
              </a:rPr>
              <a:t>Step 3 — Pause at failure with Inspector:</a:t>
            </a:r>
          </a:p>
          <a:p>
            <a:pPr algn="l">
              <a:lnSpc>
                <a:spcPts val="1800"/>
              </a:lnSpc>
            </a:pPr>
            <a:r>
              <a:rPr sz="1400" b="0">
                <a:solidFill>
                  <a:srgbClr val="39D353"/>
                </a:solidFill>
              </a:rPr>
              <a:t>  PWDEBUG=1 npx playwright test</a:t>
            </a:r>
          </a:p>
          <a:p>
            <a:pPr algn="l">
              <a:lnSpc>
                <a:spcPts val="1800"/>
              </a:lnSpc>
            </a:pPr>
            <a:r>
              <a:rPr sz="1400" b="0">
                <a:solidFill>
                  <a:srgbClr val="8B949E"/>
                </a:solidFill>
              </a:rPr>
              <a:t>  Inspector opens at page.pause() — step through DOM live</a:t>
            </a:r>
          </a:p>
          <a:p>
            <a:pPr algn="l">
              <a:lnSpc>
                <a:spcPts val="1800"/>
              </a:lnSpc>
            </a:pPr>
            <a:r>
              <a:rPr sz="1400" b="0">
                <a:solidFill>
                  <a:srgbClr val="FFFFFF"/>
                </a:solidFill>
              </a:rPr>
              <a:t/>
            </a:r>
          </a:p>
          <a:p>
            <a:pPr algn="l">
              <a:lnSpc>
                <a:spcPts val="1800"/>
              </a:lnSpc>
            </a:pPr>
            <a:r>
              <a:rPr sz="1400" b="0">
                <a:solidFill>
                  <a:srgbClr val="FFFFFF"/>
                </a:solidFill>
              </a:rPr>
              <a:t>Step 4 — Use /pw-debug skill:</a:t>
            </a:r>
          </a:p>
          <a:p>
            <a:pPr algn="l">
              <a:lnSpc>
                <a:spcPts val="1800"/>
              </a:lnSpc>
            </a:pPr>
            <a:r>
              <a:rPr sz="1400" b="0">
                <a:solidFill>
                  <a:srgbClr val="D2A8FF"/>
                </a:solidFill>
              </a:rPr>
              <a:t>  /pw-debug tests/auth.spec.ts</a:t>
            </a:r>
          </a:p>
          <a:p>
            <a:pPr algn="l">
              <a:lnSpc>
                <a:spcPts val="1800"/>
              </a:lnSpc>
            </a:pPr>
            <a:r>
              <a:rPr sz="1400" b="0">
                <a:solidFill>
                  <a:srgbClr val="8B949E"/>
                </a:solidFill>
              </a:rPr>
              <a:t>  Claude runs headed + trace, diagnoses root cause, proposes fix</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2</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Discussion Questions</a:t>
            </a:r>
          </a:p>
        </p:txBody>
      </p:sp>
      <p:sp>
        <p:nvSpPr>
          <p:cNvPr id="6" name="Rectangle 5"/>
          <p:cNvSpPr/>
          <p:nvPr/>
        </p:nvSpPr>
        <p:spPr>
          <a:xfrm>
            <a:off x="274320" y="700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60000"/>
            <a:ext cx="700000" cy="1866000"/>
          </a:xfrm>
          <a:prstGeom prst="rect">
            <a:avLst/>
          </a:prstGeom>
          <a:noFill/>
        </p:spPr>
        <p:txBody>
          <a:bodyPr wrap="square">
            <a:spAutoFit/>
          </a:bodyPr>
          <a:lstStyle/>
          <a:p>
            <a:pPr algn="ctr"/>
            <a:r>
              <a:rPr sz="2800" b="1">
                <a:solidFill>
                  <a:srgbClr val="58A6FF"/>
                </a:solidFill>
              </a:rPr>
              <a:t>1</a:t>
            </a:r>
          </a:p>
        </p:txBody>
      </p:sp>
      <p:sp>
        <p:nvSpPr>
          <p:cNvPr id="8" name="TextBox 7"/>
          <p:cNvSpPr txBox="1"/>
          <p:nvPr/>
        </p:nvSpPr>
        <p:spPr>
          <a:xfrm>
            <a:off x="1100000" y="780000"/>
            <a:ext cx="10788952" cy="1826000"/>
          </a:xfrm>
          <a:prstGeom prst="rect">
            <a:avLst/>
          </a:prstGeom>
          <a:noFill/>
        </p:spPr>
        <p:txBody>
          <a:bodyPr wrap="square">
            <a:spAutoFit/>
          </a:bodyPr>
          <a:lstStyle/>
          <a:p>
            <a:pPr algn="l"/>
            <a:r>
              <a:rPr sz="1400" b="0">
                <a:solidFill>
                  <a:srgbClr val="FFFFFF"/>
                </a:solidFill>
              </a:rPr>
              <a:t>ActionWrapper.snapshot() returns both the accessibility tree and a screenshot. When would an LLM need the screenshot, and when is the a11y tree alone sufficient?</a:t>
            </a:r>
          </a:p>
        </p:txBody>
      </p:sp>
      <p:sp>
        <p:nvSpPr>
          <p:cNvPr id="9" name="Rectangle 8"/>
          <p:cNvSpPr/>
          <p:nvPr/>
        </p:nvSpPr>
        <p:spPr>
          <a:xfrm>
            <a:off x="274320" y="2686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2746000"/>
            <a:ext cx="700000" cy="1866000"/>
          </a:xfrm>
          <a:prstGeom prst="rect">
            <a:avLst/>
          </a:prstGeom>
          <a:noFill/>
        </p:spPr>
        <p:txBody>
          <a:bodyPr wrap="square">
            <a:spAutoFit/>
          </a:bodyPr>
          <a:lstStyle/>
          <a:p>
            <a:pPr algn="ctr"/>
            <a:r>
              <a:rPr sz="2800" b="1">
                <a:solidFill>
                  <a:srgbClr val="58A6FF"/>
                </a:solidFill>
              </a:rPr>
              <a:t>2</a:t>
            </a:r>
          </a:p>
        </p:txBody>
      </p:sp>
      <p:sp>
        <p:nvSpPr>
          <p:cNvPr id="11" name="TextBox 10"/>
          <p:cNvSpPr txBox="1"/>
          <p:nvPr/>
        </p:nvSpPr>
        <p:spPr>
          <a:xfrm>
            <a:off x="1100000" y="2766000"/>
            <a:ext cx="10788952" cy="1826000"/>
          </a:xfrm>
          <a:prstGeom prst="rect">
            <a:avLst/>
          </a:prstGeom>
          <a:noFill/>
        </p:spPr>
        <p:txBody>
          <a:bodyPr wrap="square">
            <a:spAutoFit/>
          </a:bodyPr>
          <a:lstStyle/>
          <a:p>
            <a:pPr algn="l"/>
            <a:r>
              <a:rPr sz="1400" b="0">
                <a:solidFill>
                  <a:srgbClr val="FFFFFF"/>
                </a:solidFill>
              </a:rPr>
              <a:t>navigateWithRetry multiplies delay by attempt number (retryDelayMs * attempt). Is this true exponential back-off? What would genuine exponential look like, and when would you prefer it?</a:t>
            </a:r>
          </a:p>
        </p:txBody>
      </p:sp>
      <p:sp>
        <p:nvSpPr>
          <p:cNvPr id="12" name="Rectangle 11"/>
          <p:cNvSpPr/>
          <p:nvPr/>
        </p:nvSpPr>
        <p:spPr>
          <a:xfrm>
            <a:off x="274320" y="4672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4732000"/>
            <a:ext cx="700000" cy="1866000"/>
          </a:xfrm>
          <a:prstGeom prst="rect">
            <a:avLst/>
          </a:prstGeom>
          <a:noFill/>
        </p:spPr>
        <p:txBody>
          <a:bodyPr wrap="square">
            <a:spAutoFit/>
          </a:bodyPr>
          <a:lstStyle/>
          <a:p>
            <a:pPr algn="ctr"/>
            <a:r>
              <a:rPr sz="2800" b="1">
                <a:solidFill>
                  <a:srgbClr val="58A6FF"/>
                </a:solidFill>
              </a:rPr>
              <a:t>3</a:t>
            </a:r>
          </a:p>
        </p:txBody>
      </p:sp>
      <p:sp>
        <p:nvSpPr>
          <p:cNvPr id="14" name="TextBox 13"/>
          <p:cNvSpPr txBox="1"/>
          <p:nvPr/>
        </p:nvSpPr>
        <p:spPr>
          <a:xfrm>
            <a:off x="1100000" y="4752000"/>
            <a:ext cx="10788952" cy="1826000"/>
          </a:xfrm>
          <a:prstGeom prst="rect">
            <a:avLst/>
          </a:prstGeom>
          <a:noFill/>
        </p:spPr>
        <p:txBody>
          <a:bodyPr wrap="square">
            <a:spAutoFit/>
          </a:bodyPr>
          <a:lstStyle/>
          <a:p>
            <a:pPr algn="l"/>
            <a:r>
              <a:rPr sz="1400" b="0">
                <a:solidFill>
                  <a:srgbClr val="FFFFFF"/>
                </a:solidFill>
              </a:rPr>
              <a:t>ActionResult captures durationMs for every action. Name two concrete ways an agent could use this timing data to improve future runs.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2</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Workshop Tasks</a:t>
            </a:r>
          </a:p>
        </p:txBody>
      </p:sp>
      <p:sp>
        <p:nvSpPr>
          <p:cNvPr id="6" name="Rectangle 5"/>
          <p:cNvSpPr/>
          <p:nvPr/>
        </p:nvSpPr>
        <p:spPr>
          <a:xfrm>
            <a:off x="274320" y="680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40000"/>
            <a:ext cx="800000" cy="1379500"/>
          </a:xfrm>
          <a:prstGeom prst="rect">
            <a:avLst/>
          </a:prstGeom>
          <a:noFill/>
        </p:spPr>
        <p:txBody>
          <a:bodyPr wrap="square">
            <a:spAutoFit/>
          </a:bodyPr>
          <a:lstStyle/>
          <a:p>
            <a:pPr algn="l"/>
            <a:r>
              <a:rPr sz="1300" b="1">
                <a:solidFill>
                  <a:srgbClr val="58A6FF"/>
                </a:solidFill>
              </a:rPr>
              <a:t>Task A</a:t>
            </a:r>
          </a:p>
        </p:txBody>
      </p:sp>
      <p:sp>
        <p:nvSpPr>
          <p:cNvPr id="8" name="TextBox 7"/>
          <p:cNvSpPr txBox="1"/>
          <p:nvPr/>
        </p:nvSpPr>
        <p:spPr>
          <a:xfrm>
            <a:off x="1200000" y="740000"/>
            <a:ext cx="3600000" cy="1379500"/>
          </a:xfrm>
          <a:prstGeom prst="rect">
            <a:avLst/>
          </a:prstGeom>
          <a:noFill/>
        </p:spPr>
        <p:txBody>
          <a:bodyPr wrap="square">
            <a:spAutoFit/>
          </a:bodyPr>
          <a:lstStyle/>
          <a:p>
            <a:pPr algn="l"/>
            <a:r>
              <a:rPr sz="1400" b="1">
                <a:solidFill>
                  <a:srgbClr val="FFFFFF"/>
                </a:solidFill>
              </a:rPr>
              <a:t>Instrument action logs</a:t>
            </a:r>
          </a:p>
        </p:txBody>
      </p:sp>
      <p:sp>
        <p:nvSpPr>
          <p:cNvPr id="9" name="TextBox 8"/>
          <p:cNvSpPr txBox="1"/>
          <p:nvPr/>
        </p:nvSpPr>
        <p:spPr>
          <a:xfrm>
            <a:off x="4900000" y="740000"/>
            <a:ext cx="6988952" cy="1379500"/>
          </a:xfrm>
          <a:prstGeom prst="rect">
            <a:avLst/>
          </a:prstGeom>
          <a:noFill/>
        </p:spPr>
        <p:txBody>
          <a:bodyPr wrap="square">
            <a:spAutoFit/>
          </a:bodyPr>
          <a:lstStyle/>
          <a:p>
            <a:pPr algn="l"/>
            <a:r>
              <a:rPr sz="1200" b="0">
                <a:solidFill>
                  <a:srgbClr val="8B949E"/>
                </a:solidFill>
              </a:rPr>
              <a:t>Add a console.log inside ActionWrapper.click() that prints: [click] selector durationMs ok:bool.
Run a login flow. How many ms does each action take?</a:t>
            </a:r>
          </a:p>
        </p:txBody>
      </p:sp>
      <p:sp>
        <p:nvSpPr>
          <p:cNvPr id="10" name="Rectangle 9"/>
          <p:cNvSpPr/>
          <p:nvPr/>
        </p:nvSpPr>
        <p:spPr>
          <a:xfrm>
            <a:off x="274320" y="2179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39500"/>
            <a:ext cx="800000" cy="1379500"/>
          </a:xfrm>
          <a:prstGeom prst="rect">
            <a:avLst/>
          </a:prstGeom>
          <a:noFill/>
        </p:spPr>
        <p:txBody>
          <a:bodyPr wrap="square">
            <a:spAutoFit/>
          </a:bodyPr>
          <a:lstStyle/>
          <a:p>
            <a:pPr algn="l"/>
            <a:r>
              <a:rPr sz="1300" b="1">
                <a:solidFill>
                  <a:srgbClr val="58A6FF"/>
                </a:solidFill>
              </a:rPr>
              <a:t>Task B</a:t>
            </a:r>
          </a:p>
        </p:txBody>
      </p:sp>
      <p:sp>
        <p:nvSpPr>
          <p:cNvPr id="12" name="TextBox 11"/>
          <p:cNvSpPr txBox="1"/>
          <p:nvPr/>
        </p:nvSpPr>
        <p:spPr>
          <a:xfrm>
            <a:off x="1200000" y="2239500"/>
            <a:ext cx="3600000" cy="1379500"/>
          </a:xfrm>
          <a:prstGeom prst="rect">
            <a:avLst/>
          </a:prstGeom>
          <a:noFill/>
        </p:spPr>
        <p:txBody>
          <a:bodyPr wrap="square">
            <a:spAutoFit/>
          </a:bodyPr>
          <a:lstStyle/>
          <a:p>
            <a:pPr algn="l"/>
            <a:r>
              <a:rPr sz="1400" b="1">
                <a:solidFill>
                  <a:srgbClr val="FFFFFF"/>
                </a:solidFill>
              </a:rPr>
              <a:t>Fix the back-off</a:t>
            </a:r>
          </a:p>
        </p:txBody>
      </p:sp>
      <p:sp>
        <p:nvSpPr>
          <p:cNvPr id="13" name="TextBox 12"/>
          <p:cNvSpPr txBox="1"/>
          <p:nvPr/>
        </p:nvSpPr>
        <p:spPr>
          <a:xfrm>
            <a:off x="4900000" y="2239500"/>
            <a:ext cx="6988952" cy="1379500"/>
          </a:xfrm>
          <a:prstGeom prst="rect">
            <a:avLst/>
          </a:prstGeom>
          <a:noFill/>
        </p:spPr>
        <p:txBody>
          <a:bodyPr wrap="square">
            <a:spAutoFit/>
          </a:bodyPr>
          <a:lstStyle/>
          <a:p>
            <a:pPr algn="l"/>
            <a:r>
              <a:rPr sz="1200" b="0">
                <a:solidFill>
                  <a:srgbClr val="8B949E"/>
                </a:solidFill>
              </a:rPr>
              <a:t>Change navigateWithRetry to use exponential back-off: retryDelayMs * 2^(attempt-1).
Add a maxDelayMs cap of 10000ms.</a:t>
            </a:r>
          </a:p>
        </p:txBody>
      </p:sp>
      <p:sp>
        <p:nvSpPr>
          <p:cNvPr id="14" name="Rectangle 13"/>
          <p:cNvSpPr/>
          <p:nvPr/>
        </p:nvSpPr>
        <p:spPr>
          <a:xfrm>
            <a:off x="274320" y="3679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739000"/>
            <a:ext cx="800000" cy="1379500"/>
          </a:xfrm>
          <a:prstGeom prst="rect">
            <a:avLst/>
          </a:prstGeom>
          <a:noFill/>
        </p:spPr>
        <p:txBody>
          <a:bodyPr wrap="square">
            <a:spAutoFit/>
          </a:bodyPr>
          <a:lstStyle/>
          <a:p>
            <a:pPr algn="l"/>
            <a:r>
              <a:rPr sz="1300" b="1">
                <a:solidFill>
                  <a:srgbClr val="58A6FF"/>
                </a:solidFill>
              </a:rPr>
              <a:t>Task C</a:t>
            </a:r>
          </a:p>
        </p:txBody>
      </p:sp>
      <p:sp>
        <p:nvSpPr>
          <p:cNvPr id="16" name="TextBox 15"/>
          <p:cNvSpPr txBox="1"/>
          <p:nvPr/>
        </p:nvSpPr>
        <p:spPr>
          <a:xfrm>
            <a:off x="1200000" y="3739000"/>
            <a:ext cx="3600000" cy="1379500"/>
          </a:xfrm>
          <a:prstGeom prst="rect">
            <a:avLst/>
          </a:prstGeom>
          <a:noFill/>
        </p:spPr>
        <p:txBody>
          <a:bodyPr wrap="square">
            <a:spAutoFit/>
          </a:bodyPr>
          <a:lstStyle/>
          <a:p>
            <a:pPr algn="l"/>
            <a:r>
              <a:rPr sz="1400" b="1">
                <a:solidFill>
                  <a:srgbClr val="FFFFFF"/>
                </a:solidFill>
              </a:rPr>
              <a:t>codegen a login flow</a:t>
            </a:r>
          </a:p>
        </p:txBody>
      </p:sp>
      <p:sp>
        <p:nvSpPr>
          <p:cNvPr id="17" name="TextBox 16"/>
          <p:cNvSpPr txBox="1"/>
          <p:nvPr/>
        </p:nvSpPr>
        <p:spPr>
          <a:xfrm>
            <a:off x="4900000" y="3739000"/>
            <a:ext cx="6988952" cy="1379500"/>
          </a:xfrm>
          <a:prstGeom prst="rect">
            <a:avLst/>
          </a:prstGeom>
          <a:noFill/>
        </p:spPr>
        <p:txBody>
          <a:bodyPr wrap="square">
            <a:spAutoFit/>
          </a:bodyPr>
          <a:lstStyle/>
          <a:p>
            <a:pPr algn="l"/>
            <a:r>
              <a:rPr sz="1200" b="0">
                <a:solidFill>
                  <a:srgbClr val="8B949E"/>
                </a:solidFill>
              </a:rPr>
              <a:t>npx playwright codegen http://localhost:5173
Perform login → check dashboard → products. Save. Run it. Zero CSS selectors?</a:t>
            </a:r>
          </a:p>
        </p:txBody>
      </p:sp>
      <p:sp>
        <p:nvSpPr>
          <p:cNvPr id="18" name="Rectangle 17"/>
          <p:cNvSpPr/>
          <p:nvPr/>
        </p:nvSpPr>
        <p:spPr>
          <a:xfrm>
            <a:off x="274320" y="5178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5238500"/>
            <a:ext cx="800000" cy="1379500"/>
          </a:xfrm>
          <a:prstGeom prst="rect">
            <a:avLst/>
          </a:prstGeom>
          <a:noFill/>
        </p:spPr>
        <p:txBody>
          <a:bodyPr wrap="square">
            <a:spAutoFit/>
          </a:bodyPr>
          <a:lstStyle/>
          <a:p>
            <a:pPr algn="l"/>
            <a:r>
              <a:rPr sz="1300" b="1">
                <a:solidFill>
                  <a:srgbClr val="58A6FF"/>
                </a:solidFill>
              </a:rPr>
              <a:t>Task D</a:t>
            </a:r>
          </a:p>
        </p:txBody>
      </p:sp>
      <p:sp>
        <p:nvSpPr>
          <p:cNvPr id="20" name="TextBox 19"/>
          <p:cNvSpPr txBox="1"/>
          <p:nvPr/>
        </p:nvSpPr>
        <p:spPr>
          <a:xfrm>
            <a:off x="1200000" y="5238500"/>
            <a:ext cx="3600000" cy="1379500"/>
          </a:xfrm>
          <a:prstGeom prst="rect">
            <a:avLst/>
          </a:prstGeom>
          <a:noFill/>
        </p:spPr>
        <p:txBody>
          <a:bodyPr wrap="square">
            <a:spAutoFit/>
          </a:bodyPr>
          <a:lstStyle/>
          <a:p>
            <a:pPr algn="l"/>
            <a:r>
              <a:rPr sz="1400" b="1">
                <a:solidFill>
                  <a:srgbClr val="FFFFFF"/>
                </a:solidFill>
              </a:rPr>
              <a:t>Debug a deliberate failure</a:t>
            </a:r>
          </a:p>
        </p:txBody>
      </p:sp>
      <p:sp>
        <p:nvSpPr>
          <p:cNvPr id="21" name="TextBox 20"/>
          <p:cNvSpPr txBox="1"/>
          <p:nvPr/>
        </p:nvSpPr>
        <p:spPr>
          <a:xfrm>
            <a:off x="4900000" y="5238500"/>
            <a:ext cx="6988952" cy="1379500"/>
          </a:xfrm>
          <a:prstGeom prst="rect">
            <a:avLst/>
          </a:prstGeom>
          <a:noFill/>
        </p:spPr>
        <p:txBody>
          <a:bodyPr wrap="square">
            <a:spAutoFit/>
          </a:bodyPr>
          <a:lstStyle/>
          <a:p>
            <a:pPr algn="l"/>
            <a:r>
              <a:rPr sz="1200" b="0">
                <a:solidFill>
                  <a:srgbClr val="8B949E"/>
                </a:solidFill>
              </a:rPr>
              <a:t>Change getByRole('button', {name:'Sign In'}) → locator('.nonexistent').
Run with --trace=on. Open trace. Find the failure frame. Fix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286000"/>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286000"/>
            <a:ext cx="12188952" cy="4572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086000"/>
            <a:ext cx="12188952" cy="400000"/>
          </a:xfrm>
          <a:prstGeom prst="rect">
            <a:avLst/>
          </a:prstGeom>
          <a:noFill/>
        </p:spPr>
        <p:txBody>
          <a:bodyPr wrap="square">
            <a:spAutoFit/>
          </a:bodyPr>
          <a:lstStyle/>
          <a:p>
            <a:pPr algn="ctr"/>
            <a:r>
              <a:rPr sz="3600" b="1">
                <a:solidFill>
                  <a:srgbClr val="0D1117"/>
                </a:solidFill>
              </a:rPr>
              <a:t>🍽️  Lunch</a:t>
            </a:r>
          </a:p>
        </p:txBody>
      </p:sp>
      <p:sp>
        <p:nvSpPr>
          <p:cNvPr id="6" name="TextBox 5"/>
          <p:cNvSpPr txBox="1"/>
          <p:nvPr/>
        </p:nvSpPr>
        <p:spPr>
          <a:xfrm>
            <a:off x="0" y="2566000"/>
            <a:ext cx="12188952" cy="400000"/>
          </a:xfrm>
          <a:prstGeom prst="rect">
            <a:avLst/>
          </a:prstGeom>
          <a:noFill/>
        </p:spPr>
        <p:txBody>
          <a:bodyPr wrap="square">
            <a:spAutoFit/>
          </a:bodyPr>
          <a:lstStyle/>
          <a:p>
            <a:pPr algn="ctr"/>
            <a:r>
              <a:rPr sz="2000" b="0">
                <a:solidFill>
                  <a:srgbClr val="8B949E"/>
                </a:solidFill>
              </a:rPr>
              <a:t>12:30 – 13:15  ·  45 minutes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50292"/>
            <a:ext cx="11640312" cy="6807708"/>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800000"/>
            <a:ext cx="11091672" cy="1200000"/>
          </a:xfrm>
          <a:prstGeom prst="rect">
            <a:avLst/>
          </a:prstGeom>
          <a:noFill/>
        </p:spPr>
        <p:txBody>
          <a:bodyPr wrap="square">
            <a:spAutoFit/>
          </a:bodyPr>
          <a:lstStyle/>
          <a:p>
            <a:pPr algn="ctr"/>
            <a:r>
              <a:rPr sz="3200" b="1">
                <a:solidFill>
                  <a:srgbClr val="FFFFFF"/>
                </a:solidFill>
              </a:rPr>
              <a:t>So far: you have the foundation.</a:t>
            </a:r>
          </a:p>
        </p:txBody>
      </p:sp>
      <p:sp>
        <p:nvSpPr>
          <p:cNvPr id="6" name="TextBox 5"/>
          <p:cNvSpPr txBox="1"/>
          <p:nvPr/>
        </p:nvSpPr>
        <p:spPr>
          <a:xfrm>
            <a:off x="548640" y="3200000"/>
            <a:ext cx="11091672" cy="600000"/>
          </a:xfrm>
          <a:prstGeom prst="rect">
            <a:avLst/>
          </a:prstGeom>
          <a:noFill/>
        </p:spPr>
        <p:txBody>
          <a:bodyPr wrap="square">
            <a:spAutoFit/>
          </a:bodyPr>
          <a:lstStyle/>
          <a:p>
            <a:pPr algn="ctr"/>
            <a:r>
              <a:rPr sz="1600" b="0">
                <a:solidFill>
                  <a:srgbClr val="8B949E"/>
                </a:solidFill>
              </a:rPr>
              <a:t>Agentic loop · ARIA selectors · Fault-tolerant sessions · CLI tooling
Afternoon: MCP · Self-healing · Agents · Skills · CI/CD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37160"/>
            <a:ext cx="1371600" cy="34747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9184" y="164592"/>
            <a:ext cx="1280160" cy="320040"/>
          </a:xfrm>
          <a:prstGeom prst="rect">
            <a:avLst/>
          </a:prstGeom>
          <a:noFill/>
        </p:spPr>
        <p:txBody>
          <a:bodyPr wrap="square">
            <a:spAutoFit/>
          </a:bodyPr>
          <a:lstStyle/>
          <a:p>
            <a:pPr algn="ctr"/>
            <a:r>
              <a:rPr sz="1300" b="1">
                <a:solidFill>
                  <a:srgbClr val="0D1117"/>
                </a:solidFill>
              </a:rPr>
              <a:t>CH 3  ·  13:15</a:t>
            </a:r>
          </a:p>
        </p:txBody>
      </p:sp>
      <p:sp>
        <p:nvSpPr>
          <p:cNvPr id="6" name="TextBox 5"/>
          <p:cNvSpPr txBox="1"/>
          <p:nvPr/>
        </p:nvSpPr>
        <p:spPr>
          <a:xfrm>
            <a:off x="1874519" y="109728"/>
            <a:ext cx="9900000" cy="600000"/>
          </a:xfrm>
          <a:prstGeom prst="rect">
            <a:avLst/>
          </a:prstGeom>
          <a:noFill/>
        </p:spPr>
        <p:txBody>
          <a:bodyPr wrap="square">
            <a:spAutoFit/>
          </a:bodyPr>
          <a:lstStyle/>
          <a:p>
            <a:pPr algn="l"/>
            <a:r>
              <a:rPr sz="3000" b="1">
                <a:solidFill>
                  <a:srgbClr val="FFFFFF"/>
                </a:solidFill>
              </a:rPr>
              <a:t>Build Your Own MCP Server</a:t>
            </a:r>
          </a:p>
        </p:txBody>
      </p:sp>
      <p:sp>
        <p:nvSpPr>
          <p:cNvPr id="7" name="TextBox 6"/>
          <p:cNvSpPr txBox="1"/>
          <p:nvPr/>
        </p:nvSpPr>
        <p:spPr>
          <a:xfrm>
            <a:off x="1874519" y="660000"/>
            <a:ext cx="9900000" cy="347472"/>
          </a:xfrm>
          <a:prstGeom prst="rect">
            <a:avLst/>
          </a:prstGeom>
          <a:noFill/>
        </p:spPr>
        <p:txBody>
          <a:bodyPr wrap="square">
            <a:spAutoFit/>
          </a:bodyPr>
          <a:lstStyle/>
          <a:p>
            <a:pPr algn="l"/>
            <a:r>
              <a:rPr sz="1500" b="0">
                <a:solidFill>
                  <a:srgbClr val="8B949E"/>
                </a:solidFill>
              </a:rPr>
              <a:t>60 min  ·  Wire a browser as structured tools any LLM client can call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FB950"/>
                </a:solidFill>
              </a:rPr>
              <a:t>CH 3</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MCP Architecture</a:t>
            </a:r>
          </a:p>
        </p:txBody>
      </p:sp>
      <p:sp>
        <p:nvSpPr>
          <p:cNvPr id="6" name="Rectangle 5"/>
          <p:cNvSpPr/>
          <p:nvPr/>
        </p:nvSpPr>
        <p:spPr>
          <a:xfrm>
            <a:off x="274320" y="680000"/>
            <a:ext cx="2820078" cy="28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80000"/>
            <a:ext cx="2820078" cy="6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4320" y="800000"/>
            <a:ext cx="2660078" cy="300000"/>
          </a:xfrm>
          <a:prstGeom prst="rect">
            <a:avLst/>
          </a:prstGeom>
          <a:noFill/>
        </p:spPr>
        <p:txBody>
          <a:bodyPr wrap="square">
            <a:spAutoFit/>
          </a:bodyPr>
          <a:lstStyle/>
          <a:p>
            <a:pPr algn="ctr"/>
            <a:r>
              <a:rPr sz="1600" b="1">
                <a:solidFill>
                  <a:srgbClr val="58A6FF"/>
                </a:solidFill>
              </a:rPr>
              <a:t>Host</a:t>
            </a:r>
          </a:p>
        </p:txBody>
      </p:sp>
      <p:sp>
        <p:nvSpPr>
          <p:cNvPr id="9" name="TextBox 8"/>
          <p:cNvSpPr txBox="1"/>
          <p:nvPr/>
        </p:nvSpPr>
        <p:spPr>
          <a:xfrm>
            <a:off x="354320" y="1160000"/>
            <a:ext cx="2660078" cy="2200000"/>
          </a:xfrm>
          <a:prstGeom prst="rect">
            <a:avLst/>
          </a:prstGeom>
          <a:noFill/>
        </p:spPr>
        <p:txBody>
          <a:bodyPr wrap="square">
            <a:spAutoFit/>
          </a:bodyPr>
          <a:lstStyle/>
          <a:p>
            <a:pPr algn="ctr"/>
            <a:r>
              <a:rPr sz="1300" b="0">
                <a:solidFill>
                  <a:srgbClr val="8B949E"/>
                </a:solidFill>
              </a:rPr>
              <a:t>Claude Code
or VS Code
Copilot</a:t>
            </a:r>
          </a:p>
        </p:txBody>
      </p:sp>
      <p:sp>
        <p:nvSpPr>
          <p:cNvPr id="10" name="TextBox 9"/>
          <p:cNvSpPr txBox="1"/>
          <p:nvPr/>
        </p:nvSpPr>
        <p:spPr>
          <a:xfrm>
            <a:off x="3114398" y="1980000"/>
            <a:ext cx="80000" cy="200000"/>
          </a:xfrm>
          <a:prstGeom prst="rect">
            <a:avLst/>
          </a:prstGeom>
          <a:noFill/>
        </p:spPr>
        <p:txBody>
          <a:bodyPr wrap="square">
            <a:spAutoFit/>
          </a:bodyPr>
          <a:lstStyle/>
          <a:p>
            <a:pPr algn="l"/>
            <a:r>
              <a:rPr sz="2000" b="1">
                <a:solidFill>
                  <a:srgbClr val="58A6FF"/>
                </a:solidFill>
              </a:rPr>
              <a:t>→</a:t>
            </a:r>
          </a:p>
        </p:txBody>
      </p:sp>
      <p:sp>
        <p:nvSpPr>
          <p:cNvPr id="11" name="Rectangle 10"/>
          <p:cNvSpPr/>
          <p:nvPr/>
        </p:nvSpPr>
        <p:spPr>
          <a:xfrm>
            <a:off x="3214398" y="680000"/>
            <a:ext cx="2820078" cy="28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14398" y="680000"/>
            <a:ext cx="2820078" cy="60000"/>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94398" y="800000"/>
            <a:ext cx="2660078" cy="300000"/>
          </a:xfrm>
          <a:prstGeom prst="rect">
            <a:avLst/>
          </a:prstGeom>
          <a:noFill/>
        </p:spPr>
        <p:txBody>
          <a:bodyPr wrap="square">
            <a:spAutoFit/>
          </a:bodyPr>
          <a:lstStyle/>
          <a:p>
            <a:pPr algn="ctr"/>
            <a:r>
              <a:rPr sz="1600" b="1">
                <a:solidFill>
                  <a:srgbClr val="3FB950"/>
                </a:solidFill>
              </a:rPr>
              <a:t>Client</a:t>
            </a:r>
          </a:p>
        </p:txBody>
      </p:sp>
      <p:sp>
        <p:nvSpPr>
          <p:cNvPr id="14" name="TextBox 13"/>
          <p:cNvSpPr txBox="1"/>
          <p:nvPr/>
        </p:nvSpPr>
        <p:spPr>
          <a:xfrm>
            <a:off x="3294398" y="1160000"/>
            <a:ext cx="2660078" cy="2200000"/>
          </a:xfrm>
          <a:prstGeom prst="rect">
            <a:avLst/>
          </a:prstGeom>
          <a:noFill/>
        </p:spPr>
        <p:txBody>
          <a:bodyPr wrap="square">
            <a:spAutoFit/>
          </a:bodyPr>
          <a:lstStyle/>
          <a:p>
            <a:pPr algn="ctr"/>
            <a:r>
              <a:rPr sz="1300" b="0">
                <a:solidFill>
                  <a:srgbClr val="8B949E"/>
                </a:solidFill>
              </a:rPr>
              <a:t>MCP Client
(built-in to
the host)</a:t>
            </a:r>
          </a:p>
        </p:txBody>
      </p:sp>
      <p:sp>
        <p:nvSpPr>
          <p:cNvPr id="15" name="TextBox 14"/>
          <p:cNvSpPr txBox="1"/>
          <p:nvPr/>
        </p:nvSpPr>
        <p:spPr>
          <a:xfrm>
            <a:off x="6054476" y="1980000"/>
            <a:ext cx="80000" cy="200000"/>
          </a:xfrm>
          <a:prstGeom prst="rect">
            <a:avLst/>
          </a:prstGeom>
          <a:noFill/>
        </p:spPr>
        <p:txBody>
          <a:bodyPr wrap="square">
            <a:spAutoFit/>
          </a:bodyPr>
          <a:lstStyle/>
          <a:p>
            <a:pPr algn="l"/>
            <a:r>
              <a:rPr sz="2000" b="1">
                <a:solidFill>
                  <a:srgbClr val="3FB950"/>
                </a:solidFill>
              </a:rPr>
              <a:t>→</a:t>
            </a:r>
          </a:p>
        </p:txBody>
      </p:sp>
      <p:sp>
        <p:nvSpPr>
          <p:cNvPr id="16" name="Rectangle 15"/>
          <p:cNvSpPr/>
          <p:nvPr/>
        </p:nvSpPr>
        <p:spPr>
          <a:xfrm>
            <a:off x="6154476" y="680000"/>
            <a:ext cx="2820078" cy="28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54476" y="680000"/>
            <a:ext cx="2820078" cy="60000"/>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4476" y="800000"/>
            <a:ext cx="2660078" cy="300000"/>
          </a:xfrm>
          <a:prstGeom prst="rect">
            <a:avLst/>
          </a:prstGeom>
          <a:noFill/>
        </p:spPr>
        <p:txBody>
          <a:bodyPr wrap="square">
            <a:spAutoFit/>
          </a:bodyPr>
          <a:lstStyle/>
          <a:p>
            <a:pPr algn="ctr"/>
            <a:r>
              <a:rPr sz="1600" b="1">
                <a:solidFill>
                  <a:srgbClr val="F78466"/>
                </a:solidFill>
              </a:rPr>
              <a:t>Server</a:t>
            </a:r>
          </a:p>
        </p:txBody>
      </p:sp>
      <p:sp>
        <p:nvSpPr>
          <p:cNvPr id="19" name="TextBox 18"/>
          <p:cNvSpPr txBox="1"/>
          <p:nvPr/>
        </p:nvSpPr>
        <p:spPr>
          <a:xfrm>
            <a:off x="6234476" y="1160000"/>
            <a:ext cx="2660078" cy="2200000"/>
          </a:xfrm>
          <a:prstGeom prst="rect">
            <a:avLst/>
          </a:prstGeom>
          <a:noFill/>
        </p:spPr>
        <p:txBody>
          <a:bodyPr wrap="square">
            <a:spAutoFit/>
          </a:bodyPr>
          <a:lstStyle/>
          <a:p>
            <a:pPr algn="ctr"/>
            <a:r>
              <a:rPr sz="1300" b="0">
                <a:solidFill>
                  <a:srgbClr val="8B949E"/>
                </a:solidFill>
              </a:rPr>
              <a:t>Your
server.ts
(stdio)</a:t>
            </a:r>
          </a:p>
        </p:txBody>
      </p:sp>
      <p:sp>
        <p:nvSpPr>
          <p:cNvPr id="20" name="TextBox 19"/>
          <p:cNvSpPr txBox="1"/>
          <p:nvPr/>
        </p:nvSpPr>
        <p:spPr>
          <a:xfrm>
            <a:off x="8994554" y="1980000"/>
            <a:ext cx="80000" cy="200000"/>
          </a:xfrm>
          <a:prstGeom prst="rect">
            <a:avLst/>
          </a:prstGeom>
          <a:noFill/>
        </p:spPr>
        <p:txBody>
          <a:bodyPr wrap="square">
            <a:spAutoFit/>
          </a:bodyPr>
          <a:lstStyle/>
          <a:p>
            <a:pPr algn="l"/>
            <a:r>
              <a:rPr sz="2000" b="1">
                <a:solidFill>
                  <a:srgbClr val="F78466"/>
                </a:solidFill>
              </a:rPr>
              <a:t>→</a:t>
            </a:r>
          </a:p>
        </p:txBody>
      </p:sp>
      <p:sp>
        <p:nvSpPr>
          <p:cNvPr id="21" name="Rectangle 20"/>
          <p:cNvSpPr/>
          <p:nvPr/>
        </p:nvSpPr>
        <p:spPr>
          <a:xfrm>
            <a:off x="9094554" y="680000"/>
            <a:ext cx="2820078" cy="28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94554" y="680000"/>
            <a:ext cx="2820078" cy="6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74554" y="800000"/>
            <a:ext cx="2660078" cy="300000"/>
          </a:xfrm>
          <a:prstGeom prst="rect">
            <a:avLst/>
          </a:prstGeom>
          <a:noFill/>
        </p:spPr>
        <p:txBody>
          <a:bodyPr wrap="square">
            <a:spAutoFit/>
          </a:bodyPr>
          <a:lstStyle/>
          <a:p>
            <a:pPr algn="ctr"/>
            <a:r>
              <a:rPr sz="1600" b="1">
                <a:solidFill>
                  <a:srgbClr val="D2A8FF"/>
                </a:solidFill>
              </a:rPr>
              <a:t>Browser</a:t>
            </a:r>
          </a:p>
        </p:txBody>
      </p:sp>
      <p:sp>
        <p:nvSpPr>
          <p:cNvPr id="24" name="TextBox 23"/>
          <p:cNvSpPr txBox="1"/>
          <p:nvPr/>
        </p:nvSpPr>
        <p:spPr>
          <a:xfrm>
            <a:off x="9174554" y="1160000"/>
            <a:ext cx="2660078" cy="2200000"/>
          </a:xfrm>
          <a:prstGeom prst="rect">
            <a:avLst/>
          </a:prstGeom>
          <a:noFill/>
        </p:spPr>
        <p:txBody>
          <a:bodyPr wrap="square">
            <a:spAutoFit/>
          </a:bodyPr>
          <a:lstStyle/>
          <a:p>
            <a:pPr algn="ctr"/>
            <a:r>
              <a:rPr sz="1300" b="0">
                <a:solidFill>
                  <a:srgbClr val="8B949E"/>
                </a:solidFill>
              </a:rPr>
              <a:t>Playwright
Chromium</a:t>
            </a:r>
          </a:p>
        </p:txBody>
      </p:sp>
      <p:sp>
        <p:nvSpPr>
          <p:cNvPr id="25" name="TextBox 24"/>
          <p:cNvSpPr txBox="1"/>
          <p:nvPr/>
        </p:nvSpPr>
        <p:spPr>
          <a:xfrm>
            <a:off x="274320" y="3630000"/>
            <a:ext cx="11640312" cy="1600000"/>
          </a:xfrm>
          <a:prstGeom prst="rect">
            <a:avLst/>
          </a:prstGeom>
          <a:noFill/>
        </p:spPr>
        <p:txBody>
          <a:bodyPr wrap="square">
            <a:spAutoFit/>
          </a:bodyPr>
          <a:lstStyle/>
          <a:p>
            <a:pPr algn="l"/>
            <a:r>
              <a:rPr sz="1300" b="0">
                <a:solidFill>
                  <a:srgbClr val="FFFFFF"/>
                </a:solidFill>
              </a:rPr>
              <a:t>Tool call flow:  Host prompts LLM  →  LLM emits tool_use JSON  →  Client routes to Server  →</a:t>
            </a:r>
          </a:p>
          <a:p>
            <a:pPr algn="l"/>
            <a:r>
              <a:rPr sz="1300" b="0">
                <a:solidFill>
                  <a:srgbClr val="FFFFFF"/>
                </a:solidFill>
              </a:rPr>
              <a:t>Server calls Playwright  →  result flows back  →  LLM sees result and plans next action.</a:t>
            </a:r>
          </a:p>
          <a:p>
            <a:pPr algn="l"/>
            <a:r>
              <a:rPr sz="1300" b="0">
                <a:solidFill>
                  <a:srgbClr val="FFFFFF"/>
                </a:solidFill>
              </a:rPr>
              <a:t/>
            </a:r>
          </a:p>
          <a:p>
            <a:pPr algn="l"/>
            <a:r>
              <a:rPr sz="1300" b="0">
                <a:solidFill>
                  <a:srgbClr val="8B949E"/>
                </a:solidFill>
              </a:rPr>
              <a:t>Config in .claude/settings.json:</a:t>
            </a:r>
          </a:p>
          <a:p>
            <a:pPr algn="l"/>
            <a:r>
              <a:rPr sz="1300" b="0">
                <a:solidFill>
                  <a:srgbClr val="39D353"/>
                </a:solidFill>
              </a:rPr>
              <a:t>{ "mcpServers": { "web-detective": { "command": "npx", "args": ["ts-node", "examples/ch3-mcp/server.ts"] } }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FB950"/>
                </a:solidFill>
              </a:rPr>
              <a:t>CH 3</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Tool Schema Design — What the LLM Sees</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ch3-mcp/server.ts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server.tool('browser_click', {</a:t>
            </a:r>
          </a:p>
          <a:p>
            <a:pPr algn="l">
              <a:lnSpc>
                <a:spcPts val="1500"/>
              </a:lnSpc>
            </a:pPr>
            <a:r>
              <a:rPr sz="1200" b="0">
                <a:solidFill>
                  <a:srgbClr val="8B949E"/>
                </a:solidFill>
                <a:latin typeface="Courier New"/>
              </a:rPr>
              <a:t>  description: 'Click an element. Prefer ARIA selectors.',</a:t>
            </a:r>
          </a:p>
          <a:p>
            <a:pPr algn="l">
              <a:lnSpc>
                <a:spcPts val="1500"/>
              </a:lnSpc>
            </a:pPr>
            <a:r>
              <a:rPr sz="1200" b="0">
                <a:solidFill>
                  <a:srgbClr val="FFFFFF"/>
                </a:solidFill>
                <a:latin typeface="Courier New"/>
              </a:rPr>
              <a:t>  inputSchema: z.object({</a:t>
            </a:r>
          </a:p>
          <a:p>
            <a:pPr algn="l">
              <a:lnSpc>
                <a:spcPts val="1500"/>
              </a:lnSpc>
            </a:pPr>
            <a:r>
              <a:rPr sz="1200" b="0">
                <a:solidFill>
                  <a:srgbClr val="FFFFFF"/>
                </a:solidFill>
                <a:latin typeface="Courier New"/>
              </a:rPr>
              <a:t>    selector:    z.string().describe('Playwright selector'),</a:t>
            </a:r>
          </a:p>
          <a:p>
            <a:pPr algn="l">
              <a:lnSpc>
                <a:spcPts val="1500"/>
              </a:lnSpc>
            </a:pPr>
            <a:r>
              <a:rPr sz="1200" b="0">
                <a:solidFill>
                  <a:srgbClr val="FFFFFF"/>
                </a:solidFill>
                <a:latin typeface="Courier New"/>
              </a:rPr>
              <a:t>    description: z.string().describe('What you are clicking'),</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 async ({ selector, description }) =&gt; {</a:t>
            </a:r>
          </a:p>
          <a:p>
            <a:pPr algn="l">
              <a:lnSpc>
                <a:spcPts val="1500"/>
              </a:lnSpc>
            </a:pPr>
            <a:r>
              <a:rPr sz="1200" b="0">
                <a:solidFill>
                  <a:srgbClr val="FFFFFF"/>
                </a:solidFill>
                <a:latin typeface="Courier New"/>
              </a:rPr>
              <a:t>  await page.locator(selector).click({ timeout: 5000 })</a:t>
            </a:r>
          </a:p>
          <a:p>
            <a:pPr algn="l">
              <a:lnSpc>
                <a:spcPts val="1500"/>
              </a:lnSpc>
            </a:pPr>
            <a:r>
              <a:rPr sz="1200" b="0">
                <a:solidFill>
                  <a:srgbClr val="FFFFFF"/>
                </a:solidFill>
                <a:latin typeface="Courier New"/>
              </a:rPr>
              <a:t>  return { content: [{ type: 'text',</a:t>
            </a:r>
          </a:p>
          <a:p>
            <a:pPr algn="l">
              <a:lnSpc>
                <a:spcPts val="1500"/>
              </a:lnSpc>
            </a:pPr>
            <a:r>
              <a:rPr sz="1200" b="0">
                <a:solidFill>
                  <a:srgbClr val="FFFFFF"/>
                </a:solidFill>
                <a:latin typeface="Courier New"/>
              </a:rPr>
              <a:t>    text: `Clicked: ${description}` }] }</a:t>
            </a:r>
          </a:p>
          <a:p>
            <a:pPr algn="l">
              <a:lnSpc>
                <a:spcPts val="1500"/>
              </a:lnSpc>
            </a:pPr>
            <a:r>
              <a:rPr sz="1200" b="0">
                <a:solidFill>
                  <a:srgbClr val="FFFFFF"/>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8B949E"/>
                </a:solidFill>
                <a:latin typeface="Courier New"/>
              </a:rPr>
              <a:t>// Rule: descriptions drive selector choice.</a:t>
            </a:r>
          </a:p>
          <a:p>
            <a:pPr algn="l">
              <a:lnSpc>
                <a:spcPts val="1500"/>
              </a:lnSpc>
            </a:pPr>
            <a:r>
              <a:rPr sz="1200" b="0">
                <a:solidFill>
                  <a:srgbClr val="8B949E"/>
                </a:solidFill>
                <a:latin typeface="Courier New"/>
              </a:rPr>
              <a:t>// The LLM reads 'description' to decide WHICH selector to use.</a:t>
            </a:r>
          </a:p>
          <a:p>
            <a:pPr algn="l">
              <a:lnSpc>
                <a:spcPts val="1500"/>
              </a:lnSpc>
            </a:pPr>
            <a:r>
              <a:rPr sz="1200" b="0">
                <a:solidFill>
                  <a:srgbClr val="8B949E"/>
                </a:solidFill>
                <a:latin typeface="Courier New"/>
              </a:rPr>
              <a:t>// Without a description, it will hallucinate a CSS path.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FB950"/>
                </a:solidFill>
              </a:rPr>
              <a:t>CH 3</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@playwright/mcp — Zero-Config Option</a:t>
            </a:r>
          </a:p>
        </p:txBody>
      </p:sp>
      <p:sp>
        <p:nvSpPr>
          <p:cNvPr id="6" name="Rectangle 5"/>
          <p:cNvSpPr/>
          <p:nvPr/>
        </p:nvSpPr>
        <p:spPr>
          <a:xfrm>
            <a:off x="274320"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40196"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740000"/>
            <a:ext cx="5545836" cy="300000"/>
          </a:xfrm>
          <a:prstGeom prst="rect">
            <a:avLst/>
          </a:prstGeom>
          <a:noFill/>
        </p:spPr>
        <p:txBody>
          <a:bodyPr wrap="square">
            <a:spAutoFit/>
          </a:bodyPr>
          <a:lstStyle/>
          <a:p>
            <a:pPr algn="l"/>
            <a:r>
              <a:rPr sz="1400" b="1">
                <a:solidFill>
                  <a:srgbClr val="3FB950"/>
                </a:solidFill>
              </a:rPr>
              <a:t>Start in one command</a:t>
            </a:r>
          </a:p>
        </p:txBody>
      </p:sp>
      <p:sp>
        <p:nvSpPr>
          <p:cNvPr id="9" name="TextBox 8"/>
          <p:cNvSpPr txBox="1"/>
          <p:nvPr/>
        </p:nvSpPr>
        <p:spPr>
          <a:xfrm>
            <a:off x="457200" y="1090000"/>
            <a:ext cx="5545836" cy="5548000"/>
          </a:xfrm>
          <a:prstGeom prst="rect">
            <a:avLst/>
          </a:prstGeom>
          <a:noFill/>
        </p:spPr>
        <p:txBody>
          <a:bodyPr wrap="square">
            <a:spAutoFit/>
          </a:bodyPr>
          <a:lstStyle/>
          <a:p>
            <a:pPr algn="l">
              <a:lnSpc>
                <a:spcPts val="1700"/>
              </a:lnSpc>
            </a:pPr>
            <a:r>
              <a:rPr sz="1300" b="0">
                <a:solidFill>
                  <a:srgbClr val="39D353"/>
                </a:solidFill>
              </a:rPr>
              <a:t>npx @playwright/mcp@latest</a:t>
            </a:r>
          </a:p>
          <a:p>
            <a:pPr algn="l">
              <a:lnSpc>
                <a:spcPts val="1700"/>
              </a:lnSpc>
            </a:pPr>
            <a:r>
              <a:rPr sz="1300" b="0">
                <a:solidFill>
                  <a:srgbClr val="FFFFFF"/>
                </a:solidFill>
              </a:rPr>
              <a:t/>
            </a:r>
          </a:p>
          <a:p>
            <a:pPr algn="l">
              <a:lnSpc>
                <a:spcPts val="1700"/>
              </a:lnSpc>
            </a:pPr>
            <a:r>
              <a:rPr sz="1300" b="0">
                <a:solidFill>
                  <a:srgbClr val="FFFFFF"/>
                </a:solidFill>
              </a:rPr>
              <a:t>Add to .claude/settings.json:</a:t>
            </a:r>
          </a:p>
          <a:p>
            <a:pPr algn="l">
              <a:lnSpc>
                <a:spcPts val="1700"/>
              </a:lnSpc>
            </a:pPr>
            <a:r>
              <a:rPr sz="1300" b="0">
                <a:solidFill>
                  <a:srgbClr val="8B949E"/>
                </a:solidFill>
              </a:rPr>
              <a:t>{ "mcpServers": {</a:t>
            </a:r>
          </a:p>
          <a:p>
            <a:pPr algn="l">
              <a:lnSpc>
                <a:spcPts val="1700"/>
              </a:lnSpc>
            </a:pPr>
            <a:r>
              <a:rPr sz="1300" b="0">
                <a:solidFill>
                  <a:srgbClr val="8B949E"/>
                </a:solidFill>
              </a:rPr>
              <a:t>    "playwright": {</a:t>
            </a:r>
          </a:p>
          <a:p>
            <a:pPr algn="l">
              <a:lnSpc>
                <a:spcPts val="1700"/>
              </a:lnSpc>
            </a:pPr>
            <a:r>
              <a:rPr sz="1300" b="0">
                <a:solidFill>
                  <a:srgbClr val="8B949E"/>
                </a:solidFill>
              </a:rPr>
              <a:t>      "command": "npx",</a:t>
            </a:r>
          </a:p>
          <a:p>
            <a:pPr algn="l">
              <a:lnSpc>
                <a:spcPts val="1700"/>
              </a:lnSpc>
            </a:pPr>
            <a:r>
              <a:rPr sz="1300" b="0">
                <a:solidFill>
                  <a:srgbClr val="8B949E"/>
                </a:solidFill>
              </a:rPr>
              <a:t>      "args": ["@playwright/mcp@latest"]</a:t>
            </a:r>
          </a:p>
          <a:p>
            <a:pPr algn="l">
              <a:lnSpc>
                <a:spcPts val="1700"/>
              </a:lnSpc>
            </a:pPr>
            <a:r>
              <a:rPr sz="1300" b="0">
                <a:solidFill>
                  <a:srgbClr val="8B949E"/>
                </a:solidFill>
              </a:rPr>
              <a:t>    } } }</a:t>
            </a:r>
          </a:p>
          <a:p>
            <a:pPr algn="l">
              <a:lnSpc>
                <a:spcPts val="1700"/>
              </a:lnSpc>
            </a:pPr>
            <a:r>
              <a:rPr sz="1300" b="0">
                <a:solidFill>
                  <a:srgbClr val="FFFFFF"/>
                </a:solidFill>
              </a:rPr>
              <a:t/>
            </a:r>
          </a:p>
          <a:p>
            <a:pPr algn="l">
              <a:lnSpc>
                <a:spcPts val="1700"/>
              </a:lnSpc>
            </a:pPr>
            <a:r>
              <a:rPr sz="1300" b="0">
                <a:solidFill>
                  <a:srgbClr val="FFFFFF"/>
                </a:solidFill>
              </a:rPr>
              <a:t>For vision mode:</a:t>
            </a:r>
          </a:p>
          <a:p>
            <a:pPr algn="l">
              <a:lnSpc>
                <a:spcPts val="1700"/>
              </a:lnSpc>
            </a:pPr>
            <a:r>
              <a:rPr sz="1300" b="0">
                <a:solidFill>
                  <a:srgbClr val="8B949E"/>
                </a:solidFill>
              </a:rPr>
              <a:t>"args": ["@playwright/mcp@latest", "--vision"]</a:t>
            </a:r>
          </a:p>
        </p:txBody>
      </p:sp>
      <p:sp>
        <p:nvSpPr>
          <p:cNvPr id="10" name="TextBox 9"/>
          <p:cNvSpPr txBox="1"/>
          <p:nvPr/>
        </p:nvSpPr>
        <p:spPr>
          <a:xfrm>
            <a:off x="6323076" y="740000"/>
            <a:ext cx="5545836" cy="300000"/>
          </a:xfrm>
          <a:prstGeom prst="rect">
            <a:avLst/>
          </a:prstGeom>
          <a:noFill/>
        </p:spPr>
        <p:txBody>
          <a:bodyPr wrap="square">
            <a:spAutoFit/>
          </a:bodyPr>
          <a:lstStyle/>
          <a:p>
            <a:pPr algn="l"/>
            <a:r>
              <a:rPr sz="1400" b="1">
                <a:solidFill>
                  <a:srgbClr val="3FB950"/>
                </a:solidFill>
              </a:rPr>
              <a:t>Built-in tools</a:t>
            </a:r>
          </a:p>
        </p:txBody>
      </p:sp>
      <p:sp>
        <p:nvSpPr>
          <p:cNvPr id="11" name="TextBox 10"/>
          <p:cNvSpPr txBox="1"/>
          <p:nvPr/>
        </p:nvSpPr>
        <p:spPr>
          <a:xfrm>
            <a:off x="6323076" y="1090000"/>
            <a:ext cx="5545836" cy="5548000"/>
          </a:xfrm>
          <a:prstGeom prst="rect">
            <a:avLst/>
          </a:prstGeom>
          <a:noFill/>
        </p:spPr>
        <p:txBody>
          <a:bodyPr wrap="square">
            <a:spAutoFit/>
          </a:bodyPr>
          <a:lstStyle/>
          <a:p>
            <a:pPr algn="l">
              <a:lnSpc>
                <a:spcPts val="1700"/>
              </a:lnSpc>
            </a:pPr>
            <a:r>
              <a:rPr sz="1300" b="0">
                <a:solidFill>
                  <a:srgbClr val="39D353"/>
                </a:solidFill>
              </a:rPr>
              <a:t>browser_navigate(url)</a:t>
            </a:r>
          </a:p>
          <a:p>
            <a:pPr algn="l">
              <a:lnSpc>
                <a:spcPts val="1700"/>
              </a:lnSpc>
            </a:pPr>
            <a:r>
              <a:rPr sz="1300" b="0">
                <a:solidFill>
                  <a:srgbClr val="39D353"/>
                </a:solidFill>
              </a:rPr>
              <a:t>browser_click(element)</a:t>
            </a:r>
          </a:p>
          <a:p>
            <a:pPr algn="l">
              <a:lnSpc>
                <a:spcPts val="1700"/>
              </a:lnSpc>
            </a:pPr>
            <a:r>
              <a:rPr sz="1300" b="0">
                <a:solidFill>
                  <a:srgbClr val="39D353"/>
                </a:solidFill>
              </a:rPr>
              <a:t>browser_fill(element, value)</a:t>
            </a:r>
          </a:p>
          <a:p>
            <a:pPr algn="l">
              <a:lnSpc>
                <a:spcPts val="1700"/>
              </a:lnSpc>
            </a:pPr>
            <a:r>
              <a:rPr sz="1300" b="0">
                <a:solidFill>
                  <a:srgbClr val="39D353"/>
                </a:solidFill>
              </a:rPr>
              <a:t>browser_snapshot()   ← a11y tree</a:t>
            </a:r>
          </a:p>
          <a:p>
            <a:pPr algn="l">
              <a:lnSpc>
                <a:spcPts val="1700"/>
              </a:lnSpc>
            </a:pPr>
            <a:r>
              <a:rPr sz="1300" b="0">
                <a:solidFill>
                  <a:srgbClr val="39D353"/>
                </a:solidFill>
              </a:rPr>
              <a:t>browser_screenshot() ← PNG</a:t>
            </a:r>
          </a:p>
          <a:p>
            <a:pPr algn="l">
              <a:lnSpc>
                <a:spcPts val="1700"/>
              </a:lnSpc>
            </a:pPr>
            <a:r>
              <a:rPr sz="1300" b="0">
                <a:solidFill>
                  <a:srgbClr val="39D353"/>
                </a:solidFill>
              </a:rPr>
              <a:t>browser_get_console_logs()</a:t>
            </a:r>
          </a:p>
          <a:p>
            <a:pPr algn="l">
              <a:lnSpc>
                <a:spcPts val="1700"/>
              </a:lnSpc>
            </a:pPr>
            <a:r>
              <a:rPr sz="1300" b="0">
                <a:solidFill>
                  <a:srgbClr val="39D353"/>
                </a:solidFill>
              </a:rPr>
              <a:t>browser_tab_new / browser_tab_select</a:t>
            </a:r>
          </a:p>
          <a:p>
            <a:pPr algn="l">
              <a:lnSpc>
                <a:spcPts val="1700"/>
              </a:lnSpc>
            </a:pPr>
            <a:r>
              <a:rPr sz="1300" b="0">
                <a:solidFill>
                  <a:srgbClr val="39D353"/>
                </a:solidFill>
              </a:rPr>
              <a:t>browser_network_requests()</a:t>
            </a:r>
          </a:p>
          <a:p>
            <a:pPr algn="l">
              <a:lnSpc>
                <a:spcPts val="1700"/>
              </a:lnSpc>
            </a:pPr>
            <a:r>
              <a:rPr sz="1300" b="0">
                <a:solidFill>
                  <a:srgbClr val="FFFFFF"/>
                </a:solidFill>
              </a:rPr>
              <a:t/>
            </a:r>
          </a:p>
          <a:p>
            <a:pPr algn="l">
              <a:lnSpc>
                <a:spcPts val="1700"/>
              </a:lnSpc>
            </a:pPr>
            <a:r>
              <a:rPr sz="1300" b="0">
                <a:solidFill>
                  <a:srgbClr val="8B949E"/>
                </a:solidFill>
              </a:rPr>
              <a:t>No server.ts to write — plug in
and start prompting.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FB950"/>
                </a:solidFill>
              </a:rPr>
              <a:t>CH 3</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Snapshot Mode vs Vision Mode</a:t>
            </a:r>
          </a:p>
        </p:txBody>
      </p:sp>
      <p:sp>
        <p:nvSpPr>
          <p:cNvPr id="6" name="Rectangle 5"/>
          <p:cNvSpPr/>
          <p:nvPr/>
        </p:nvSpPr>
        <p:spPr>
          <a:xfrm>
            <a:off x="274320"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40196"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740000"/>
            <a:ext cx="5545836" cy="300000"/>
          </a:xfrm>
          <a:prstGeom prst="rect">
            <a:avLst/>
          </a:prstGeom>
          <a:noFill/>
        </p:spPr>
        <p:txBody>
          <a:bodyPr wrap="square">
            <a:spAutoFit/>
          </a:bodyPr>
          <a:lstStyle/>
          <a:p>
            <a:pPr algn="l"/>
            <a:r>
              <a:rPr sz="1400" b="1">
                <a:solidFill>
                  <a:srgbClr val="3FB950"/>
                </a:solidFill>
              </a:rPr>
              <a:t>Snapshot (default) — prefer</a:t>
            </a:r>
          </a:p>
        </p:txBody>
      </p:sp>
      <p:sp>
        <p:nvSpPr>
          <p:cNvPr id="9" name="TextBox 8"/>
          <p:cNvSpPr txBox="1"/>
          <p:nvPr/>
        </p:nvSpPr>
        <p:spPr>
          <a:xfrm>
            <a:off x="457200" y="1090000"/>
            <a:ext cx="5545836" cy="5548000"/>
          </a:xfrm>
          <a:prstGeom prst="rect">
            <a:avLst/>
          </a:prstGeom>
          <a:noFill/>
        </p:spPr>
        <p:txBody>
          <a:bodyPr wrap="square">
            <a:spAutoFit/>
          </a:bodyPr>
          <a:lstStyle/>
          <a:p>
            <a:pPr algn="l">
              <a:lnSpc>
                <a:spcPts val="1700"/>
              </a:lnSpc>
            </a:pPr>
            <a:r>
              <a:rPr sz="1300" b="0">
                <a:solidFill>
                  <a:srgbClr val="39D353"/>
                </a:solidFill>
              </a:rPr>
              <a:t>browser_snapshot()  →  accessibility tree text</a:t>
            </a:r>
          </a:p>
          <a:p>
            <a:pPr algn="l">
              <a:lnSpc>
                <a:spcPts val="1700"/>
              </a:lnSpc>
            </a:pPr>
            <a:r>
              <a:rPr sz="1300" b="0">
                <a:solidFill>
                  <a:srgbClr val="FFFFFF"/>
                </a:solidFill>
              </a:rPr>
              <a:t/>
            </a:r>
          </a:p>
          <a:p>
            <a:pPr algn="l">
              <a:lnSpc>
                <a:spcPts val="1700"/>
              </a:lnSpc>
            </a:pPr>
            <a:r>
              <a:rPr sz="1300" b="0">
                <a:solidFill>
                  <a:srgbClr val="FFFFFF"/>
                </a:solidFill>
              </a:rPr>
              <a:t>✓  No image tokens — much cheaper</a:t>
            </a:r>
          </a:p>
          <a:p>
            <a:pPr algn="l">
              <a:lnSpc>
                <a:spcPts val="1700"/>
              </a:lnSpc>
            </a:pPr>
            <a:r>
              <a:rPr sz="1300" b="0">
                <a:solidFill>
                  <a:srgbClr val="FFFFFF"/>
                </a:solidFill>
              </a:rPr>
              <a:t>✓  Works headless in CI</a:t>
            </a:r>
          </a:p>
          <a:p>
            <a:pPr algn="l">
              <a:lnSpc>
                <a:spcPts val="1700"/>
              </a:lnSpc>
            </a:pPr>
            <a:r>
              <a:rPr sz="1300" b="0">
                <a:solidFill>
                  <a:srgbClr val="FFFFFF"/>
                </a:solidFill>
              </a:rPr>
              <a:t>✓  Structured: roles, names, states</a:t>
            </a:r>
          </a:p>
          <a:p>
            <a:pPr algn="l">
              <a:lnSpc>
                <a:spcPts val="1700"/>
              </a:lnSpc>
            </a:pPr>
            <a:r>
              <a:rPr sz="1300" b="0">
                <a:solidFill>
                  <a:srgbClr val="FFFFFF"/>
                </a:solidFill>
              </a:rPr>
              <a:t>✓  Forms, tables, lists: excellent</a:t>
            </a:r>
          </a:p>
          <a:p>
            <a:pPr algn="l">
              <a:lnSpc>
                <a:spcPts val="1700"/>
              </a:lnSpc>
            </a:pPr>
            <a:r>
              <a:rPr sz="1300" b="0">
                <a:solidFill>
                  <a:srgbClr val="FFFFFF"/>
                </a:solidFill>
              </a:rPr>
              <a:t>✗  Can't see canvas or SVG charts</a:t>
            </a:r>
          </a:p>
          <a:p>
            <a:pPr algn="l">
              <a:lnSpc>
                <a:spcPts val="1700"/>
              </a:lnSpc>
            </a:pPr>
            <a:r>
              <a:rPr sz="1300" b="0">
                <a:solidFill>
                  <a:srgbClr val="FFFFFF"/>
                </a:solidFill>
              </a:rPr>
              <a:t/>
            </a:r>
          </a:p>
          <a:p>
            <a:pPr algn="l">
              <a:lnSpc>
                <a:spcPts val="1700"/>
              </a:lnSpc>
            </a:pPr>
            <a:r>
              <a:rPr sz="1300" b="0">
                <a:solidFill>
                  <a:srgbClr val="8B949E"/>
                </a:solidFill>
              </a:rPr>
              <a:t>Use for: login, products table,
navigation, form assertions</a:t>
            </a:r>
          </a:p>
        </p:txBody>
      </p:sp>
      <p:sp>
        <p:nvSpPr>
          <p:cNvPr id="10" name="TextBox 9"/>
          <p:cNvSpPr txBox="1"/>
          <p:nvPr/>
        </p:nvSpPr>
        <p:spPr>
          <a:xfrm>
            <a:off x="6323076" y="740000"/>
            <a:ext cx="5545836" cy="300000"/>
          </a:xfrm>
          <a:prstGeom prst="rect">
            <a:avLst/>
          </a:prstGeom>
          <a:noFill/>
        </p:spPr>
        <p:txBody>
          <a:bodyPr wrap="square">
            <a:spAutoFit/>
          </a:bodyPr>
          <a:lstStyle/>
          <a:p>
            <a:pPr algn="l"/>
            <a:r>
              <a:rPr sz="1400" b="1">
                <a:solidFill>
                  <a:srgbClr val="3FB950"/>
                </a:solidFill>
              </a:rPr>
              <a:t>Vision (--vision flag)</a:t>
            </a:r>
          </a:p>
        </p:txBody>
      </p:sp>
      <p:sp>
        <p:nvSpPr>
          <p:cNvPr id="11" name="TextBox 10"/>
          <p:cNvSpPr txBox="1"/>
          <p:nvPr/>
        </p:nvSpPr>
        <p:spPr>
          <a:xfrm>
            <a:off x="6323076" y="1090000"/>
            <a:ext cx="5545836" cy="5548000"/>
          </a:xfrm>
          <a:prstGeom prst="rect">
            <a:avLst/>
          </a:prstGeom>
          <a:noFill/>
        </p:spPr>
        <p:txBody>
          <a:bodyPr wrap="square">
            <a:spAutoFit/>
          </a:bodyPr>
          <a:lstStyle/>
          <a:p>
            <a:pPr algn="l">
              <a:lnSpc>
                <a:spcPts val="1700"/>
              </a:lnSpc>
            </a:pPr>
            <a:r>
              <a:rPr sz="1300" b="0">
                <a:solidFill>
                  <a:srgbClr val="F78466"/>
                </a:solidFill>
              </a:rPr>
              <a:t>browser_screenshot()  →  PNG bytes</a:t>
            </a:r>
          </a:p>
          <a:p>
            <a:pPr algn="l">
              <a:lnSpc>
                <a:spcPts val="1700"/>
              </a:lnSpc>
            </a:pPr>
            <a:r>
              <a:rPr sz="1300" b="0">
                <a:solidFill>
                  <a:srgbClr val="FFFFFF"/>
                </a:solidFill>
              </a:rPr>
              <a:t/>
            </a:r>
          </a:p>
          <a:p>
            <a:pPr algn="l">
              <a:lnSpc>
                <a:spcPts val="1700"/>
              </a:lnSpc>
            </a:pPr>
            <a:r>
              <a:rPr sz="1300" b="0">
                <a:solidFill>
                  <a:srgbClr val="FFFFFF"/>
                </a:solidFill>
              </a:rPr>
              <a:t>✓  Works on any visual element</a:t>
            </a:r>
          </a:p>
          <a:p>
            <a:pPr algn="l">
              <a:lnSpc>
                <a:spcPts val="1700"/>
              </a:lnSpc>
            </a:pPr>
            <a:r>
              <a:rPr sz="1300" b="0">
                <a:solidFill>
                  <a:srgbClr val="FFFFFF"/>
                </a:solidFill>
              </a:rPr>
              <a:t>✓  Recharts / canvas / custom UI</a:t>
            </a:r>
          </a:p>
          <a:p>
            <a:pPr algn="l">
              <a:lnSpc>
                <a:spcPts val="1700"/>
              </a:lnSpc>
            </a:pPr>
            <a:r>
              <a:rPr sz="1300" b="0">
                <a:solidFill>
                  <a:srgbClr val="FFFFFF"/>
                </a:solidFill>
              </a:rPr>
              <a:t>✗  Slow — screenshot + encode</a:t>
            </a:r>
          </a:p>
          <a:p>
            <a:pPr algn="l">
              <a:lnSpc>
                <a:spcPts val="1700"/>
              </a:lnSpc>
            </a:pPr>
            <a:r>
              <a:rPr sz="1300" b="0">
                <a:solidFill>
                  <a:srgbClr val="FFFFFF"/>
                </a:solidFill>
              </a:rPr>
              <a:t>✗  Expensive image tokens</a:t>
            </a:r>
          </a:p>
          <a:p>
            <a:pPr algn="l">
              <a:lnSpc>
                <a:spcPts val="1700"/>
              </a:lnSpc>
            </a:pPr>
            <a:r>
              <a:rPr sz="1300" b="0">
                <a:solidFill>
                  <a:srgbClr val="FFFFFF"/>
                </a:solidFill>
              </a:rPr>
              <a:t>✗  Sensitive to viewport / fonts</a:t>
            </a:r>
          </a:p>
          <a:p>
            <a:pPr algn="l">
              <a:lnSpc>
                <a:spcPts val="1700"/>
              </a:lnSpc>
            </a:pPr>
            <a:r>
              <a:rPr sz="1300" b="0">
                <a:solidFill>
                  <a:srgbClr val="FFFFFF"/>
                </a:solidFill>
              </a:rPr>
              <a:t/>
            </a:r>
          </a:p>
          <a:p>
            <a:pPr algn="l">
              <a:lnSpc>
                <a:spcPts val="1700"/>
              </a:lnSpc>
            </a:pPr>
            <a:r>
              <a:rPr sz="1300" b="0">
                <a:solidFill>
                  <a:srgbClr val="8B949E"/>
                </a:solidFill>
              </a:rPr>
              <a:t>Use for: dashboard charts,
visual regression, pixel checks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FB950"/>
                </a:solidFill>
              </a:rPr>
              <a:t>CH 3</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Discussion Questions</a:t>
            </a:r>
          </a:p>
        </p:txBody>
      </p:sp>
      <p:sp>
        <p:nvSpPr>
          <p:cNvPr id="6" name="Rectangle 5"/>
          <p:cNvSpPr/>
          <p:nvPr/>
        </p:nvSpPr>
        <p:spPr>
          <a:xfrm>
            <a:off x="274320" y="700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60000"/>
            <a:ext cx="700000" cy="1866000"/>
          </a:xfrm>
          <a:prstGeom prst="rect">
            <a:avLst/>
          </a:prstGeom>
          <a:noFill/>
        </p:spPr>
        <p:txBody>
          <a:bodyPr wrap="square">
            <a:spAutoFit/>
          </a:bodyPr>
          <a:lstStyle/>
          <a:p>
            <a:pPr algn="ctr"/>
            <a:r>
              <a:rPr sz="2800" b="1">
                <a:solidFill>
                  <a:srgbClr val="3FB950"/>
                </a:solidFill>
              </a:rPr>
              <a:t>1</a:t>
            </a:r>
          </a:p>
        </p:txBody>
      </p:sp>
      <p:sp>
        <p:nvSpPr>
          <p:cNvPr id="8" name="TextBox 7"/>
          <p:cNvSpPr txBox="1"/>
          <p:nvPr/>
        </p:nvSpPr>
        <p:spPr>
          <a:xfrm>
            <a:off x="1100000" y="780000"/>
            <a:ext cx="10788952" cy="1826000"/>
          </a:xfrm>
          <a:prstGeom prst="rect">
            <a:avLst/>
          </a:prstGeom>
          <a:noFill/>
        </p:spPr>
        <p:txBody>
          <a:bodyPr wrap="square">
            <a:spAutoFit/>
          </a:bodyPr>
          <a:lstStyle/>
          <a:p>
            <a:pPr algn="l"/>
            <a:r>
              <a:rPr sz="1400" b="0">
                <a:solidFill>
                  <a:srgbClr val="FFFFFF"/>
                </a:solidFill>
              </a:rPr>
              <a:t>The custom MCP server keeps a single shared AgentBrowserSession across all tool calls. What breaks if two AI clients connect simultaneously, and how would you fix it?</a:t>
            </a:r>
          </a:p>
        </p:txBody>
      </p:sp>
      <p:sp>
        <p:nvSpPr>
          <p:cNvPr id="9" name="Rectangle 8"/>
          <p:cNvSpPr/>
          <p:nvPr/>
        </p:nvSpPr>
        <p:spPr>
          <a:xfrm>
            <a:off x="274320" y="2686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2746000"/>
            <a:ext cx="700000" cy="1866000"/>
          </a:xfrm>
          <a:prstGeom prst="rect">
            <a:avLst/>
          </a:prstGeom>
          <a:noFill/>
        </p:spPr>
        <p:txBody>
          <a:bodyPr wrap="square">
            <a:spAutoFit/>
          </a:bodyPr>
          <a:lstStyle/>
          <a:p>
            <a:pPr algn="ctr"/>
            <a:r>
              <a:rPr sz="2800" b="1">
                <a:solidFill>
                  <a:srgbClr val="3FB950"/>
                </a:solidFill>
              </a:rPr>
              <a:t>2</a:t>
            </a:r>
          </a:p>
        </p:txBody>
      </p:sp>
      <p:sp>
        <p:nvSpPr>
          <p:cNvPr id="11" name="TextBox 10"/>
          <p:cNvSpPr txBox="1"/>
          <p:nvPr/>
        </p:nvSpPr>
        <p:spPr>
          <a:xfrm>
            <a:off x="1100000" y="2766000"/>
            <a:ext cx="10788952" cy="1826000"/>
          </a:xfrm>
          <a:prstGeom prst="rect">
            <a:avLst/>
          </a:prstGeom>
          <a:noFill/>
        </p:spPr>
        <p:txBody>
          <a:bodyPr wrap="square">
            <a:spAutoFit/>
          </a:bodyPr>
          <a:lstStyle/>
          <a:p>
            <a:pPr algn="l"/>
            <a:r>
              <a:rPr sz="1400" b="0">
                <a:solidFill>
                  <a:srgbClr val="FFFFFF"/>
                </a:solidFill>
              </a:rPr>
              <a:t>browser_snapshot returns an accessibility tree while browser_screenshot returns a PNG. For a products-table assertion (count rows, read cell values), which tool is faster and cheaper — and why?</a:t>
            </a:r>
          </a:p>
        </p:txBody>
      </p:sp>
      <p:sp>
        <p:nvSpPr>
          <p:cNvPr id="12" name="Rectangle 11"/>
          <p:cNvSpPr/>
          <p:nvPr/>
        </p:nvSpPr>
        <p:spPr>
          <a:xfrm>
            <a:off x="274320" y="4672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4732000"/>
            <a:ext cx="700000" cy="1866000"/>
          </a:xfrm>
          <a:prstGeom prst="rect">
            <a:avLst/>
          </a:prstGeom>
          <a:noFill/>
        </p:spPr>
        <p:txBody>
          <a:bodyPr wrap="square">
            <a:spAutoFit/>
          </a:bodyPr>
          <a:lstStyle/>
          <a:p>
            <a:pPr algn="ctr"/>
            <a:r>
              <a:rPr sz="2800" b="1">
                <a:solidFill>
                  <a:srgbClr val="3FB950"/>
                </a:solidFill>
              </a:rPr>
              <a:t>3</a:t>
            </a:r>
          </a:p>
        </p:txBody>
      </p:sp>
      <p:sp>
        <p:nvSpPr>
          <p:cNvPr id="14" name="TextBox 13"/>
          <p:cNvSpPr txBox="1"/>
          <p:nvPr/>
        </p:nvSpPr>
        <p:spPr>
          <a:xfrm>
            <a:off x="1100000" y="4752000"/>
            <a:ext cx="10788952" cy="1826000"/>
          </a:xfrm>
          <a:prstGeom prst="rect">
            <a:avLst/>
          </a:prstGeom>
          <a:noFill/>
        </p:spPr>
        <p:txBody>
          <a:bodyPr wrap="square">
            <a:spAutoFit/>
          </a:bodyPr>
          <a:lstStyle/>
          <a:p>
            <a:pPr algn="l"/>
            <a:r>
              <a:rPr sz="1400" b="0">
                <a:solidFill>
                  <a:srgbClr val="FFFFFF"/>
                </a:solidFill>
              </a:rPr>
              <a:t>A tool schema marks selector as required for browser_click. What error would the MCP server return if the LLM omits it, and where in the server code does that validation happen?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FB950"/>
                </a:solidFill>
              </a:rPr>
              <a:t>CH 3</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Workshop Tasks</a:t>
            </a:r>
          </a:p>
        </p:txBody>
      </p:sp>
      <p:sp>
        <p:nvSpPr>
          <p:cNvPr id="6" name="Rectangle 5"/>
          <p:cNvSpPr/>
          <p:nvPr/>
        </p:nvSpPr>
        <p:spPr>
          <a:xfrm>
            <a:off x="274320" y="680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40000"/>
            <a:ext cx="800000" cy="1379500"/>
          </a:xfrm>
          <a:prstGeom prst="rect">
            <a:avLst/>
          </a:prstGeom>
          <a:noFill/>
        </p:spPr>
        <p:txBody>
          <a:bodyPr wrap="square">
            <a:spAutoFit/>
          </a:bodyPr>
          <a:lstStyle/>
          <a:p>
            <a:pPr algn="l"/>
            <a:r>
              <a:rPr sz="1300" b="1">
                <a:solidFill>
                  <a:srgbClr val="3FB950"/>
                </a:solidFill>
              </a:rPr>
              <a:t>Task A</a:t>
            </a:r>
          </a:p>
        </p:txBody>
      </p:sp>
      <p:sp>
        <p:nvSpPr>
          <p:cNvPr id="8" name="TextBox 7"/>
          <p:cNvSpPr txBox="1"/>
          <p:nvPr/>
        </p:nvSpPr>
        <p:spPr>
          <a:xfrm>
            <a:off x="1200000" y="740000"/>
            <a:ext cx="3600000" cy="1379500"/>
          </a:xfrm>
          <a:prstGeom prst="rect">
            <a:avLst/>
          </a:prstGeom>
          <a:noFill/>
        </p:spPr>
        <p:txBody>
          <a:bodyPr wrap="square">
            <a:spAutoFit/>
          </a:bodyPr>
          <a:lstStyle/>
          <a:p>
            <a:pPr algn="l"/>
            <a:r>
              <a:rPr sz="1400" b="1">
                <a:solidFill>
                  <a:srgbClr val="FFFFFF"/>
                </a:solidFill>
              </a:rPr>
              <a:t>Wire @playwright/mcp to Claude Code</a:t>
            </a:r>
          </a:p>
        </p:txBody>
      </p:sp>
      <p:sp>
        <p:nvSpPr>
          <p:cNvPr id="9" name="TextBox 8"/>
          <p:cNvSpPr txBox="1"/>
          <p:nvPr/>
        </p:nvSpPr>
        <p:spPr>
          <a:xfrm>
            <a:off x="4900000" y="740000"/>
            <a:ext cx="6988952" cy="1379500"/>
          </a:xfrm>
          <a:prstGeom prst="rect">
            <a:avLst/>
          </a:prstGeom>
          <a:noFill/>
        </p:spPr>
        <p:txBody>
          <a:bodyPr wrap="square">
            <a:spAutoFit/>
          </a:bodyPr>
          <a:lstStyle/>
          <a:p>
            <a:pPr algn="l"/>
            <a:r>
              <a:rPr sz="1200" b="0">
                <a:solidFill>
                  <a:srgbClr val="8B949E"/>
                </a:solidFill>
              </a:rPr>
              <a:t>Add mcpServers block to .claude/settings.json.
Prompt: 'Log in with admin@shop.com / password123 and read the Total Revenue stat.'</a:t>
            </a:r>
          </a:p>
        </p:txBody>
      </p:sp>
      <p:sp>
        <p:nvSpPr>
          <p:cNvPr id="10" name="Rectangle 9"/>
          <p:cNvSpPr/>
          <p:nvPr/>
        </p:nvSpPr>
        <p:spPr>
          <a:xfrm>
            <a:off x="274320" y="2179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39500"/>
            <a:ext cx="800000" cy="1379500"/>
          </a:xfrm>
          <a:prstGeom prst="rect">
            <a:avLst/>
          </a:prstGeom>
          <a:noFill/>
        </p:spPr>
        <p:txBody>
          <a:bodyPr wrap="square">
            <a:spAutoFit/>
          </a:bodyPr>
          <a:lstStyle/>
          <a:p>
            <a:pPr algn="l"/>
            <a:r>
              <a:rPr sz="1300" b="1">
                <a:solidFill>
                  <a:srgbClr val="3FB950"/>
                </a:solidFill>
              </a:rPr>
              <a:t>Task B</a:t>
            </a:r>
          </a:p>
        </p:txBody>
      </p:sp>
      <p:sp>
        <p:nvSpPr>
          <p:cNvPr id="12" name="TextBox 11"/>
          <p:cNvSpPr txBox="1"/>
          <p:nvPr/>
        </p:nvSpPr>
        <p:spPr>
          <a:xfrm>
            <a:off x="1200000" y="2239500"/>
            <a:ext cx="3600000" cy="1379500"/>
          </a:xfrm>
          <a:prstGeom prst="rect">
            <a:avLst/>
          </a:prstGeom>
          <a:noFill/>
        </p:spPr>
        <p:txBody>
          <a:bodyPr wrap="square">
            <a:spAutoFit/>
          </a:bodyPr>
          <a:lstStyle/>
          <a:p>
            <a:pPr algn="l"/>
            <a:r>
              <a:rPr sz="1400" b="1">
                <a:solidFill>
                  <a:srgbClr val="FFFFFF"/>
                </a:solidFill>
              </a:rPr>
              <a:t>Compare snapshot vs vision</a:t>
            </a:r>
          </a:p>
        </p:txBody>
      </p:sp>
      <p:sp>
        <p:nvSpPr>
          <p:cNvPr id="13" name="TextBox 12"/>
          <p:cNvSpPr txBox="1"/>
          <p:nvPr/>
        </p:nvSpPr>
        <p:spPr>
          <a:xfrm>
            <a:off x="4900000" y="2239500"/>
            <a:ext cx="6988952" cy="1379500"/>
          </a:xfrm>
          <a:prstGeom prst="rect">
            <a:avLst/>
          </a:prstGeom>
          <a:noFill/>
        </p:spPr>
        <p:txBody>
          <a:bodyPr wrap="square">
            <a:spAutoFit/>
          </a:bodyPr>
          <a:lstStyle/>
          <a:p>
            <a:pPr algn="l"/>
            <a:r>
              <a:rPr sz="1200" b="0">
                <a:solidFill>
                  <a:srgbClr val="8B949E"/>
                </a:solidFill>
              </a:rPr>
              <a:t>Run the same prompt twice — once default, once with --vision.
Which uses more tokens? Which answers the dashboard chart question better?</a:t>
            </a:r>
          </a:p>
        </p:txBody>
      </p:sp>
      <p:sp>
        <p:nvSpPr>
          <p:cNvPr id="14" name="Rectangle 13"/>
          <p:cNvSpPr/>
          <p:nvPr/>
        </p:nvSpPr>
        <p:spPr>
          <a:xfrm>
            <a:off x="274320" y="3679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739000"/>
            <a:ext cx="800000" cy="1379500"/>
          </a:xfrm>
          <a:prstGeom prst="rect">
            <a:avLst/>
          </a:prstGeom>
          <a:noFill/>
        </p:spPr>
        <p:txBody>
          <a:bodyPr wrap="square">
            <a:spAutoFit/>
          </a:bodyPr>
          <a:lstStyle/>
          <a:p>
            <a:pPr algn="l"/>
            <a:r>
              <a:rPr sz="1300" b="1">
                <a:solidFill>
                  <a:srgbClr val="3FB950"/>
                </a:solidFill>
              </a:rPr>
              <a:t>Task C</a:t>
            </a:r>
          </a:p>
        </p:txBody>
      </p:sp>
      <p:sp>
        <p:nvSpPr>
          <p:cNvPr id="16" name="TextBox 15"/>
          <p:cNvSpPr txBox="1"/>
          <p:nvPr/>
        </p:nvSpPr>
        <p:spPr>
          <a:xfrm>
            <a:off x="1200000" y="3739000"/>
            <a:ext cx="3600000" cy="1379500"/>
          </a:xfrm>
          <a:prstGeom prst="rect">
            <a:avLst/>
          </a:prstGeom>
          <a:noFill/>
        </p:spPr>
        <p:txBody>
          <a:bodyPr wrap="square">
            <a:spAutoFit/>
          </a:bodyPr>
          <a:lstStyle/>
          <a:p>
            <a:pPr algn="l"/>
            <a:r>
              <a:rPr sz="1400" b="1">
                <a:solidFill>
                  <a:srgbClr val="FFFFFF"/>
                </a:solidFill>
              </a:rPr>
              <a:t>Catch a console error via MCP</a:t>
            </a:r>
          </a:p>
        </p:txBody>
      </p:sp>
      <p:sp>
        <p:nvSpPr>
          <p:cNvPr id="17" name="TextBox 16"/>
          <p:cNvSpPr txBox="1"/>
          <p:nvPr/>
        </p:nvSpPr>
        <p:spPr>
          <a:xfrm>
            <a:off x="4900000" y="3739000"/>
            <a:ext cx="6988952" cy="1379500"/>
          </a:xfrm>
          <a:prstGeom prst="rect">
            <a:avLst/>
          </a:prstGeom>
          <a:noFill/>
        </p:spPr>
        <p:txBody>
          <a:bodyPr wrap="square">
            <a:spAutoFit/>
          </a:bodyPr>
          <a:lstStyle/>
          <a:p>
            <a:pPr algn="l"/>
            <a:r>
              <a:rPr sz="1200" b="0">
                <a:solidFill>
                  <a:srgbClr val="8B949E"/>
                </a:solidFill>
              </a:rPr>
              <a:t>Add console.error('chart render failed') to Dashboard.tsx useEffect.
Prompt: 'Navigate to dashboard and check for console errors.'</a:t>
            </a:r>
          </a:p>
        </p:txBody>
      </p:sp>
      <p:sp>
        <p:nvSpPr>
          <p:cNvPr id="18" name="Rectangle 17"/>
          <p:cNvSpPr/>
          <p:nvPr/>
        </p:nvSpPr>
        <p:spPr>
          <a:xfrm>
            <a:off x="274320" y="5178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5238500"/>
            <a:ext cx="800000" cy="1379500"/>
          </a:xfrm>
          <a:prstGeom prst="rect">
            <a:avLst/>
          </a:prstGeom>
          <a:noFill/>
        </p:spPr>
        <p:txBody>
          <a:bodyPr wrap="square">
            <a:spAutoFit/>
          </a:bodyPr>
          <a:lstStyle/>
          <a:p>
            <a:pPr algn="l"/>
            <a:r>
              <a:rPr sz="1300" b="1">
                <a:solidFill>
                  <a:srgbClr val="3FB950"/>
                </a:solidFill>
              </a:rPr>
              <a:t>Task D</a:t>
            </a:r>
          </a:p>
        </p:txBody>
      </p:sp>
      <p:sp>
        <p:nvSpPr>
          <p:cNvPr id="20" name="TextBox 19"/>
          <p:cNvSpPr txBox="1"/>
          <p:nvPr/>
        </p:nvSpPr>
        <p:spPr>
          <a:xfrm>
            <a:off x="1200000" y="5238500"/>
            <a:ext cx="3600000" cy="1379500"/>
          </a:xfrm>
          <a:prstGeom prst="rect">
            <a:avLst/>
          </a:prstGeom>
          <a:noFill/>
        </p:spPr>
        <p:txBody>
          <a:bodyPr wrap="square">
            <a:spAutoFit/>
          </a:bodyPr>
          <a:lstStyle/>
          <a:p>
            <a:pPr algn="l"/>
            <a:r>
              <a:rPr sz="1400" b="1">
                <a:solidFill>
                  <a:srgbClr val="FFFFFF"/>
                </a:solidFill>
              </a:rPr>
              <a:t>Debug a failed tool call</a:t>
            </a:r>
          </a:p>
        </p:txBody>
      </p:sp>
      <p:sp>
        <p:nvSpPr>
          <p:cNvPr id="21" name="TextBox 20"/>
          <p:cNvSpPr txBox="1"/>
          <p:nvPr/>
        </p:nvSpPr>
        <p:spPr>
          <a:xfrm>
            <a:off x="4900000" y="5238500"/>
            <a:ext cx="6988952" cy="1379500"/>
          </a:xfrm>
          <a:prstGeom prst="rect">
            <a:avLst/>
          </a:prstGeom>
          <a:noFill/>
        </p:spPr>
        <p:txBody>
          <a:bodyPr wrap="square">
            <a:spAutoFit/>
          </a:bodyPr>
          <a:lstStyle/>
          <a:p>
            <a:pPr algn="l"/>
            <a:r>
              <a:rPr sz="1200" b="0">
                <a:solidFill>
                  <a:srgbClr val="8B949E"/>
                </a:solidFill>
              </a:rPr>
              <a:t>Remove the selector field from browser_click's Zod schema.
Observe the MCP error. Restore it. What was the validation message?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37160"/>
            <a:ext cx="1371600" cy="347472"/>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9184" y="164592"/>
            <a:ext cx="1280160" cy="320040"/>
          </a:xfrm>
          <a:prstGeom prst="rect">
            <a:avLst/>
          </a:prstGeom>
          <a:noFill/>
        </p:spPr>
        <p:txBody>
          <a:bodyPr wrap="square">
            <a:spAutoFit/>
          </a:bodyPr>
          <a:lstStyle/>
          <a:p>
            <a:pPr algn="ctr"/>
            <a:r>
              <a:rPr sz="1300" b="1">
                <a:solidFill>
                  <a:srgbClr val="0D1117"/>
                </a:solidFill>
              </a:rPr>
              <a:t>CH 4  ·  14:15</a:t>
            </a:r>
          </a:p>
        </p:txBody>
      </p:sp>
      <p:sp>
        <p:nvSpPr>
          <p:cNvPr id="6" name="TextBox 5"/>
          <p:cNvSpPr txBox="1"/>
          <p:nvPr/>
        </p:nvSpPr>
        <p:spPr>
          <a:xfrm>
            <a:off x="1874519" y="109728"/>
            <a:ext cx="9900000" cy="600000"/>
          </a:xfrm>
          <a:prstGeom prst="rect">
            <a:avLst/>
          </a:prstGeom>
          <a:noFill/>
        </p:spPr>
        <p:txBody>
          <a:bodyPr wrap="square">
            <a:spAutoFit/>
          </a:bodyPr>
          <a:lstStyle/>
          <a:p>
            <a:pPr algn="l"/>
            <a:r>
              <a:rPr sz="3000" b="1">
                <a:solidFill>
                  <a:srgbClr val="FFFFFF"/>
                </a:solidFill>
              </a:rPr>
              <a:t>Self-Healing Selectors</a:t>
            </a:r>
          </a:p>
        </p:txBody>
      </p:sp>
      <p:sp>
        <p:nvSpPr>
          <p:cNvPr id="7" name="TextBox 6"/>
          <p:cNvSpPr txBox="1"/>
          <p:nvPr/>
        </p:nvSpPr>
        <p:spPr>
          <a:xfrm>
            <a:off x="1874519" y="660000"/>
            <a:ext cx="9900000" cy="347472"/>
          </a:xfrm>
          <a:prstGeom prst="rect">
            <a:avLst/>
          </a:prstGeom>
          <a:noFill/>
        </p:spPr>
        <p:txBody>
          <a:bodyPr wrap="square">
            <a:spAutoFit/>
          </a:bodyPr>
          <a:lstStyle/>
          <a:p>
            <a:pPr algn="l"/>
            <a:r>
              <a:rPr sz="1500" b="0">
                <a:solidFill>
                  <a:srgbClr val="8B949E"/>
                </a:solidFill>
              </a:rPr>
              <a:t>45 min  ·  Detect broken locators at runtime and auto-repair them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78466"/>
                </a:solidFill>
              </a:rPr>
              <a:t>CH 4</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The Selector Rot Problem</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Every UI change potentially breaks tests.</a:t>
            </a:r>
          </a:p>
          <a:p>
            <a:pPr algn="l">
              <a:lnSpc>
                <a:spcPts val="1800"/>
              </a:lnSpc>
            </a:pPr>
            <a:r>
              <a:rPr sz="1400" b="0">
                <a:solidFill>
                  <a:srgbClr val="FFFFFF"/>
                </a:solidFill>
              </a:rPr>
              <a:t/>
            </a:r>
          </a:p>
          <a:p>
            <a:pPr algn="l">
              <a:lnSpc>
                <a:spcPts val="1800"/>
              </a:lnSpc>
            </a:pPr>
            <a:r>
              <a:rPr sz="1400" b="0">
                <a:solidFill>
                  <a:srgbClr val="FFFFFF"/>
                </a:solidFill>
              </a:rPr>
              <a:t>Designer renames .login-card → .auth-card:</a:t>
            </a:r>
          </a:p>
          <a:p>
            <a:pPr algn="l">
              <a:lnSpc>
                <a:spcPts val="1800"/>
              </a:lnSpc>
            </a:pPr>
            <a:r>
              <a:rPr sz="1400" b="0">
                <a:solidFill>
                  <a:srgbClr val="FF7B72"/>
                </a:solidFill>
              </a:rPr>
              <a:t>  20 test files need updating  —  discovered only when CI fails</a:t>
            </a:r>
          </a:p>
          <a:p>
            <a:pPr algn="l">
              <a:lnSpc>
                <a:spcPts val="1800"/>
              </a:lnSpc>
            </a:pPr>
            <a:r>
              <a:rPr sz="1400" b="0">
                <a:solidFill>
                  <a:srgbClr val="FFFFFF"/>
                </a:solidFill>
              </a:rPr>
              <a:t/>
            </a:r>
          </a:p>
          <a:p>
            <a:pPr algn="l">
              <a:lnSpc>
                <a:spcPts val="1800"/>
              </a:lnSpc>
            </a:pPr>
            <a:r>
              <a:rPr sz="1400" b="0">
                <a:solidFill>
                  <a:srgbClr val="FFFFFF"/>
                </a:solidFill>
              </a:rPr>
              <a:t>Developer reorders form fields:</a:t>
            </a:r>
          </a:p>
          <a:p>
            <a:pPr algn="l">
              <a:lnSpc>
                <a:spcPts val="1800"/>
              </a:lnSpc>
            </a:pPr>
            <a:r>
              <a:rPr sz="1400" b="0">
                <a:solidFill>
                  <a:srgbClr val="FF7B72"/>
                </a:solidFill>
              </a:rPr>
              <a:t>  nth-child(2) now points to the wrong input</a:t>
            </a:r>
          </a:p>
          <a:p>
            <a:pPr algn="l">
              <a:lnSpc>
                <a:spcPts val="1800"/>
              </a:lnSpc>
            </a:pPr>
            <a:r>
              <a:rPr sz="1400" b="0">
                <a:solidFill>
                  <a:srgbClr val="FFFFFF"/>
                </a:solidFill>
              </a:rPr>
              <a:t/>
            </a:r>
          </a:p>
          <a:p>
            <a:pPr algn="l">
              <a:lnSpc>
                <a:spcPts val="1800"/>
              </a:lnSpc>
            </a:pPr>
            <a:r>
              <a:rPr sz="1400" b="0">
                <a:solidFill>
                  <a:srgbClr val="FFFFFF"/>
                </a:solidFill>
              </a:rPr>
              <a:t>Team ships at velocity &gt; maintenance bandwidth:</a:t>
            </a:r>
          </a:p>
          <a:p>
            <a:pPr algn="l">
              <a:lnSpc>
                <a:spcPts val="1800"/>
              </a:lnSpc>
            </a:pPr>
            <a:r>
              <a:rPr sz="1400" b="0">
                <a:solidFill>
                  <a:srgbClr val="FF7B72"/>
                </a:solidFill>
              </a:rPr>
              <a:t>  Test debt accumulates  →  suite becomes unreliable  →  ignored</a:t>
            </a:r>
          </a:p>
          <a:p>
            <a:pPr algn="l">
              <a:lnSpc>
                <a:spcPts val="1800"/>
              </a:lnSpc>
            </a:pPr>
            <a:r>
              <a:rPr sz="1400" b="0">
                <a:solidFill>
                  <a:srgbClr val="FFFFFF"/>
                </a:solidFill>
              </a:rPr>
              <a:t/>
            </a:r>
          </a:p>
          <a:p>
            <a:pPr algn="l">
              <a:lnSpc>
                <a:spcPts val="1800"/>
              </a:lnSpc>
            </a:pPr>
            <a:r>
              <a:rPr sz="1400" b="0">
                <a:solidFill>
                  <a:srgbClr val="8B949E"/>
                </a:solidFill>
              </a:rPr>
              <a:t>The self-healing approach:</a:t>
            </a:r>
          </a:p>
          <a:p>
            <a:pPr algn="l">
              <a:lnSpc>
                <a:spcPts val="1800"/>
              </a:lnSpc>
            </a:pPr>
            <a:r>
              <a:rPr sz="1400" b="0">
                <a:solidFill>
                  <a:srgbClr val="FFFFFF"/>
                </a:solidFill>
              </a:rPr>
              <a:t>→ Keep a persistent LocatorStore — one selector per logical element</a:t>
            </a:r>
          </a:p>
          <a:p>
            <a:pPr algn="l">
              <a:lnSpc>
                <a:spcPts val="1800"/>
              </a:lnSpc>
            </a:pPr>
            <a:r>
              <a:rPr sz="1400" b="0">
                <a:solidFill>
                  <a:srgbClr val="FFFFFF"/>
                </a:solidFill>
              </a:rPr>
              <a:t>→ On failure: snapshot the DOM, ask Claude for alternatives, validate each</a:t>
            </a:r>
          </a:p>
          <a:p>
            <a:pPr algn="l">
              <a:lnSpc>
                <a:spcPts val="1800"/>
              </a:lnSpc>
            </a:pPr>
            <a:r>
              <a:rPr sz="1400" b="0">
                <a:solidFill>
                  <a:srgbClr val="39D353"/>
                </a:solidFill>
              </a:rPr>
              <a:t>→ Write the winner back — next run uses the healed selector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78466"/>
                </a:solidFill>
              </a:rPr>
              <a:t>CH 4</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LocatorStore — Persistent Locator Memory</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ch4-self-healing/locator-store.ts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interface LocatorEntry {</a:t>
            </a:r>
          </a:p>
          <a:p>
            <a:pPr algn="l">
              <a:lnSpc>
                <a:spcPts val="1500"/>
              </a:lnSpc>
            </a:pPr>
            <a:r>
              <a:rPr sz="1200" b="0">
                <a:solidFill>
                  <a:srgbClr val="FFFFFF"/>
                </a:solidFill>
                <a:latin typeface="Courier New"/>
              </a:rPr>
              <a:t>  key:          string    // 'login.emailInput'</a:t>
            </a:r>
          </a:p>
          <a:p>
            <a:pPr algn="l">
              <a:lnSpc>
                <a:spcPts val="1500"/>
              </a:lnSpc>
            </a:pPr>
            <a:r>
              <a:rPr sz="1200" b="0">
                <a:solidFill>
                  <a:srgbClr val="FFFFFF"/>
                </a:solidFill>
                <a:latin typeface="Courier New"/>
              </a:rPr>
              <a:t>  selector:     string    // current best</a:t>
            </a:r>
          </a:p>
          <a:p>
            <a:pPr algn="l">
              <a:lnSpc>
                <a:spcPts val="1500"/>
              </a:lnSpc>
            </a:pPr>
            <a:r>
              <a:rPr sz="1200" b="0">
                <a:solidFill>
                  <a:srgbClr val="FFFFFF"/>
                </a:solidFill>
                <a:latin typeface="Courier New"/>
              </a:rPr>
              <a:t>  fallbacks:    string[]  // previous selectors, newest first</a:t>
            </a:r>
          </a:p>
          <a:p>
            <a:pPr algn="l">
              <a:lnSpc>
                <a:spcPts val="1500"/>
              </a:lnSpc>
            </a:pPr>
            <a:r>
              <a:rPr sz="1200" b="0">
                <a:solidFill>
                  <a:srgbClr val="FFFFFF"/>
                </a:solidFill>
                <a:latin typeface="Courier New"/>
              </a:rPr>
              <a:t>  healCount:    number    // how many times auto-healed</a:t>
            </a:r>
          </a:p>
          <a:p>
            <a:pPr algn="l">
              <a:lnSpc>
                <a:spcPts val="1500"/>
              </a:lnSpc>
            </a:pPr>
            <a:r>
              <a:rPr sz="1200" b="0">
                <a:solidFill>
                  <a:srgbClr val="FFFFFF"/>
                </a:solidFill>
                <a:latin typeface="Courier New"/>
              </a:rPr>
              <a:t>  lastVerified: string    // ISO timestamp of last passing run</a:t>
            </a:r>
          </a:p>
          <a:p>
            <a:pPr algn="l">
              <a:lnSpc>
                <a:spcPts val="1500"/>
              </a:lnSpc>
            </a:pPr>
            <a:r>
              <a:rPr sz="1200" b="0">
                <a:solidFill>
                  <a:srgbClr val="FFFFFF"/>
                </a:solidFill>
                <a:latin typeface="Courier New"/>
              </a:rPr>
              <a:t>  lastHealed?:  string    // ISO timestamp of last heal event</a:t>
            </a:r>
          </a:p>
          <a:p>
            <a:pPr algn="l">
              <a:lnSpc>
                <a:spcPts val="1500"/>
              </a:lnSpc>
            </a:pPr>
            <a:r>
              <a:rPr sz="1200" b="0">
                <a:solidFill>
                  <a:srgbClr val="FFFFFF"/>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8B949E"/>
                </a:solidFill>
                <a:latin typeface="Courier New"/>
              </a:rPr>
              <a:t>// Seed data for the web-detective app:</a:t>
            </a:r>
          </a:p>
          <a:p>
            <a:pPr algn="l">
              <a:lnSpc>
                <a:spcPts val="1500"/>
              </a:lnSpc>
            </a:pPr>
            <a:r>
              <a:rPr sz="1200" b="0">
                <a:solidFill>
                  <a:srgbClr val="FFFFFF"/>
                </a:solidFill>
                <a:latin typeface="Courier New"/>
              </a:rPr>
              <a:t>['login.emailInput',     'label:has-text("Email address") + input'],</a:t>
            </a:r>
          </a:p>
          <a:p>
            <a:pPr algn="l">
              <a:lnSpc>
                <a:spcPts val="1500"/>
              </a:lnSpc>
            </a:pPr>
            <a:r>
              <a:rPr sz="1200" b="0">
                <a:solidFill>
                  <a:srgbClr val="FFFFFF"/>
                </a:solidFill>
                <a:latin typeface="Courier New"/>
              </a:rPr>
              <a:t>['login.submitButton',   'button:has-text("Sign In")'],</a:t>
            </a:r>
          </a:p>
          <a:p>
            <a:pPr algn="l">
              <a:lnSpc>
                <a:spcPts val="1500"/>
              </a:lnSpc>
            </a:pPr>
            <a:r>
              <a:rPr sz="1200" b="0">
                <a:solidFill>
                  <a:srgbClr val="FFFFFF"/>
                </a:solidFill>
                <a:latin typeface="Courier New"/>
              </a:rPr>
              <a:t>['dashboard.statCards',  '.stat-card'],</a:t>
            </a:r>
          </a:p>
          <a:p>
            <a:pPr algn="l">
              <a:lnSpc>
                <a:spcPts val="1500"/>
              </a:lnSpc>
            </a:pPr>
            <a:r>
              <a:rPr sz="1200" b="0">
                <a:solidFill>
                  <a:srgbClr val="FFFFFF"/>
                </a:solidFill>
                <a:latin typeface="Courier New"/>
              </a:rPr>
              <a:t>['products.searchInput', 'input[placeholder*="Search"]'],</a:t>
            </a:r>
          </a:p>
          <a:p>
            <a:pPr algn="l">
              <a:lnSpc>
                <a:spcPts val="1500"/>
              </a:lnSpc>
            </a:pPr>
            <a:r>
              <a:rPr sz="1200" b="0">
                <a:solidFill>
                  <a:srgbClr val="FFFFFF"/>
                </a:solidFill>
                <a:latin typeface="Courier New"/>
              </a:rPr>
              <a:t/>
            </a:r>
          </a:p>
          <a:p>
            <a:pPr algn="l">
              <a:lnSpc>
                <a:spcPts val="1500"/>
              </a:lnSpc>
            </a:pPr>
            <a:r>
              <a:rPr sz="1200" b="0">
                <a:solidFill>
                  <a:srgbClr val="39D353"/>
                </a:solidFill>
                <a:latin typeface="Courier New"/>
              </a:rPr>
              <a:t>store.heal('login.submitButton', 'button[type="submit"]')</a:t>
            </a:r>
          </a:p>
          <a:p>
            <a:pPr algn="l">
              <a:lnSpc>
                <a:spcPts val="1500"/>
              </a:lnSpc>
            </a:pPr>
            <a:r>
              <a:rPr sz="1200" b="0">
                <a:solidFill>
                  <a:srgbClr val="8B949E"/>
                </a:solidFill>
                <a:latin typeface="Courier New"/>
              </a:rPr>
              <a:t>// → promotes new selector, demotes old to fallbacks, healCount += 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78466"/>
                </a:solidFill>
              </a:rPr>
              <a:t>CH 4</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The Self-Healing Loop — 6 Steps</a:t>
            </a:r>
          </a:p>
        </p:txBody>
      </p:sp>
      <p:sp>
        <p:nvSpPr>
          <p:cNvPr id="6" name="Rectangle 5"/>
          <p:cNvSpPr/>
          <p:nvPr/>
        </p:nvSpPr>
        <p:spPr>
          <a:xfrm>
            <a:off x="274320" y="680000"/>
            <a:ext cx="1873385" cy="26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80000"/>
            <a:ext cx="1873385" cy="50000"/>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14320" y="780000"/>
            <a:ext cx="1793385" cy="350000"/>
          </a:xfrm>
          <a:prstGeom prst="rect">
            <a:avLst/>
          </a:prstGeom>
          <a:noFill/>
        </p:spPr>
        <p:txBody>
          <a:bodyPr wrap="square">
            <a:spAutoFit/>
          </a:bodyPr>
          <a:lstStyle/>
          <a:p>
            <a:pPr algn="ctr"/>
            <a:r>
              <a:rPr sz="2600" b="1">
                <a:solidFill>
                  <a:srgbClr val="F78466"/>
                </a:solidFill>
              </a:rPr>
              <a:t>1</a:t>
            </a:r>
          </a:p>
        </p:txBody>
      </p:sp>
      <p:sp>
        <p:nvSpPr>
          <p:cNvPr id="9" name="TextBox 8"/>
          <p:cNvSpPr txBox="1"/>
          <p:nvPr/>
        </p:nvSpPr>
        <p:spPr>
          <a:xfrm>
            <a:off x="314320" y="1160000"/>
            <a:ext cx="1793385" cy="350000"/>
          </a:xfrm>
          <a:prstGeom prst="rect">
            <a:avLst/>
          </a:prstGeom>
          <a:noFill/>
        </p:spPr>
        <p:txBody>
          <a:bodyPr wrap="square">
            <a:spAutoFit/>
          </a:bodyPr>
          <a:lstStyle/>
          <a:p>
            <a:pPr algn="ctr"/>
            <a:r>
              <a:rPr sz="1400" b="1">
                <a:solidFill>
                  <a:srgbClr val="FFFFFF"/>
                </a:solidFill>
              </a:rPr>
              <a:t>Miss</a:t>
            </a:r>
          </a:p>
        </p:txBody>
      </p:sp>
      <p:sp>
        <p:nvSpPr>
          <p:cNvPr id="10" name="TextBox 9"/>
          <p:cNvSpPr txBox="1"/>
          <p:nvPr/>
        </p:nvSpPr>
        <p:spPr>
          <a:xfrm>
            <a:off x="314320" y="1540000"/>
            <a:ext cx="1793385" cy="1640000"/>
          </a:xfrm>
          <a:prstGeom prst="rect">
            <a:avLst/>
          </a:prstGeom>
          <a:noFill/>
        </p:spPr>
        <p:txBody>
          <a:bodyPr wrap="square">
            <a:spAutoFit/>
          </a:bodyPr>
          <a:lstStyle/>
          <a:p>
            <a:pPr algn="ctr"/>
            <a:r>
              <a:rPr sz="1100" b="0">
                <a:solidFill>
                  <a:srgbClr val="8B949E"/>
                </a:solidFill>
              </a:rPr>
              <a:t>Selector not found on page</a:t>
            </a:r>
          </a:p>
        </p:txBody>
      </p:sp>
      <p:sp>
        <p:nvSpPr>
          <p:cNvPr id="11" name="TextBox 10"/>
          <p:cNvSpPr txBox="1"/>
          <p:nvPr/>
        </p:nvSpPr>
        <p:spPr>
          <a:xfrm>
            <a:off x="2157705" y="1880000"/>
            <a:ext cx="60000" cy="200000"/>
          </a:xfrm>
          <a:prstGeom prst="rect">
            <a:avLst/>
          </a:prstGeom>
          <a:noFill/>
        </p:spPr>
        <p:txBody>
          <a:bodyPr wrap="square">
            <a:spAutoFit/>
          </a:bodyPr>
          <a:lstStyle/>
          <a:p>
            <a:pPr algn="l"/>
            <a:r>
              <a:rPr sz="1600" b="1">
                <a:solidFill>
                  <a:srgbClr val="F78466"/>
                </a:solidFill>
              </a:rPr>
              <a:t>→</a:t>
            </a:r>
          </a:p>
        </p:txBody>
      </p:sp>
      <p:sp>
        <p:nvSpPr>
          <p:cNvPr id="12" name="Rectangle 11"/>
          <p:cNvSpPr/>
          <p:nvPr/>
        </p:nvSpPr>
        <p:spPr>
          <a:xfrm>
            <a:off x="2227705" y="680000"/>
            <a:ext cx="1873385" cy="26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27705" y="680000"/>
            <a:ext cx="1873385" cy="5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67705" y="780000"/>
            <a:ext cx="1793385" cy="350000"/>
          </a:xfrm>
          <a:prstGeom prst="rect">
            <a:avLst/>
          </a:prstGeom>
          <a:noFill/>
        </p:spPr>
        <p:txBody>
          <a:bodyPr wrap="square">
            <a:spAutoFit/>
          </a:bodyPr>
          <a:lstStyle/>
          <a:p>
            <a:pPr algn="ctr"/>
            <a:r>
              <a:rPr sz="2600" b="1">
                <a:solidFill>
                  <a:srgbClr val="58A6FF"/>
                </a:solidFill>
              </a:rPr>
              <a:t>2</a:t>
            </a:r>
          </a:p>
        </p:txBody>
      </p:sp>
      <p:sp>
        <p:nvSpPr>
          <p:cNvPr id="15" name="TextBox 14"/>
          <p:cNvSpPr txBox="1"/>
          <p:nvPr/>
        </p:nvSpPr>
        <p:spPr>
          <a:xfrm>
            <a:off x="2267705" y="1160000"/>
            <a:ext cx="1793385" cy="350000"/>
          </a:xfrm>
          <a:prstGeom prst="rect">
            <a:avLst/>
          </a:prstGeom>
          <a:noFill/>
        </p:spPr>
        <p:txBody>
          <a:bodyPr wrap="square">
            <a:spAutoFit/>
          </a:bodyPr>
          <a:lstStyle/>
          <a:p>
            <a:pPr algn="ctr"/>
            <a:r>
              <a:rPr sz="1400" b="1">
                <a:solidFill>
                  <a:srgbClr val="FFFFFF"/>
                </a:solidFill>
              </a:rPr>
              <a:t>Snapshot</a:t>
            </a:r>
          </a:p>
        </p:txBody>
      </p:sp>
      <p:sp>
        <p:nvSpPr>
          <p:cNvPr id="16" name="TextBox 15"/>
          <p:cNvSpPr txBox="1"/>
          <p:nvPr/>
        </p:nvSpPr>
        <p:spPr>
          <a:xfrm>
            <a:off x="2267705" y="1540000"/>
            <a:ext cx="1793385" cy="1640000"/>
          </a:xfrm>
          <a:prstGeom prst="rect">
            <a:avLst/>
          </a:prstGeom>
          <a:noFill/>
        </p:spPr>
        <p:txBody>
          <a:bodyPr wrap="square">
            <a:spAutoFit/>
          </a:bodyPr>
          <a:lstStyle/>
          <a:p>
            <a:pPr algn="ctr"/>
            <a:r>
              <a:rPr sz="1100" b="0">
                <a:solidFill>
                  <a:srgbClr val="8B949E"/>
                </a:solidFill>
              </a:rPr>
              <a:t>page.locator('body').ariaSnapshot()</a:t>
            </a:r>
          </a:p>
        </p:txBody>
      </p:sp>
      <p:sp>
        <p:nvSpPr>
          <p:cNvPr id="17" name="TextBox 16"/>
          <p:cNvSpPr txBox="1"/>
          <p:nvPr/>
        </p:nvSpPr>
        <p:spPr>
          <a:xfrm>
            <a:off x="4111090" y="1880000"/>
            <a:ext cx="60000" cy="200000"/>
          </a:xfrm>
          <a:prstGeom prst="rect">
            <a:avLst/>
          </a:prstGeom>
          <a:noFill/>
        </p:spPr>
        <p:txBody>
          <a:bodyPr wrap="square">
            <a:spAutoFit/>
          </a:bodyPr>
          <a:lstStyle/>
          <a:p>
            <a:pPr algn="l"/>
            <a:r>
              <a:rPr sz="1600" b="1">
                <a:solidFill>
                  <a:srgbClr val="58A6FF"/>
                </a:solidFill>
              </a:rPr>
              <a:t>→</a:t>
            </a:r>
          </a:p>
        </p:txBody>
      </p:sp>
      <p:sp>
        <p:nvSpPr>
          <p:cNvPr id="18" name="Rectangle 17"/>
          <p:cNvSpPr/>
          <p:nvPr/>
        </p:nvSpPr>
        <p:spPr>
          <a:xfrm>
            <a:off x="4181090" y="680000"/>
            <a:ext cx="1873385" cy="26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81090" y="680000"/>
            <a:ext cx="1873385" cy="5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21090" y="780000"/>
            <a:ext cx="1793385" cy="350000"/>
          </a:xfrm>
          <a:prstGeom prst="rect">
            <a:avLst/>
          </a:prstGeom>
          <a:noFill/>
        </p:spPr>
        <p:txBody>
          <a:bodyPr wrap="square">
            <a:spAutoFit/>
          </a:bodyPr>
          <a:lstStyle/>
          <a:p>
            <a:pPr algn="ctr"/>
            <a:r>
              <a:rPr sz="2600" b="1">
                <a:solidFill>
                  <a:srgbClr val="D2A8FF"/>
                </a:solidFill>
              </a:rPr>
              <a:t>3</a:t>
            </a:r>
          </a:p>
        </p:txBody>
      </p:sp>
      <p:sp>
        <p:nvSpPr>
          <p:cNvPr id="21" name="TextBox 20"/>
          <p:cNvSpPr txBox="1"/>
          <p:nvPr/>
        </p:nvSpPr>
        <p:spPr>
          <a:xfrm>
            <a:off x="4221090" y="1160000"/>
            <a:ext cx="1793385" cy="350000"/>
          </a:xfrm>
          <a:prstGeom prst="rect">
            <a:avLst/>
          </a:prstGeom>
          <a:noFill/>
        </p:spPr>
        <p:txBody>
          <a:bodyPr wrap="square">
            <a:spAutoFit/>
          </a:bodyPr>
          <a:lstStyle/>
          <a:p>
            <a:pPr algn="ctr"/>
            <a:r>
              <a:rPr sz="1400" b="1">
                <a:solidFill>
                  <a:srgbClr val="FFFFFF"/>
                </a:solidFill>
              </a:rPr>
              <a:t>Ask LLM</a:t>
            </a:r>
          </a:p>
        </p:txBody>
      </p:sp>
      <p:sp>
        <p:nvSpPr>
          <p:cNvPr id="22" name="TextBox 21"/>
          <p:cNvSpPr txBox="1"/>
          <p:nvPr/>
        </p:nvSpPr>
        <p:spPr>
          <a:xfrm>
            <a:off x="4221090" y="1540000"/>
            <a:ext cx="1793385" cy="1640000"/>
          </a:xfrm>
          <a:prstGeom prst="rect">
            <a:avLst/>
          </a:prstGeom>
          <a:noFill/>
        </p:spPr>
        <p:txBody>
          <a:bodyPr wrap="square">
            <a:spAutoFit/>
          </a:bodyPr>
          <a:lstStyle/>
          <a:p>
            <a:pPr algn="ctr"/>
            <a:r>
              <a:rPr sz="1100" b="0">
                <a:solidFill>
                  <a:srgbClr val="8B949E"/>
                </a:solidFill>
              </a:rPr>
              <a:t>Propose 3-5 alternatives ranked by stability</a:t>
            </a:r>
          </a:p>
        </p:txBody>
      </p:sp>
      <p:sp>
        <p:nvSpPr>
          <p:cNvPr id="23" name="TextBox 22"/>
          <p:cNvSpPr txBox="1"/>
          <p:nvPr/>
        </p:nvSpPr>
        <p:spPr>
          <a:xfrm>
            <a:off x="6064475" y="1880000"/>
            <a:ext cx="60000" cy="200000"/>
          </a:xfrm>
          <a:prstGeom prst="rect">
            <a:avLst/>
          </a:prstGeom>
          <a:noFill/>
        </p:spPr>
        <p:txBody>
          <a:bodyPr wrap="square">
            <a:spAutoFit/>
          </a:bodyPr>
          <a:lstStyle/>
          <a:p>
            <a:pPr algn="l"/>
            <a:r>
              <a:rPr sz="1600" b="1">
                <a:solidFill>
                  <a:srgbClr val="D2A8FF"/>
                </a:solidFill>
              </a:rPr>
              <a:t>→</a:t>
            </a:r>
          </a:p>
        </p:txBody>
      </p:sp>
      <p:sp>
        <p:nvSpPr>
          <p:cNvPr id="24" name="Rectangle 23"/>
          <p:cNvSpPr/>
          <p:nvPr/>
        </p:nvSpPr>
        <p:spPr>
          <a:xfrm>
            <a:off x="6134475" y="680000"/>
            <a:ext cx="1873385" cy="26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34475" y="680000"/>
            <a:ext cx="1873385" cy="50000"/>
          </a:xfrm>
          <a:prstGeom prst="rect">
            <a:avLst/>
          </a:prstGeom>
          <a:solidFill>
            <a:srgbClr val="E3B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4475" y="780000"/>
            <a:ext cx="1793385" cy="350000"/>
          </a:xfrm>
          <a:prstGeom prst="rect">
            <a:avLst/>
          </a:prstGeom>
          <a:noFill/>
        </p:spPr>
        <p:txBody>
          <a:bodyPr wrap="square">
            <a:spAutoFit/>
          </a:bodyPr>
          <a:lstStyle/>
          <a:p>
            <a:pPr algn="ctr"/>
            <a:r>
              <a:rPr sz="2600" b="1">
                <a:solidFill>
                  <a:srgbClr val="E3B341"/>
                </a:solidFill>
              </a:rPr>
              <a:t>4</a:t>
            </a:r>
          </a:p>
        </p:txBody>
      </p:sp>
      <p:sp>
        <p:nvSpPr>
          <p:cNvPr id="27" name="TextBox 26"/>
          <p:cNvSpPr txBox="1"/>
          <p:nvPr/>
        </p:nvSpPr>
        <p:spPr>
          <a:xfrm>
            <a:off x="6174475" y="1160000"/>
            <a:ext cx="1793385" cy="350000"/>
          </a:xfrm>
          <a:prstGeom prst="rect">
            <a:avLst/>
          </a:prstGeom>
          <a:noFill/>
        </p:spPr>
        <p:txBody>
          <a:bodyPr wrap="square">
            <a:spAutoFit/>
          </a:bodyPr>
          <a:lstStyle/>
          <a:p>
            <a:pPr algn="ctr"/>
            <a:r>
              <a:rPr sz="1400" b="1">
                <a:solidFill>
                  <a:srgbClr val="FFFFFF"/>
                </a:solidFill>
              </a:rPr>
              <a:t>Validate</a:t>
            </a:r>
          </a:p>
        </p:txBody>
      </p:sp>
      <p:sp>
        <p:nvSpPr>
          <p:cNvPr id="28" name="TextBox 27"/>
          <p:cNvSpPr txBox="1"/>
          <p:nvPr/>
        </p:nvSpPr>
        <p:spPr>
          <a:xfrm>
            <a:off x="6174475" y="1540000"/>
            <a:ext cx="1793385" cy="1640000"/>
          </a:xfrm>
          <a:prstGeom prst="rect">
            <a:avLst/>
          </a:prstGeom>
          <a:noFill/>
        </p:spPr>
        <p:txBody>
          <a:bodyPr wrap="square">
            <a:spAutoFit/>
          </a:bodyPr>
          <a:lstStyle/>
          <a:p>
            <a:pPr algn="ctr"/>
            <a:r>
              <a:rPr sz="1100" b="0">
                <a:solidFill>
                  <a:srgbClr val="8B949E"/>
                </a:solidFill>
              </a:rPr>
              <a:t>Try each candidate on live DOM</a:t>
            </a:r>
          </a:p>
        </p:txBody>
      </p:sp>
      <p:sp>
        <p:nvSpPr>
          <p:cNvPr id="29" name="TextBox 28"/>
          <p:cNvSpPr txBox="1"/>
          <p:nvPr/>
        </p:nvSpPr>
        <p:spPr>
          <a:xfrm>
            <a:off x="8017860" y="1880000"/>
            <a:ext cx="60000" cy="200000"/>
          </a:xfrm>
          <a:prstGeom prst="rect">
            <a:avLst/>
          </a:prstGeom>
          <a:noFill/>
        </p:spPr>
        <p:txBody>
          <a:bodyPr wrap="square">
            <a:spAutoFit/>
          </a:bodyPr>
          <a:lstStyle/>
          <a:p>
            <a:pPr algn="l"/>
            <a:r>
              <a:rPr sz="1600" b="1">
                <a:solidFill>
                  <a:srgbClr val="E3B341"/>
                </a:solidFill>
              </a:rPr>
              <a:t>→</a:t>
            </a:r>
          </a:p>
        </p:txBody>
      </p:sp>
      <p:sp>
        <p:nvSpPr>
          <p:cNvPr id="30" name="Rectangle 29"/>
          <p:cNvSpPr/>
          <p:nvPr/>
        </p:nvSpPr>
        <p:spPr>
          <a:xfrm>
            <a:off x="8087860" y="680000"/>
            <a:ext cx="1873385" cy="26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87860" y="680000"/>
            <a:ext cx="1873385" cy="50000"/>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127860" y="780000"/>
            <a:ext cx="1793385" cy="350000"/>
          </a:xfrm>
          <a:prstGeom prst="rect">
            <a:avLst/>
          </a:prstGeom>
          <a:noFill/>
        </p:spPr>
        <p:txBody>
          <a:bodyPr wrap="square">
            <a:spAutoFit/>
          </a:bodyPr>
          <a:lstStyle/>
          <a:p>
            <a:pPr algn="ctr"/>
            <a:r>
              <a:rPr sz="2600" b="1">
                <a:solidFill>
                  <a:srgbClr val="39D353"/>
                </a:solidFill>
              </a:rPr>
              <a:t>5</a:t>
            </a:r>
          </a:p>
        </p:txBody>
      </p:sp>
      <p:sp>
        <p:nvSpPr>
          <p:cNvPr id="33" name="TextBox 32"/>
          <p:cNvSpPr txBox="1"/>
          <p:nvPr/>
        </p:nvSpPr>
        <p:spPr>
          <a:xfrm>
            <a:off x="8127860" y="1160000"/>
            <a:ext cx="1793385" cy="350000"/>
          </a:xfrm>
          <a:prstGeom prst="rect">
            <a:avLst/>
          </a:prstGeom>
          <a:noFill/>
        </p:spPr>
        <p:txBody>
          <a:bodyPr wrap="square">
            <a:spAutoFit/>
          </a:bodyPr>
          <a:lstStyle/>
          <a:p>
            <a:pPr algn="ctr"/>
            <a:r>
              <a:rPr sz="1400" b="1">
                <a:solidFill>
                  <a:srgbClr val="FFFFFF"/>
                </a:solidFill>
              </a:rPr>
              <a:t>Persist</a:t>
            </a:r>
          </a:p>
        </p:txBody>
      </p:sp>
      <p:sp>
        <p:nvSpPr>
          <p:cNvPr id="34" name="TextBox 33"/>
          <p:cNvSpPr txBox="1"/>
          <p:nvPr/>
        </p:nvSpPr>
        <p:spPr>
          <a:xfrm>
            <a:off x="8127860" y="1540000"/>
            <a:ext cx="1793385" cy="1640000"/>
          </a:xfrm>
          <a:prstGeom prst="rect">
            <a:avLst/>
          </a:prstGeom>
          <a:noFill/>
        </p:spPr>
        <p:txBody>
          <a:bodyPr wrap="square">
            <a:spAutoFit/>
          </a:bodyPr>
          <a:lstStyle/>
          <a:p>
            <a:pPr algn="ctr"/>
            <a:r>
              <a:rPr sz="1100" b="0">
                <a:solidFill>
                  <a:srgbClr val="8B949E"/>
                </a:solidFill>
              </a:rPr>
              <a:t>store.heal(key, winner)</a:t>
            </a:r>
          </a:p>
        </p:txBody>
      </p:sp>
      <p:sp>
        <p:nvSpPr>
          <p:cNvPr id="35" name="TextBox 34"/>
          <p:cNvSpPr txBox="1"/>
          <p:nvPr/>
        </p:nvSpPr>
        <p:spPr>
          <a:xfrm>
            <a:off x="9971245" y="1880000"/>
            <a:ext cx="60000" cy="200000"/>
          </a:xfrm>
          <a:prstGeom prst="rect">
            <a:avLst/>
          </a:prstGeom>
          <a:noFill/>
        </p:spPr>
        <p:txBody>
          <a:bodyPr wrap="square">
            <a:spAutoFit/>
          </a:bodyPr>
          <a:lstStyle/>
          <a:p>
            <a:pPr algn="l"/>
            <a:r>
              <a:rPr sz="1600" b="1">
                <a:solidFill>
                  <a:srgbClr val="39D353"/>
                </a:solidFill>
              </a:rPr>
              <a:t>→</a:t>
            </a:r>
          </a:p>
        </p:txBody>
      </p:sp>
      <p:sp>
        <p:nvSpPr>
          <p:cNvPr id="36" name="Rectangle 35"/>
          <p:cNvSpPr/>
          <p:nvPr/>
        </p:nvSpPr>
        <p:spPr>
          <a:xfrm>
            <a:off x="10041245" y="680000"/>
            <a:ext cx="1873385" cy="26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41245" y="680000"/>
            <a:ext cx="1873385" cy="50000"/>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81245" y="780000"/>
            <a:ext cx="1793385" cy="350000"/>
          </a:xfrm>
          <a:prstGeom prst="rect">
            <a:avLst/>
          </a:prstGeom>
          <a:noFill/>
        </p:spPr>
        <p:txBody>
          <a:bodyPr wrap="square">
            <a:spAutoFit/>
          </a:bodyPr>
          <a:lstStyle/>
          <a:p>
            <a:pPr algn="ctr"/>
            <a:r>
              <a:rPr sz="2600" b="1">
                <a:solidFill>
                  <a:srgbClr val="39D353"/>
                </a:solidFill>
              </a:rPr>
              <a:t>6</a:t>
            </a:r>
          </a:p>
        </p:txBody>
      </p:sp>
      <p:sp>
        <p:nvSpPr>
          <p:cNvPr id="39" name="TextBox 38"/>
          <p:cNvSpPr txBox="1"/>
          <p:nvPr/>
        </p:nvSpPr>
        <p:spPr>
          <a:xfrm>
            <a:off x="10081245" y="1160000"/>
            <a:ext cx="1793385" cy="350000"/>
          </a:xfrm>
          <a:prstGeom prst="rect">
            <a:avLst/>
          </a:prstGeom>
          <a:noFill/>
        </p:spPr>
        <p:txBody>
          <a:bodyPr wrap="square">
            <a:spAutoFit/>
          </a:bodyPr>
          <a:lstStyle/>
          <a:p>
            <a:pPr algn="ctr"/>
            <a:r>
              <a:rPr sz="1400" b="1">
                <a:solidFill>
                  <a:srgbClr val="FFFFFF"/>
                </a:solidFill>
              </a:rPr>
              <a:t>Continue</a:t>
            </a:r>
          </a:p>
        </p:txBody>
      </p:sp>
      <p:sp>
        <p:nvSpPr>
          <p:cNvPr id="40" name="TextBox 39"/>
          <p:cNvSpPr txBox="1"/>
          <p:nvPr/>
        </p:nvSpPr>
        <p:spPr>
          <a:xfrm>
            <a:off x="10081245" y="1540000"/>
            <a:ext cx="1793385" cy="1640000"/>
          </a:xfrm>
          <a:prstGeom prst="rect">
            <a:avLst/>
          </a:prstGeom>
          <a:noFill/>
        </p:spPr>
        <p:txBody>
          <a:bodyPr wrap="square">
            <a:spAutoFit/>
          </a:bodyPr>
          <a:lstStyle/>
          <a:p>
            <a:pPr algn="ctr"/>
            <a:r>
              <a:rPr sz="1100" b="0">
                <a:solidFill>
                  <a:srgbClr val="8B949E"/>
                </a:solidFill>
              </a:rPr>
              <a:t>Return winner — test proceeds</a:t>
            </a:r>
          </a:p>
        </p:txBody>
      </p:sp>
      <p:sp>
        <p:nvSpPr>
          <p:cNvPr id="41" name="Rectangle 40"/>
          <p:cNvSpPr/>
          <p:nvPr/>
        </p:nvSpPr>
        <p:spPr>
          <a:xfrm>
            <a:off x="274320" y="3430000"/>
            <a:ext cx="11640312" cy="24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02920" y="3530000"/>
            <a:ext cx="11183112" cy="320000"/>
          </a:xfrm>
          <a:prstGeom prst="rect">
            <a:avLst/>
          </a:prstGeom>
          <a:noFill/>
        </p:spPr>
        <p:txBody>
          <a:bodyPr wrap="square">
            <a:spAutoFit/>
          </a:bodyPr>
          <a:lstStyle/>
          <a:p>
            <a:pPr algn="l"/>
            <a:r>
              <a:rPr sz="1500" b="1">
                <a:solidFill>
                  <a:srgbClr val="F78466"/>
                </a:solidFill>
              </a:rPr>
              <a:t>LLM Prompt (self-healer.ts)</a:t>
            </a:r>
          </a:p>
        </p:txBody>
      </p:sp>
      <p:sp>
        <p:nvSpPr>
          <p:cNvPr id="43" name="TextBox 42"/>
          <p:cNvSpPr txBox="1"/>
          <p:nvPr/>
        </p:nvSpPr>
        <p:spPr>
          <a:xfrm>
            <a:off x="502920" y="3900000"/>
            <a:ext cx="11183112" cy="1700000"/>
          </a:xfrm>
          <a:prstGeom prst="rect">
            <a:avLst/>
          </a:prstGeom>
          <a:noFill/>
        </p:spPr>
        <p:txBody>
          <a:bodyPr wrap="square">
            <a:spAutoFit/>
          </a:bodyPr>
          <a:lstStyle/>
          <a:p>
            <a:pPr algn="l"/>
            <a:r>
              <a:rPr sz="1200" b="0">
                <a:solidFill>
                  <a:srgbClr val="8B949E"/>
                </a:solidFill>
                <a:latin typeface="Courier New"/>
              </a:rPr>
              <a:t>system: "Given a broken selector and the current accessibility tree,", </a:t>
            </a:r>
          </a:p>
          <a:p>
            <a:pPr algn="l"/>
            <a:r>
              <a:rPr sz="1200" b="0">
                <a:solidFill>
                  <a:srgbClr val="8B949E"/>
                </a:solidFill>
                <a:latin typeface="Courier New"/>
              </a:rPr>
              <a:t>"return a JSON array of 3-5 Playwright selectors. Prefer ARIA."</a:t>
            </a:r>
          </a:p>
          <a:p>
            <a:pPr algn="l"/>
            <a:r>
              <a:rPr sz="1200" b="0">
                <a:solidFill>
                  <a:srgbClr val="FFFFFF"/>
                </a:solidFill>
                <a:latin typeface="Courier New"/>
              </a:rPr>
              <a:t/>
            </a:r>
          </a:p>
          <a:p>
            <a:pPr algn="l"/>
            <a:r>
              <a:rPr sz="1200" b="0">
                <a:solidFill>
                  <a:srgbClr val="FFFFFF"/>
                </a:solidFill>
                <a:latin typeface="Courier New"/>
              </a:rPr>
              <a:t>user:  key: "login.submitButton"</a:t>
            </a:r>
          </a:p>
          <a:p>
            <a:pPr algn="l"/>
            <a:r>
              <a:rPr sz="1200" b="0">
                <a:solidFill>
                  <a:srgbClr val="FFFFFF"/>
                </a:solidFill>
                <a:latin typeface="Courier New"/>
              </a:rPr>
              <a:t>       brokenSelector: ".btn-login"</a:t>
            </a:r>
          </a:p>
          <a:p>
            <a:pPr algn="l"/>
            <a:r>
              <a:rPr sz="1200" b="0">
                <a:solidFill>
                  <a:srgbClr val="FFFFFF"/>
                </a:solidFill>
                <a:latin typeface="Courier New"/>
              </a:rPr>
              <a:t>       ariaTree: &lt;page snapshot capped at 4000 chars&gt;</a:t>
            </a:r>
          </a:p>
          <a:p>
            <a:pPr algn="l"/>
            <a:r>
              <a:rPr sz="1200" b="0">
                <a:solidFill>
                  <a:srgbClr val="FFFFFF"/>
                </a:solidFill>
                <a:latin typeface="Courier New"/>
              </a:rPr>
              <a:t/>
            </a:r>
          </a:p>
          <a:p>
            <a:pPr algn="l"/>
            <a:r>
              <a:rPr sz="1200" b="0">
                <a:solidFill>
                  <a:srgbClr val="39D353"/>
                </a:solidFill>
                <a:latin typeface="Courier New"/>
              </a:rPr>
              <a:t>response: ["button:has-text(\"Sign In\")", "button[type=\"submit\"]", "getByRole('button')"]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78466"/>
                </a:solidFill>
              </a:rPr>
              <a:t>CH 4</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SelfHealingAgent — heal() Method</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ch4-self-healing/self-healer.ts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async heal(page, key, brokenSelector): Promise&lt;HealResult&gt; {</a:t>
            </a:r>
          </a:p>
          <a:p>
            <a:pPr algn="l">
              <a:lnSpc>
                <a:spcPts val="1500"/>
              </a:lnSpc>
            </a:pPr>
            <a:r>
              <a:rPr sz="1200" b="0">
                <a:solidFill>
                  <a:srgbClr val="FFFFFF"/>
                </a:solidFill>
                <a:latin typeface="Courier New"/>
              </a:rPr>
              <a:t>  // Step 2: snapshot (cap at 4000 chars for token budget)</a:t>
            </a:r>
          </a:p>
          <a:p>
            <a:pPr algn="l">
              <a:lnSpc>
                <a:spcPts val="1500"/>
              </a:lnSpc>
            </a:pPr>
            <a:r>
              <a:rPr sz="1200" b="0">
                <a:solidFill>
                  <a:srgbClr val="FFFFFF"/>
                </a:solidFill>
                <a:latin typeface="Courier New"/>
              </a:rPr>
              <a:t>  const domText = (await page.locator('body')</a:t>
            </a:r>
          </a:p>
          <a:p>
            <a:pPr algn="l">
              <a:lnSpc>
                <a:spcPts val="1500"/>
              </a:lnSpc>
            </a:pPr>
            <a:r>
              <a:rPr sz="1200" b="0">
                <a:solidFill>
                  <a:srgbClr val="8B949E"/>
                </a:solidFill>
                <a:latin typeface="Courier New"/>
              </a:rPr>
              <a:t>    .ariaSnapshot()).slice(0, 4000)</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  // Step 3: ask LLM for alternatives</a:t>
            </a:r>
          </a:p>
          <a:p>
            <a:pPr algn="l">
              <a:lnSpc>
                <a:spcPts val="1500"/>
              </a:lnSpc>
            </a:pPr>
            <a:r>
              <a:rPr sz="1200" b="0">
                <a:solidFill>
                  <a:srgbClr val="FFFFFF"/>
                </a:solidFill>
                <a:latin typeface="Courier New"/>
              </a:rPr>
              <a:t>  const candidates = await this.askLLMForCandidates(</a:t>
            </a:r>
          </a:p>
          <a:p>
            <a:pPr algn="l">
              <a:lnSpc>
                <a:spcPts val="1500"/>
              </a:lnSpc>
            </a:pPr>
            <a:r>
              <a:rPr sz="1200" b="0">
                <a:solidFill>
                  <a:srgbClr val="FFFFFF"/>
                </a:solidFill>
                <a:latin typeface="Courier New"/>
              </a:rPr>
              <a:t>    key, brokenSelector, domText)</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  // Steps 4 + 5: validate each candidate</a:t>
            </a:r>
          </a:p>
          <a:p>
            <a:pPr algn="l">
              <a:lnSpc>
                <a:spcPts val="1500"/>
              </a:lnSpc>
            </a:pPr>
            <a:r>
              <a:rPr sz="1200" b="0">
                <a:solidFill>
                  <a:srgbClr val="FFFFFF"/>
                </a:solidFill>
                <a:latin typeface="Courier New"/>
              </a:rPr>
              <a:t>  for (const candidate of candidates) {</a:t>
            </a:r>
          </a:p>
          <a:p>
            <a:pPr algn="l">
              <a:lnSpc>
                <a:spcPts val="1500"/>
              </a:lnSpc>
            </a:pPr>
            <a:r>
              <a:rPr sz="1200" b="0">
                <a:solidFill>
                  <a:srgbClr val="FFFFFF"/>
                </a:solidFill>
                <a:latin typeface="Courier New"/>
              </a:rPr>
              <a:t>    const found = await page.locator(candidate)</a:t>
            </a:r>
          </a:p>
          <a:p>
            <a:pPr algn="l">
              <a:lnSpc>
                <a:spcPts val="1500"/>
              </a:lnSpc>
            </a:pPr>
            <a:r>
              <a:rPr sz="1200" b="0">
                <a:solidFill>
                  <a:srgbClr val="FFFFFF"/>
                </a:solidFill>
                <a:latin typeface="Courier New"/>
              </a:rPr>
              <a:t>      .isVisible().catch(() =&gt; false)</a:t>
            </a:r>
          </a:p>
          <a:p>
            <a:pPr algn="l">
              <a:lnSpc>
                <a:spcPts val="1500"/>
              </a:lnSpc>
            </a:pPr>
            <a:r>
              <a:rPr sz="1200" b="0">
                <a:solidFill>
                  <a:srgbClr val="FFFFFF"/>
                </a:solidFill>
                <a:latin typeface="Courier New"/>
              </a:rPr>
              <a:t>    if (found) {</a:t>
            </a:r>
          </a:p>
          <a:p>
            <a:pPr algn="l">
              <a:lnSpc>
                <a:spcPts val="1500"/>
              </a:lnSpc>
            </a:pPr>
            <a:r>
              <a:rPr sz="1200" b="0">
                <a:solidFill>
                  <a:srgbClr val="39D353"/>
                </a:solidFill>
                <a:latin typeface="Courier New"/>
              </a:rPr>
              <a:t>      this.store.heal(key, candidate)  // Step 5: persist</a:t>
            </a:r>
          </a:p>
          <a:p>
            <a:pPr algn="l">
              <a:lnSpc>
                <a:spcPts val="1500"/>
              </a:lnSpc>
            </a:pPr>
            <a:r>
              <a:rPr sz="1200" b="0">
                <a:solidFill>
                  <a:srgbClr val="39D353"/>
                </a:solidFill>
                <a:latin typeface="Courier New"/>
              </a:rPr>
              <a:t>      return { healed: true, newSelector: candidate, candidates }</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  }</a:t>
            </a:r>
          </a:p>
          <a:p>
            <a:pPr algn="l">
              <a:lnSpc>
                <a:spcPts val="1500"/>
              </a:lnSpc>
            </a:pPr>
            <a:r>
              <a:rPr sz="1200" b="0">
                <a:solidFill>
                  <a:srgbClr val="F78466"/>
                </a:solidFill>
                <a:latin typeface="Courier New"/>
              </a:rPr>
              <a:t>  return { healed: false, candidates }</a:t>
            </a:r>
          </a:p>
          <a:p>
            <a:pPr algn="l">
              <a:lnSpc>
                <a:spcPts val="1500"/>
              </a:lnSpc>
            </a:pPr>
            <a:r>
              <a:rPr sz="1200" b="0">
                <a:solidFill>
                  <a:srgbClr val="FFFFFF"/>
                </a:solidFill>
                <a:latin typeface="Courier New"/>
              </a:rPr>
              <a: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78466"/>
                </a:solidFill>
              </a:rPr>
              <a:t>CH 4</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Selector Stability Spectrum</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Most stable  →  least stable:</a:t>
            </a:r>
          </a:p>
          <a:p>
            <a:pPr algn="l">
              <a:lnSpc>
                <a:spcPts val="1800"/>
              </a:lnSpc>
            </a:pPr>
            <a:r>
              <a:rPr sz="1400" b="0">
                <a:solidFill>
                  <a:srgbClr val="FFFFFF"/>
                </a:solidFill>
              </a:rPr>
              <a:t/>
            </a:r>
          </a:p>
          <a:p>
            <a:pPr algn="l">
              <a:lnSpc>
                <a:spcPts val="1800"/>
              </a:lnSpc>
            </a:pPr>
            <a:r>
              <a:rPr sz="1400" b="0">
                <a:solidFill>
                  <a:srgbClr val="39D353"/>
                </a:solidFill>
              </a:rPr>
              <a:t>① ARIA role + accessible name        getByRole('button', {name:'Sign In'})</a:t>
            </a:r>
          </a:p>
          <a:p>
            <a:pPr algn="l">
              <a:lnSpc>
                <a:spcPts val="1800"/>
              </a:lnSpc>
            </a:pPr>
            <a:r>
              <a:rPr sz="1400" b="0">
                <a:solidFill>
                  <a:srgbClr val="8B949E"/>
                </a:solidFill>
              </a:rPr>
              <a:t>   Tied to user-visible semantics — survives CSS and DOM restructuring</a:t>
            </a:r>
          </a:p>
          <a:p>
            <a:pPr algn="l">
              <a:lnSpc>
                <a:spcPts val="1800"/>
              </a:lnSpc>
            </a:pPr>
            <a:r>
              <a:rPr sz="1400" b="0">
                <a:solidFill>
                  <a:srgbClr val="FFFFFF"/>
                </a:solidFill>
              </a:rPr>
              <a:t/>
            </a:r>
          </a:p>
          <a:p>
            <a:pPr algn="l">
              <a:lnSpc>
                <a:spcPts val="1800"/>
              </a:lnSpc>
            </a:pPr>
            <a:r>
              <a:rPr sz="1400" b="0">
                <a:solidFill>
                  <a:srgbClr val="39D353"/>
                </a:solidFill>
              </a:rPr>
              <a:t>② Label text                          getByLabel('Email address')</a:t>
            </a:r>
          </a:p>
          <a:p>
            <a:pPr algn="l">
              <a:lnSpc>
                <a:spcPts val="1800"/>
              </a:lnSpc>
            </a:pPr>
            <a:r>
              <a:rPr sz="1400" b="0">
                <a:solidFill>
                  <a:srgbClr val="8B949E"/>
                </a:solidFill>
              </a:rPr>
              <a:t>   Tied to form labelling — survives style changes</a:t>
            </a:r>
          </a:p>
          <a:p>
            <a:pPr algn="l">
              <a:lnSpc>
                <a:spcPts val="1800"/>
              </a:lnSpc>
            </a:pPr>
            <a:r>
              <a:rPr sz="1400" b="0">
                <a:solidFill>
                  <a:srgbClr val="FFFFFF"/>
                </a:solidFill>
              </a:rPr>
              <a:t/>
            </a:r>
          </a:p>
          <a:p>
            <a:pPr algn="l">
              <a:lnSpc>
                <a:spcPts val="1800"/>
              </a:lnSpc>
            </a:pPr>
            <a:r>
              <a:rPr sz="1400" b="0">
                <a:solidFill>
                  <a:srgbClr val="E3B341"/>
                </a:solidFill>
              </a:rPr>
              <a:t>③ Visible text / placeholder          getByText('Sign In') / getByPlaceholder()</a:t>
            </a:r>
          </a:p>
          <a:p>
            <a:pPr algn="l">
              <a:lnSpc>
                <a:spcPts val="1800"/>
              </a:lnSpc>
            </a:pPr>
            <a:r>
              <a:rPr sz="1400" b="0">
                <a:solidFill>
                  <a:srgbClr val="8B949E"/>
                </a:solidFill>
              </a:rPr>
              <a:t>   Breaks on copy changes</a:t>
            </a:r>
          </a:p>
          <a:p>
            <a:pPr algn="l">
              <a:lnSpc>
                <a:spcPts val="1800"/>
              </a:lnSpc>
            </a:pPr>
            <a:r>
              <a:rPr sz="1400" b="0">
                <a:solidFill>
                  <a:srgbClr val="FFFFFF"/>
                </a:solidFill>
              </a:rPr>
              <a:t/>
            </a:r>
          </a:p>
          <a:p>
            <a:pPr algn="l">
              <a:lnSpc>
                <a:spcPts val="1800"/>
              </a:lnSpc>
            </a:pPr>
            <a:r>
              <a:rPr sz="1400" b="0">
                <a:solidFill>
                  <a:srgbClr val="E3B341"/>
                </a:solidFill>
              </a:rPr>
              <a:t>④ Semantic CSS class                  locator('.nav-link')</a:t>
            </a:r>
          </a:p>
          <a:p>
            <a:pPr algn="l">
              <a:lnSpc>
                <a:spcPts val="1800"/>
              </a:lnSpc>
            </a:pPr>
            <a:r>
              <a:rPr sz="1400" b="0">
                <a:solidFill>
                  <a:srgbClr val="8B949E"/>
                </a:solidFill>
              </a:rPr>
              <a:t>   Survives DOM restructuring, breaks on class renames</a:t>
            </a:r>
          </a:p>
          <a:p>
            <a:pPr algn="l">
              <a:lnSpc>
                <a:spcPts val="1800"/>
              </a:lnSpc>
            </a:pPr>
            <a:r>
              <a:rPr sz="1400" b="0">
                <a:solidFill>
                  <a:srgbClr val="FFFFFF"/>
                </a:solidFill>
              </a:rPr>
              <a:t/>
            </a:r>
          </a:p>
          <a:p>
            <a:pPr algn="l">
              <a:lnSpc>
                <a:spcPts val="1800"/>
              </a:lnSpc>
            </a:pPr>
            <a:r>
              <a:rPr sz="1400" b="0">
                <a:solidFill>
                  <a:srgbClr val="E3B341"/>
                </a:solidFill>
              </a:rPr>
              <a:t>⑤ data-testid attribute               locator('[data-testid=submit]')</a:t>
            </a:r>
          </a:p>
          <a:p>
            <a:pPr algn="l">
              <a:lnSpc>
                <a:spcPts val="1800"/>
              </a:lnSpc>
            </a:pPr>
            <a:r>
              <a:rPr sz="1400" b="0">
                <a:solidFill>
                  <a:srgbClr val="8B949E"/>
                </a:solidFill>
              </a:rPr>
              <a:t>   Stable but requires dev discipline to maintain</a:t>
            </a:r>
          </a:p>
          <a:p>
            <a:pPr algn="l">
              <a:lnSpc>
                <a:spcPts val="1800"/>
              </a:lnSpc>
            </a:pPr>
            <a:r>
              <a:rPr sz="1400" b="0">
                <a:solidFill>
                  <a:srgbClr val="FFFFFF"/>
                </a:solidFill>
              </a:rPr>
              <a:t/>
            </a:r>
          </a:p>
          <a:p>
            <a:pPr algn="l">
              <a:lnSpc>
                <a:spcPts val="1800"/>
              </a:lnSpc>
            </a:pPr>
            <a:r>
              <a:rPr sz="1400" b="0">
                <a:solidFill>
                  <a:srgbClr val="FF7B72"/>
                </a:solidFill>
              </a:rPr>
              <a:t>⑥ Structural CSS / nth-child           .form &gt; div:nth-child(2) &gt; input</a:t>
            </a:r>
          </a:p>
          <a:p>
            <a:pPr algn="l">
              <a:lnSpc>
                <a:spcPts val="1800"/>
              </a:lnSpc>
            </a:pPr>
            <a:r>
              <a:rPr sz="1400" b="0">
                <a:solidFill>
                  <a:srgbClr val="FF7B72"/>
                </a:solidFill>
              </a:rPr>
              <a:t>   Breaks on any DOM reorder — never use in healer output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78466"/>
                </a:solidFill>
              </a:rPr>
              <a:t>CH 4</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Discussion Questions</a:t>
            </a:r>
          </a:p>
        </p:txBody>
      </p:sp>
      <p:sp>
        <p:nvSpPr>
          <p:cNvPr id="6" name="Rectangle 5"/>
          <p:cNvSpPr/>
          <p:nvPr/>
        </p:nvSpPr>
        <p:spPr>
          <a:xfrm>
            <a:off x="274320" y="700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60000"/>
            <a:ext cx="700000" cy="1866000"/>
          </a:xfrm>
          <a:prstGeom prst="rect">
            <a:avLst/>
          </a:prstGeom>
          <a:noFill/>
        </p:spPr>
        <p:txBody>
          <a:bodyPr wrap="square">
            <a:spAutoFit/>
          </a:bodyPr>
          <a:lstStyle/>
          <a:p>
            <a:pPr algn="ctr"/>
            <a:r>
              <a:rPr sz="2800" b="1">
                <a:solidFill>
                  <a:srgbClr val="F78466"/>
                </a:solidFill>
              </a:rPr>
              <a:t>1</a:t>
            </a:r>
          </a:p>
        </p:txBody>
      </p:sp>
      <p:sp>
        <p:nvSpPr>
          <p:cNvPr id="8" name="TextBox 7"/>
          <p:cNvSpPr txBox="1"/>
          <p:nvPr/>
        </p:nvSpPr>
        <p:spPr>
          <a:xfrm>
            <a:off x="1100000" y="780000"/>
            <a:ext cx="10788952" cy="1826000"/>
          </a:xfrm>
          <a:prstGeom prst="rect">
            <a:avLst/>
          </a:prstGeom>
          <a:noFill/>
        </p:spPr>
        <p:txBody>
          <a:bodyPr wrap="square">
            <a:spAutoFit/>
          </a:bodyPr>
          <a:lstStyle/>
          <a:p>
            <a:pPr algn="l"/>
            <a:r>
              <a:rPr sz="1400" b="0">
                <a:solidFill>
                  <a:srgbClr val="FFFFFF"/>
                </a:solidFill>
              </a:rPr>
              <a:t>LocatorStore.heal() promotes the new selector to primary and demotes the old one to fallbacks. When should the healer try the fallbacks before asking the LLM for new candidates?</a:t>
            </a:r>
          </a:p>
        </p:txBody>
      </p:sp>
      <p:sp>
        <p:nvSpPr>
          <p:cNvPr id="9" name="Rectangle 8"/>
          <p:cNvSpPr/>
          <p:nvPr/>
        </p:nvSpPr>
        <p:spPr>
          <a:xfrm>
            <a:off x="274320" y="2686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2746000"/>
            <a:ext cx="700000" cy="1866000"/>
          </a:xfrm>
          <a:prstGeom prst="rect">
            <a:avLst/>
          </a:prstGeom>
          <a:noFill/>
        </p:spPr>
        <p:txBody>
          <a:bodyPr wrap="square">
            <a:spAutoFit/>
          </a:bodyPr>
          <a:lstStyle/>
          <a:p>
            <a:pPr algn="ctr"/>
            <a:r>
              <a:rPr sz="2800" b="1">
                <a:solidFill>
                  <a:srgbClr val="F78466"/>
                </a:solidFill>
              </a:rPr>
              <a:t>2</a:t>
            </a:r>
          </a:p>
        </p:txBody>
      </p:sp>
      <p:sp>
        <p:nvSpPr>
          <p:cNvPr id="11" name="TextBox 10"/>
          <p:cNvSpPr txBox="1"/>
          <p:nvPr/>
        </p:nvSpPr>
        <p:spPr>
          <a:xfrm>
            <a:off x="1100000" y="2766000"/>
            <a:ext cx="10788952" cy="1826000"/>
          </a:xfrm>
          <a:prstGeom prst="rect">
            <a:avLst/>
          </a:prstGeom>
          <a:noFill/>
        </p:spPr>
        <p:txBody>
          <a:bodyPr wrap="square">
            <a:spAutoFit/>
          </a:bodyPr>
          <a:lstStyle/>
          <a:p>
            <a:pPr algn="l"/>
            <a:r>
              <a:rPr sz="1400" b="0">
                <a:solidFill>
                  <a:srgbClr val="FFFFFF"/>
                </a:solidFill>
              </a:rPr>
              <a:t>The LLM prompt asks for '3-5 alternative selectors ordered by stability'. What makes a selector stable and how could you score stability without running the tests?</a:t>
            </a:r>
          </a:p>
        </p:txBody>
      </p:sp>
      <p:sp>
        <p:nvSpPr>
          <p:cNvPr id="12" name="Rectangle 11"/>
          <p:cNvSpPr/>
          <p:nvPr/>
        </p:nvSpPr>
        <p:spPr>
          <a:xfrm>
            <a:off x="274320" y="4672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4732000"/>
            <a:ext cx="700000" cy="1866000"/>
          </a:xfrm>
          <a:prstGeom prst="rect">
            <a:avLst/>
          </a:prstGeom>
          <a:noFill/>
        </p:spPr>
        <p:txBody>
          <a:bodyPr wrap="square">
            <a:spAutoFit/>
          </a:bodyPr>
          <a:lstStyle/>
          <a:p>
            <a:pPr algn="ctr"/>
            <a:r>
              <a:rPr sz="2800" b="1">
                <a:solidFill>
                  <a:srgbClr val="F78466"/>
                </a:solidFill>
              </a:rPr>
              <a:t>3</a:t>
            </a:r>
          </a:p>
        </p:txBody>
      </p:sp>
      <p:sp>
        <p:nvSpPr>
          <p:cNvPr id="14" name="TextBox 13"/>
          <p:cNvSpPr txBox="1"/>
          <p:nvPr/>
        </p:nvSpPr>
        <p:spPr>
          <a:xfrm>
            <a:off x="1100000" y="4752000"/>
            <a:ext cx="10788952" cy="1826000"/>
          </a:xfrm>
          <a:prstGeom prst="rect">
            <a:avLst/>
          </a:prstGeom>
          <a:noFill/>
        </p:spPr>
        <p:txBody>
          <a:bodyPr wrap="square">
            <a:spAutoFit/>
          </a:bodyPr>
          <a:lstStyle/>
          <a:p>
            <a:pPr algn="l"/>
            <a:r>
              <a:rPr sz="1400" b="0">
                <a:solidFill>
                  <a:srgbClr val="FFFFFF"/>
                </a:solidFill>
              </a:rPr>
              <a:t>healCount tracks how many times a locator has been replaced. At what threshold would you flag a locator for manual review instead of auto-healing it again?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78466"/>
                </a:solidFill>
              </a:rPr>
              <a:t>CH 4</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Workshop Tasks</a:t>
            </a:r>
          </a:p>
        </p:txBody>
      </p:sp>
      <p:sp>
        <p:nvSpPr>
          <p:cNvPr id="6" name="Rectangle 5"/>
          <p:cNvSpPr/>
          <p:nvPr/>
        </p:nvSpPr>
        <p:spPr>
          <a:xfrm>
            <a:off x="274320" y="680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40000"/>
            <a:ext cx="800000" cy="1379500"/>
          </a:xfrm>
          <a:prstGeom prst="rect">
            <a:avLst/>
          </a:prstGeom>
          <a:noFill/>
        </p:spPr>
        <p:txBody>
          <a:bodyPr wrap="square">
            <a:spAutoFit/>
          </a:bodyPr>
          <a:lstStyle/>
          <a:p>
            <a:pPr algn="l"/>
            <a:r>
              <a:rPr sz="1300" b="1">
                <a:solidFill>
                  <a:srgbClr val="F78466"/>
                </a:solidFill>
              </a:rPr>
              <a:t>Task A</a:t>
            </a:r>
          </a:p>
        </p:txBody>
      </p:sp>
      <p:sp>
        <p:nvSpPr>
          <p:cNvPr id="8" name="TextBox 7"/>
          <p:cNvSpPr txBox="1"/>
          <p:nvPr/>
        </p:nvSpPr>
        <p:spPr>
          <a:xfrm>
            <a:off x="1200000" y="740000"/>
            <a:ext cx="3600000" cy="1379500"/>
          </a:xfrm>
          <a:prstGeom prst="rect">
            <a:avLst/>
          </a:prstGeom>
          <a:noFill/>
        </p:spPr>
        <p:txBody>
          <a:bodyPr wrap="square">
            <a:spAutoFit/>
          </a:bodyPr>
          <a:lstStyle/>
          <a:p>
            <a:pPr algn="l"/>
            <a:r>
              <a:rPr sz="1400" b="1">
                <a:solidFill>
                  <a:srgbClr val="FFFFFF"/>
                </a:solidFill>
              </a:rPr>
              <a:t>Seed and inspect the store</a:t>
            </a:r>
          </a:p>
        </p:txBody>
      </p:sp>
      <p:sp>
        <p:nvSpPr>
          <p:cNvPr id="9" name="TextBox 8"/>
          <p:cNvSpPr txBox="1"/>
          <p:nvPr/>
        </p:nvSpPr>
        <p:spPr>
          <a:xfrm>
            <a:off x="4900000" y="740000"/>
            <a:ext cx="6988952" cy="1379500"/>
          </a:xfrm>
          <a:prstGeom prst="rect">
            <a:avLst/>
          </a:prstGeom>
          <a:noFill/>
        </p:spPr>
        <p:txBody>
          <a:bodyPr wrap="square">
            <a:spAutoFit/>
          </a:bodyPr>
          <a:lstStyle/>
          <a:p>
            <a:pPr algn="l"/>
            <a:r>
              <a:rPr sz="1200" b="0">
                <a:solidFill>
                  <a:srgbClr val="8B949E"/>
                </a:solidFill>
              </a:rPr>
              <a:t>const store = new LocatorStore('./locator-memory.json')
for (const [k,v] of WEB_DETECTIVE_LOCATORS) store.register(k,v)
store.printReport()  →  confirm all healCount === 0</a:t>
            </a:r>
          </a:p>
        </p:txBody>
      </p:sp>
      <p:sp>
        <p:nvSpPr>
          <p:cNvPr id="10" name="Rectangle 9"/>
          <p:cNvSpPr/>
          <p:nvPr/>
        </p:nvSpPr>
        <p:spPr>
          <a:xfrm>
            <a:off x="274320" y="2179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39500"/>
            <a:ext cx="800000" cy="1379500"/>
          </a:xfrm>
          <a:prstGeom prst="rect">
            <a:avLst/>
          </a:prstGeom>
          <a:noFill/>
        </p:spPr>
        <p:txBody>
          <a:bodyPr wrap="square">
            <a:spAutoFit/>
          </a:bodyPr>
          <a:lstStyle/>
          <a:p>
            <a:pPr algn="l"/>
            <a:r>
              <a:rPr sz="1300" b="1">
                <a:solidFill>
                  <a:srgbClr val="F78466"/>
                </a:solidFill>
              </a:rPr>
              <a:t>Task B</a:t>
            </a:r>
          </a:p>
        </p:txBody>
      </p:sp>
      <p:sp>
        <p:nvSpPr>
          <p:cNvPr id="12" name="TextBox 11"/>
          <p:cNvSpPr txBox="1"/>
          <p:nvPr/>
        </p:nvSpPr>
        <p:spPr>
          <a:xfrm>
            <a:off x="1200000" y="2239500"/>
            <a:ext cx="3600000" cy="1379500"/>
          </a:xfrm>
          <a:prstGeom prst="rect">
            <a:avLst/>
          </a:prstGeom>
          <a:noFill/>
        </p:spPr>
        <p:txBody>
          <a:bodyPr wrap="square">
            <a:spAutoFit/>
          </a:bodyPr>
          <a:lstStyle/>
          <a:p>
            <a:pPr algn="l"/>
            <a:r>
              <a:rPr sz="1400" b="1">
                <a:solidFill>
                  <a:srgbClr val="FFFFFF"/>
                </a:solidFill>
              </a:rPr>
              <a:t>Break a selector and watch it heal</a:t>
            </a:r>
          </a:p>
        </p:txBody>
      </p:sp>
      <p:sp>
        <p:nvSpPr>
          <p:cNvPr id="13" name="TextBox 12"/>
          <p:cNvSpPr txBox="1"/>
          <p:nvPr/>
        </p:nvSpPr>
        <p:spPr>
          <a:xfrm>
            <a:off x="4900000" y="2239500"/>
            <a:ext cx="6988952" cy="1379500"/>
          </a:xfrm>
          <a:prstGeom prst="rect">
            <a:avLst/>
          </a:prstGeom>
          <a:noFill/>
        </p:spPr>
        <p:txBody>
          <a:bodyPr wrap="square">
            <a:spAutoFit/>
          </a:bodyPr>
          <a:lstStyle/>
          <a:p>
            <a:pPr algn="l"/>
            <a:r>
              <a:rPr sz="1200" b="0">
                <a:solidFill>
                  <a:srgbClr val="8B949E"/>
                </a:solidFill>
              </a:rPr>
              <a:t>In src/pages/Login.tsx rename .login-card → .auth-card  (keep both classes).
Run healer.findElement(page, 'login.emailInput').  Watch heal() trigger.</a:t>
            </a:r>
          </a:p>
        </p:txBody>
      </p:sp>
      <p:sp>
        <p:nvSpPr>
          <p:cNvPr id="14" name="Rectangle 13"/>
          <p:cNvSpPr/>
          <p:nvPr/>
        </p:nvSpPr>
        <p:spPr>
          <a:xfrm>
            <a:off x="274320" y="3679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739000"/>
            <a:ext cx="800000" cy="1379500"/>
          </a:xfrm>
          <a:prstGeom prst="rect">
            <a:avLst/>
          </a:prstGeom>
          <a:noFill/>
        </p:spPr>
        <p:txBody>
          <a:bodyPr wrap="square">
            <a:spAutoFit/>
          </a:bodyPr>
          <a:lstStyle/>
          <a:p>
            <a:pPr algn="l"/>
            <a:r>
              <a:rPr sz="1300" b="1">
                <a:solidFill>
                  <a:srgbClr val="F78466"/>
                </a:solidFill>
              </a:rPr>
              <a:t>Task C</a:t>
            </a:r>
          </a:p>
        </p:txBody>
      </p:sp>
      <p:sp>
        <p:nvSpPr>
          <p:cNvPr id="16" name="TextBox 15"/>
          <p:cNvSpPr txBox="1"/>
          <p:nvPr/>
        </p:nvSpPr>
        <p:spPr>
          <a:xfrm>
            <a:off x="1200000" y="3739000"/>
            <a:ext cx="3600000" cy="1379500"/>
          </a:xfrm>
          <a:prstGeom prst="rect">
            <a:avLst/>
          </a:prstGeom>
          <a:noFill/>
        </p:spPr>
        <p:txBody>
          <a:bodyPr wrap="square">
            <a:spAutoFit/>
          </a:bodyPr>
          <a:lstStyle/>
          <a:p>
            <a:pPr algn="l"/>
            <a:r>
              <a:rPr sz="1400" b="1">
                <a:solidFill>
                  <a:srgbClr val="FFFFFF"/>
                </a:solidFill>
              </a:rPr>
              <a:t>Simulate heal() and trace state</a:t>
            </a:r>
          </a:p>
        </p:txBody>
      </p:sp>
      <p:sp>
        <p:nvSpPr>
          <p:cNvPr id="17" name="TextBox 16"/>
          <p:cNvSpPr txBox="1"/>
          <p:nvPr/>
        </p:nvSpPr>
        <p:spPr>
          <a:xfrm>
            <a:off x="4900000" y="3739000"/>
            <a:ext cx="6988952" cy="1379500"/>
          </a:xfrm>
          <a:prstGeom prst="rect">
            <a:avLst/>
          </a:prstGeom>
          <a:noFill/>
        </p:spPr>
        <p:txBody>
          <a:bodyPr wrap="square">
            <a:spAutoFit/>
          </a:bodyPr>
          <a:lstStyle/>
          <a:p>
            <a:pPr algn="l"/>
            <a:r>
              <a:rPr sz="1200" b="0">
                <a:solidFill>
                  <a:srgbClr val="8B949E"/>
                </a:solidFill>
              </a:rPr>
              <a:t>store.heal('login.submitButton', 'button[type="submit"]')
store.printReport()  →  old value in fallbacks, healCount 1, lastHealed set</a:t>
            </a:r>
          </a:p>
        </p:txBody>
      </p:sp>
      <p:sp>
        <p:nvSpPr>
          <p:cNvPr id="18" name="Rectangle 17"/>
          <p:cNvSpPr/>
          <p:nvPr/>
        </p:nvSpPr>
        <p:spPr>
          <a:xfrm>
            <a:off x="274320" y="5178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5238500"/>
            <a:ext cx="800000" cy="1379500"/>
          </a:xfrm>
          <a:prstGeom prst="rect">
            <a:avLst/>
          </a:prstGeom>
          <a:noFill/>
        </p:spPr>
        <p:txBody>
          <a:bodyPr wrap="square">
            <a:spAutoFit/>
          </a:bodyPr>
          <a:lstStyle/>
          <a:p>
            <a:pPr algn="l"/>
            <a:r>
              <a:rPr sz="1300" b="1">
                <a:solidFill>
                  <a:srgbClr val="F78466"/>
                </a:solidFill>
              </a:rPr>
              <a:t>Task D</a:t>
            </a:r>
          </a:p>
        </p:txBody>
      </p:sp>
      <p:sp>
        <p:nvSpPr>
          <p:cNvPr id="20" name="TextBox 19"/>
          <p:cNvSpPr txBox="1"/>
          <p:nvPr/>
        </p:nvSpPr>
        <p:spPr>
          <a:xfrm>
            <a:off x="1200000" y="5238500"/>
            <a:ext cx="3600000" cy="1379500"/>
          </a:xfrm>
          <a:prstGeom prst="rect">
            <a:avLst/>
          </a:prstGeom>
          <a:noFill/>
        </p:spPr>
        <p:txBody>
          <a:bodyPr wrap="square">
            <a:spAutoFit/>
          </a:bodyPr>
          <a:lstStyle/>
          <a:p>
            <a:pPr algn="l"/>
            <a:r>
              <a:rPr sz="1400" b="1">
                <a:solidFill>
                  <a:srgbClr val="FFFFFF"/>
                </a:solidFill>
              </a:rPr>
              <a:t>Add a toCsv() method</a:t>
            </a:r>
          </a:p>
        </p:txBody>
      </p:sp>
      <p:sp>
        <p:nvSpPr>
          <p:cNvPr id="21" name="TextBox 20"/>
          <p:cNvSpPr txBox="1"/>
          <p:nvPr/>
        </p:nvSpPr>
        <p:spPr>
          <a:xfrm>
            <a:off x="4900000" y="5238500"/>
            <a:ext cx="6988952" cy="1379500"/>
          </a:xfrm>
          <a:prstGeom prst="rect">
            <a:avLst/>
          </a:prstGeom>
          <a:noFill/>
        </p:spPr>
        <p:txBody>
          <a:bodyPr wrap="square">
            <a:spAutoFit/>
          </a:bodyPr>
          <a:lstStyle/>
          <a:p>
            <a:pPr algn="l"/>
            <a:r>
              <a:rPr sz="1200" b="0">
                <a:solidFill>
                  <a:srgbClr val="8B949E"/>
                </a:solidFill>
              </a:rPr>
              <a:t>Add toCsv(): string to LocatorStore — one line per entry: key,selector,healCount.
Run npx ts-node -e '...' to print it. Commit the CSV for diff-friendly history.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37160"/>
            <a:ext cx="1371600" cy="347472"/>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9184" y="164592"/>
            <a:ext cx="1280160" cy="320040"/>
          </a:xfrm>
          <a:prstGeom prst="rect">
            <a:avLst/>
          </a:prstGeom>
          <a:noFill/>
        </p:spPr>
        <p:txBody>
          <a:bodyPr wrap="square">
            <a:spAutoFit/>
          </a:bodyPr>
          <a:lstStyle/>
          <a:p>
            <a:pPr algn="ctr"/>
            <a:r>
              <a:rPr sz="1300" b="1">
                <a:solidFill>
                  <a:srgbClr val="0D1117"/>
                </a:solidFill>
              </a:rPr>
              <a:t>CH 4.1  ·  15:00</a:t>
            </a:r>
          </a:p>
        </p:txBody>
      </p:sp>
      <p:sp>
        <p:nvSpPr>
          <p:cNvPr id="6" name="TextBox 5"/>
          <p:cNvSpPr txBox="1"/>
          <p:nvPr/>
        </p:nvSpPr>
        <p:spPr>
          <a:xfrm>
            <a:off x="1874519" y="109728"/>
            <a:ext cx="9900000" cy="600000"/>
          </a:xfrm>
          <a:prstGeom prst="rect">
            <a:avLst/>
          </a:prstGeom>
          <a:noFill/>
        </p:spPr>
        <p:txBody>
          <a:bodyPr wrap="square">
            <a:spAutoFit/>
          </a:bodyPr>
          <a:lstStyle/>
          <a:p>
            <a:pPr algn="l"/>
            <a:r>
              <a:rPr sz="3000" b="1">
                <a:solidFill>
                  <a:srgbClr val="FFFFFF"/>
                </a:solidFill>
              </a:rPr>
              <a:t>Playwright Agents: Planner, Generator, Healer</a:t>
            </a:r>
          </a:p>
        </p:txBody>
      </p:sp>
      <p:sp>
        <p:nvSpPr>
          <p:cNvPr id="7" name="TextBox 6"/>
          <p:cNvSpPr txBox="1"/>
          <p:nvPr/>
        </p:nvSpPr>
        <p:spPr>
          <a:xfrm>
            <a:off x="1874519" y="660000"/>
            <a:ext cx="9900000" cy="347472"/>
          </a:xfrm>
          <a:prstGeom prst="rect">
            <a:avLst/>
          </a:prstGeom>
          <a:noFill/>
        </p:spPr>
        <p:txBody>
          <a:bodyPr wrap="square">
            <a:spAutoFit/>
          </a:bodyPr>
          <a:lstStyle/>
          <a:p>
            <a:pPr algn="l"/>
            <a:r>
              <a:rPr sz="1500" b="0">
                <a:solidFill>
                  <a:srgbClr val="8B949E"/>
                </a:solidFill>
              </a:rPr>
              <a:t>30 min  ·  AI-generated test plans, code generation, and test-level healing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FA657"/>
                </a:solidFill>
              </a:rPr>
              <a:t>CH 4.1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Three Built-In Playwright Agents</a:t>
            </a:r>
          </a:p>
        </p:txBody>
      </p:sp>
      <p:sp>
        <p:nvSpPr>
          <p:cNvPr id="6" name="Rectangle 5"/>
          <p:cNvSpPr/>
          <p:nvPr/>
        </p:nvSpPr>
        <p:spPr>
          <a:xfrm>
            <a:off x="274320" y="680000"/>
            <a:ext cx="3820104" cy="602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80000"/>
            <a:ext cx="3820104" cy="60000"/>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94320" y="800000"/>
            <a:ext cx="3580104" cy="350000"/>
          </a:xfrm>
          <a:prstGeom prst="rect">
            <a:avLst/>
          </a:prstGeom>
          <a:noFill/>
        </p:spPr>
        <p:txBody>
          <a:bodyPr wrap="square">
            <a:spAutoFit/>
          </a:bodyPr>
          <a:lstStyle/>
          <a:p>
            <a:pPr algn="l"/>
            <a:r>
              <a:rPr sz="2000" b="1">
                <a:solidFill>
                  <a:srgbClr val="FFA657"/>
                </a:solidFill>
              </a:rPr>
              <a:t>Planner</a:t>
            </a:r>
          </a:p>
        </p:txBody>
      </p:sp>
      <p:sp>
        <p:nvSpPr>
          <p:cNvPr id="9" name="TextBox 8"/>
          <p:cNvSpPr txBox="1"/>
          <p:nvPr/>
        </p:nvSpPr>
        <p:spPr>
          <a:xfrm>
            <a:off x="394320" y="1200000"/>
            <a:ext cx="3580104" cy="4828000"/>
          </a:xfrm>
          <a:prstGeom prst="rect">
            <a:avLst/>
          </a:prstGeom>
          <a:noFill/>
        </p:spPr>
        <p:txBody>
          <a:bodyPr wrap="square">
            <a:spAutoFit/>
          </a:bodyPr>
          <a:lstStyle/>
          <a:p>
            <a:pPr algn="l"/>
            <a:r>
              <a:rPr sz="1300" b="0">
                <a:solidFill>
                  <a:srgbClr val="FFFFFF"/>
                </a:solidFill>
              </a:rPr>
              <a:t>Explores the running app via the accessibility tree.
Produces a structured Markdown test plan.
Writes to specs/&lt;name&gt;.md</a:t>
            </a:r>
          </a:p>
        </p:txBody>
      </p:sp>
      <p:sp>
        <p:nvSpPr>
          <p:cNvPr id="10" name="Rectangle 9"/>
          <p:cNvSpPr/>
          <p:nvPr/>
        </p:nvSpPr>
        <p:spPr>
          <a:xfrm>
            <a:off x="334320" y="6008000"/>
            <a:ext cx="3700104" cy="56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4320" y="6068000"/>
            <a:ext cx="3580104" cy="480000"/>
          </a:xfrm>
          <a:prstGeom prst="rect">
            <a:avLst/>
          </a:prstGeom>
          <a:noFill/>
        </p:spPr>
        <p:txBody>
          <a:bodyPr wrap="square">
            <a:spAutoFit/>
          </a:bodyPr>
          <a:lstStyle/>
          <a:p>
            <a:pPr algn="l"/>
            <a:r>
              <a:rPr sz="1100" b="0">
                <a:solidFill>
                  <a:srgbClr val="8B949E"/>
                </a:solidFill>
              </a:rPr>
              <a:t>Input: baseURL + routes
Output: human-readable plan</a:t>
            </a:r>
          </a:p>
        </p:txBody>
      </p:sp>
      <p:sp>
        <p:nvSpPr>
          <p:cNvPr id="12" name="Rectangle 11"/>
          <p:cNvSpPr/>
          <p:nvPr/>
        </p:nvSpPr>
        <p:spPr>
          <a:xfrm>
            <a:off x="4184424" y="680000"/>
            <a:ext cx="3820104" cy="602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84424" y="680000"/>
            <a:ext cx="3820104" cy="6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04424" y="800000"/>
            <a:ext cx="3580104" cy="350000"/>
          </a:xfrm>
          <a:prstGeom prst="rect">
            <a:avLst/>
          </a:prstGeom>
          <a:noFill/>
        </p:spPr>
        <p:txBody>
          <a:bodyPr wrap="square">
            <a:spAutoFit/>
          </a:bodyPr>
          <a:lstStyle/>
          <a:p>
            <a:pPr algn="l"/>
            <a:r>
              <a:rPr sz="2000" b="1">
                <a:solidFill>
                  <a:srgbClr val="58A6FF"/>
                </a:solidFill>
              </a:rPr>
              <a:t>Generator</a:t>
            </a:r>
          </a:p>
        </p:txBody>
      </p:sp>
      <p:sp>
        <p:nvSpPr>
          <p:cNvPr id="15" name="TextBox 14"/>
          <p:cNvSpPr txBox="1"/>
          <p:nvPr/>
        </p:nvSpPr>
        <p:spPr>
          <a:xfrm>
            <a:off x="4304424" y="1200000"/>
            <a:ext cx="3580104" cy="4828000"/>
          </a:xfrm>
          <a:prstGeom prst="rect">
            <a:avLst/>
          </a:prstGeom>
          <a:noFill/>
        </p:spPr>
        <p:txBody>
          <a:bodyPr wrap="square">
            <a:spAutoFit/>
          </a:bodyPr>
          <a:lstStyle/>
          <a:p>
            <a:pPr algn="l"/>
            <a:r>
              <a:rPr sz="1300" b="0">
                <a:solidFill>
                  <a:srgbClr val="FFFFFF"/>
                </a:solidFill>
              </a:rPr>
              <a:t>Reads the Markdown plan.
Emits runnable TypeScript Playwright tests.
Verifies selectors live as it generates.</a:t>
            </a:r>
          </a:p>
        </p:txBody>
      </p:sp>
      <p:sp>
        <p:nvSpPr>
          <p:cNvPr id="16" name="Rectangle 15"/>
          <p:cNvSpPr/>
          <p:nvPr/>
        </p:nvSpPr>
        <p:spPr>
          <a:xfrm>
            <a:off x="4244424" y="6008000"/>
            <a:ext cx="3700104" cy="56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04424" y="6068000"/>
            <a:ext cx="3580104" cy="480000"/>
          </a:xfrm>
          <a:prstGeom prst="rect">
            <a:avLst/>
          </a:prstGeom>
          <a:noFill/>
        </p:spPr>
        <p:txBody>
          <a:bodyPr wrap="square">
            <a:spAutoFit/>
          </a:bodyPr>
          <a:lstStyle/>
          <a:p>
            <a:pPr algn="l"/>
            <a:r>
              <a:rPr sz="1100" b="0">
                <a:solidFill>
                  <a:srgbClr val="8B949E"/>
                </a:solidFill>
              </a:rPr>
              <a:t>Input: specs/&lt;name&gt;.md
Output: tests/&lt;name&gt;.spec.ts</a:t>
            </a:r>
          </a:p>
        </p:txBody>
      </p:sp>
      <p:sp>
        <p:nvSpPr>
          <p:cNvPr id="18" name="Rectangle 17"/>
          <p:cNvSpPr/>
          <p:nvPr/>
        </p:nvSpPr>
        <p:spPr>
          <a:xfrm>
            <a:off x="8094528" y="680000"/>
            <a:ext cx="3820104" cy="602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4528" y="680000"/>
            <a:ext cx="3820104" cy="60000"/>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4528" y="800000"/>
            <a:ext cx="3580104" cy="350000"/>
          </a:xfrm>
          <a:prstGeom prst="rect">
            <a:avLst/>
          </a:prstGeom>
          <a:noFill/>
        </p:spPr>
        <p:txBody>
          <a:bodyPr wrap="square">
            <a:spAutoFit/>
          </a:bodyPr>
          <a:lstStyle/>
          <a:p>
            <a:pPr algn="l"/>
            <a:r>
              <a:rPr sz="2000" b="1">
                <a:solidFill>
                  <a:srgbClr val="39D353"/>
                </a:solidFill>
              </a:rPr>
              <a:t>Healer</a:t>
            </a:r>
          </a:p>
        </p:txBody>
      </p:sp>
      <p:sp>
        <p:nvSpPr>
          <p:cNvPr id="21" name="TextBox 20"/>
          <p:cNvSpPr txBox="1"/>
          <p:nvPr/>
        </p:nvSpPr>
        <p:spPr>
          <a:xfrm>
            <a:off x="8214528" y="1200000"/>
            <a:ext cx="3580104" cy="4828000"/>
          </a:xfrm>
          <a:prstGeom prst="rect">
            <a:avLst/>
          </a:prstGeom>
          <a:noFill/>
        </p:spPr>
        <p:txBody>
          <a:bodyPr wrap="square">
            <a:spAutoFit/>
          </a:bodyPr>
          <a:lstStyle/>
          <a:p>
            <a:pPr algn="l"/>
            <a:r>
              <a:rPr sz="1300" b="0">
                <a:solidFill>
                  <a:srgbClr val="FFFFFF"/>
                </a:solidFill>
              </a:rPr>
              <a:t>Runs the test suite.
Replays failing steps on the live page.
Rewrites broken test() blocks until green.</a:t>
            </a:r>
          </a:p>
        </p:txBody>
      </p:sp>
      <p:sp>
        <p:nvSpPr>
          <p:cNvPr id="22" name="Rectangle 21"/>
          <p:cNvSpPr/>
          <p:nvPr/>
        </p:nvSpPr>
        <p:spPr>
          <a:xfrm>
            <a:off x="8154528" y="6008000"/>
            <a:ext cx="3700104" cy="56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14528" y="6068000"/>
            <a:ext cx="3580104" cy="480000"/>
          </a:xfrm>
          <a:prstGeom prst="rect">
            <a:avLst/>
          </a:prstGeom>
          <a:noFill/>
        </p:spPr>
        <p:txBody>
          <a:bodyPr wrap="square">
            <a:spAutoFit/>
          </a:bodyPr>
          <a:lstStyle/>
          <a:p>
            <a:pPr algn="l"/>
            <a:r>
              <a:rPr sz="1100" b="0">
                <a:solidFill>
                  <a:srgbClr val="8B949E"/>
                </a:solidFill>
              </a:rPr>
              <a:t>Input: failing test file
Output: patched source file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FA657"/>
                </a:solidFill>
              </a:rPr>
              <a:t>CH 4.1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Initialise + Pipeline Flow</a:t>
            </a:r>
          </a:p>
        </p:txBody>
      </p:sp>
      <p:sp>
        <p:nvSpPr>
          <p:cNvPr id="6" name="Rectangle 5"/>
          <p:cNvSpPr/>
          <p:nvPr/>
        </p:nvSpPr>
        <p:spPr>
          <a:xfrm>
            <a:off x="274320"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40196"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740000"/>
            <a:ext cx="5545836" cy="300000"/>
          </a:xfrm>
          <a:prstGeom prst="rect">
            <a:avLst/>
          </a:prstGeom>
          <a:noFill/>
        </p:spPr>
        <p:txBody>
          <a:bodyPr wrap="square">
            <a:spAutoFit/>
          </a:bodyPr>
          <a:lstStyle/>
          <a:p>
            <a:pPr algn="l"/>
            <a:r>
              <a:rPr sz="1400" b="1">
                <a:solidFill>
                  <a:srgbClr val="FFA657"/>
                </a:solidFill>
              </a:rPr>
              <a:t>One command to init</a:t>
            </a:r>
          </a:p>
        </p:txBody>
      </p:sp>
      <p:sp>
        <p:nvSpPr>
          <p:cNvPr id="9" name="TextBox 8"/>
          <p:cNvSpPr txBox="1"/>
          <p:nvPr/>
        </p:nvSpPr>
        <p:spPr>
          <a:xfrm>
            <a:off x="457200" y="1090000"/>
            <a:ext cx="5545836" cy="5548000"/>
          </a:xfrm>
          <a:prstGeom prst="rect">
            <a:avLst/>
          </a:prstGeom>
          <a:noFill/>
        </p:spPr>
        <p:txBody>
          <a:bodyPr wrap="square">
            <a:spAutoFit/>
          </a:bodyPr>
          <a:lstStyle/>
          <a:p>
            <a:pPr algn="l">
              <a:lnSpc>
                <a:spcPts val="1700"/>
              </a:lnSpc>
            </a:pPr>
            <a:r>
              <a:rPr sz="1300" b="0">
                <a:solidFill>
                  <a:srgbClr val="39D353"/>
                </a:solidFill>
              </a:rPr>
              <a:t>npx playwright init-agents --loop=claude</a:t>
            </a:r>
          </a:p>
          <a:p>
            <a:pPr algn="l">
              <a:lnSpc>
                <a:spcPts val="1700"/>
              </a:lnSpc>
            </a:pPr>
            <a:r>
              <a:rPr sz="1300" b="0">
                <a:solidFill>
                  <a:srgbClr val="FFFFFF"/>
                </a:solidFill>
              </a:rPr>
              <a:t/>
            </a:r>
          </a:p>
          <a:p>
            <a:pPr algn="l">
              <a:lnSpc>
                <a:spcPts val="1700"/>
              </a:lnSpc>
            </a:pPr>
            <a:r>
              <a:rPr sz="1300" b="0">
                <a:solidFill>
                  <a:srgbClr val="FFFFFF"/>
                </a:solidFill>
              </a:rPr>
              <a:t>Generates agent definitions in .github/</a:t>
            </a:r>
          </a:p>
          <a:p>
            <a:pPr algn="l">
              <a:lnSpc>
                <a:spcPts val="1700"/>
              </a:lnSpc>
            </a:pPr>
            <a:r>
              <a:rPr sz="1300" b="0">
                <a:solidFill>
                  <a:srgbClr val="FFFFFF"/>
                </a:solidFill>
              </a:rPr>
              <a:t>Works with:</a:t>
            </a:r>
          </a:p>
          <a:p>
            <a:pPr algn="l">
              <a:lnSpc>
                <a:spcPts val="1700"/>
              </a:lnSpc>
            </a:pPr>
            <a:r>
              <a:rPr sz="1300" b="0">
                <a:solidFill>
                  <a:srgbClr val="FFFFFF"/>
                </a:solidFill>
              </a:rPr>
              <a:t>  • Claude Code  (--loop=claude)</a:t>
            </a:r>
          </a:p>
          <a:p>
            <a:pPr algn="l">
              <a:lnSpc>
                <a:spcPts val="1700"/>
              </a:lnSpc>
            </a:pPr>
            <a:r>
              <a:rPr sz="1300" b="0">
                <a:solidFill>
                  <a:srgbClr val="FFFFFF"/>
                </a:solidFill>
              </a:rPr>
              <a:t>  • VS Code Copilot  (--loop=vscode)</a:t>
            </a:r>
          </a:p>
          <a:p>
            <a:pPr algn="l">
              <a:lnSpc>
                <a:spcPts val="1700"/>
              </a:lnSpc>
            </a:pPr>
            <a:r>
              <a:rPr sz="1300" b="0">
                <a:solidFill>
                  <a:srgbClr val="FFFFFF"/>
                </a:solidFill>
              </a:rPr>
              <a:t>  • opencode  (--loop=opencode)</a:t>
            </a:r>
          </a:p>
          <a:p>
            <a:pPr algn="l">
              <a:lnSpc>
                <a:spcPts val="1700"/>
              </a:lnSpc>
            </a:pPr>
            <a:r>
              <a:rPr sz="1300" b="0">
                <a:solidFill>
                  <a:srgbClr val="FFFFFF"/>
                </a:solidFill>
              </a:rPr>
              <a:t/>
            </a:r>
          </a:p>
          <a:p>
            <a:pPr algn="l">
              <a:lnSpc>
                <a:spcPts val="1700"/>
              </a:lnSpc>
            </a:pPr>
            <a:r>
              <a:rPr sz="1300" b="0">
                <a:solidFill>
                  <a:srgbClr val="8B949E"/>
                </a:solidFill>
              </a:rPr>
              <a:t>Or run programmatically:</a:t>
            </a:r>
          </a:p>
          <a:p>
            <a:pPr algn="l">
              <a:lnSpc>
                <a:spcPts val="1700"/>
              </a:lnSpc>
            </a:pPr>
            <a:r>
              <a:rPr sz="1300" b="0">
                <a:solidFill>
                  <a:srgbClr val="39D353"/>
                </a:solidFill>
              </a:rPr>
              <a:t>npx ts-node examples/ch4.1-playwright-agents/planner.ts</a:t>
            </a:r>
          </a:p>
          <a:p>
            <a:pPr algn="l">
              <a:lnSpc>
                <a:spcPts val="1700"/>
              </a:lnSpc>
            </a:pPr>
            <a:r>
              <a:rPr sz="1300" b="0">
                <a:solidFill>
                  <a:srgbClr val="8B949E"/>
                </a:solidFill>
              </a:rPr>
              <a:t>→ Creates specs/ and tests/generated/</a:t>
            </a:r>
          </a:p>
        </p:txBody>
      </p:sp>
      <p:sp>
        <p:nvSpPr>
          <p:cNvPr id="10" name="TextBox 9"/>
          <p:cNvSpPr txBox="1"/>
          <p:nvPr/>
        </p:nvSpPr>
        <p:spPr>
          <a:xfrm>
            <a:off x="6323076" y="740000"/>
            <a:ext cx="5545836" cy="300000"/>
          </a:xfrm>
          <a:prstGeom prst="rect">
            <a:avLst/>
          </a:prstGeom>
          <a:noFill/>
        </p:spPr>
        <p:txBody>
          <a:bodyPr wrap="square">
            <a:spAutoFit/>
          </a:bodyPr>
          <a:lstStyle/>
          <a:p>
            <a:pPr algn="l"/>
            <a:r>
              <a:rPr sz="1400" b="1">
                <a:solidFill>
                  <a:srgbClr val="FFA657"/>
                </a:solidFill>
              </a:rPr>
              <a:t>Pipeline</a:t>
            </a:r>
          </a:p>
        </p:txBody>
      </p:sp>
      <p:sp>
        <p:nvSpPr>
          <p:cNvPr id="11" name="TextBox 10"/>
          <p:cNvSpPr txBox="1"/>
          <p:nvPr/>
        </p:nvSpPr>
        <p:spPr>
          <a:xfrm>
            <a:off x="6323076" y="1090000"/>
            <a:ext cx="5545836" cy="5548000"/>
          </a:xfrm>
          <a:prstGeom prst="rect">
            <a:avLst/>
          </a:prstGeom>
          <a:noFill/>
        </p:spPr>
        <p:txBody>
          <a:bodyPr wrap="square">
            <a:spAutoFit/>
          </a:bodyPr>
          <a:lstStyle/>
          <a:p>
            <a:pPr algn="l">
              <a:lnSpc>
                <a:spcPts val="1700"/>
              </a:lnSpc>
            </a:pPr>
            <a:r>
              <a:rPr sz="1300" b="0">
                <a:solidFill>
                  <a:srgbClr val="FFA657"/>
                </a:solidFill>
              </a:rPr>
              <a:t>Planner explores app</a:t>
            </a:r>
          </a:p>
          <a:p>
            <a:pPr algn="l">
              <a:lnSpc>
                <a:spcPts val="1700"/>
              </a:lnSpc>
            </a:pPr>
            <a:r>
              <a:rPr sz="1300" b="0">
                <a:solidFill>
                  <a:srgbClr val="8B949E"/>
                </a:solidFill>
              </a:rPr>
              <a:t>    ↓</a:t>
            </a:r>
          </a:p>
          <a:p>
            <a:pPr algn="l">
              <a:lnSpc>
                <a:spcPts val="1700"/>
              </a:lnSpc>
            </a:pPr>
            <a:r>
              <a:rPr sz="1300" b="0">
                <a:solidFill>
                  <a:srgbClr val="FFFFFF"/>
                </a:solidFill>
              </a:rPr>
              <a:t>specs/web-detective.md</a:t>
            </a:r>
          </a:p>
          <a:p>
            <a:pPr algn="l">
              <a:lnSpc>
                <a:spcPts val="1700"/>
              </a:lnSpc>
            </a:pPr>
            <a:r>
              <a:rPr sz="1300" b="0">
                <a:solidFill>
                  <a:srgbClr val="8B949E"/>
                </a:solidFill>
              </a:rPr>
              <a:t>    ↓</a:t>
            </a:r>
          </a:p>
          <a:p>
            <a:pPr algn="l">
              <a:lnSpc>
                <a:spcPts val="1700"/>
              </a:lnSpc>
            </a:pPr>
            <a:r>
              <a:rPr sz="1300" b="0">
                <a:solidFill>
                  <a:srgbClr val="58A6FF"/>
                </a:solidFill>
              </a:rPr>
              <a:t>Generator emits test code</a:t>
            </a:r>
          </a:p>
          <a:p>
            <a:pPr algn="l">
              <a:lnSpc>
                <a:spcPts val="1700"/>
              </a:lnSpc>
            </a:pPr>
            <a:r>
              <a:rPr sz="1300" b="0">
                <a:solidFill>
                  <a:srgbClr val="8B949E"/>
                </a:solidFill>
              </a:rPr>
              <a:t>    ↓</a:t>
            </a:r>
          </a:p>
          <a:p>
            <a:pPr algn="l">
              <a:lnSpc>
                <a:spcPts val="1700"/>
              </a:lnSpc>
            </a:pPr>
            <a:r>
              <a:rPr sz="1300" b="0">
                <a:solidFill>
                  <a:srgbClr val="FFFFFF"/>
                </a:solidFill>
              </a:rPr>
              <a:t>tests/generated/web-detective.spec.ts</a:t>
            </a:r>
          </a:p>
          <a:p>
            <a:pPr algn="l">
              <a:lnSpc>
                <a:spcPts val="1700"/>
              </a:lnSpc>
            </a:pPr>
            <a:r>
              <a:rPr sz="1300" b="0">
                <a:solidFill>
                  <a:srgbClr val="8B949E"/>
                </a:solidFill>
              </a:rPr>
              <a:t>    ↓</a:t>
            </a:r>
          </a:p>
          <a:p>
            <a:pPr algn="l">
              <a:lnSpc>
                <a:spcPts val="1700"/>
              </a:lnSpc>
            </a:pPr>
            <a:r>
              <a:rPr sz="1300" b="0">
                <a:solidFill>
                  <a:srgbClr val="8B949E"/>
                </a:solidFill>
              </a:rPr>
              <a:t>npx playwright test</a:t>
            </a:r>
          </a:p>
          <a:p>
            <a:pPr algn="l">
              <a:lnSpc>
                <a:spcPts val="1700"/>
              </a:lnSpc>
            </a:pPr>
            <a:r>
              <a:rPr sz="1300" b="0">
                <a:solidFill>
                  <a:srgbClr val="8B949E"/>
                </a:solidFill>
              </a:rPr>
              <a:t>    ↓  (failures?)</a:t>
            </a:r>
          </a:p>
          <a:p>
            <a:pPr algn="l">
              <a:lnSpc>
                <a:spcPts val="1700"/>
              </a:lnSpc>
            </a:pPr>
            <a:r>
              <a:rPr sz="1300" b="0">
                <a:solidFill>
                  <a:srgbClr val="39D353"/>
                </a:solidFill>
              </a:rPr>
              <a:t>Healer rewrites test() blocks</a:t>
            </a:r>
          </a:p>
          <a:p>
            <a:pPr algn="l">
              <a:lnSpc>
                <a:spcPts val="1700"/>
              </a:lnSpc>
            </a:pPr>
            <a:r>
              <a:rPr sz="1300" b="0">
                <a:solidFill>
                  <a:srgbClr val="8B949E"/>
                </a:solidFill>
              </a:rPr>
              <a:t>    ↓</a:t>
            </a:r>
          </a:p>
          <a:p>
            <a:pPr algn="l">
              <a:lnSpc>
                <a:spcPts val="1700"/>
              </a:lnSpc>
            </a:pPr>
            <a:r>
              <a:rPr sz="1300" b="0">
                <a:solidFill>
                  <a:srgbClr val="39D353"/>
                </a:solidFill>
              </a:rPr>
              <a:t>Re-run  →  green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FA657"/>
                </a:solidFill>
              </a:rPr>
              <a:t>CH 4.1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Ch4 vs Ch4.1 — Healing at Two Levels</a:t>
            </a:r>
          </a:p>
        </p:txBody>
      </p:sp>
      <p:sp>
        <p:nvSpPr>
          <p:cNvPr id="6" name="Rectangle 5"/>
          <p:cNvSpPr/>
          <p:nvPr/>
        </p:nvSpPr>
        <p:spPr>
          <a:xfrm>
            <a:off x="274320"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40196"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740000"/>
            <a:ext cx="5545836" cy="300000"/>
          </a:xfrm>
          <a:prstGeom prst="rect">
            <a:avLst/>
          </a:prstGeom>
          <a:noFill/>
        </p:spPr>
        <p:txBody>
          <a:bodyPr wrap="square">
            <a:spAutoFit/>
          </a:bodyPr>
          <a:lstStyle/>
          <a:p>
            <a:pPr algn="l"/>
            <a:r>
              <a:rPr sz="1400" b="1">
                <a:solidFill>
                  <a:srgbClr val="FFA657"/>
                </a:solidFill>
              </a:rPr>
              <a:t>Ch4  ·  Selector-Level Healing</a:t>
            </a:r>
          </a:p>
        </p:txBody>
      </p:sp>
      <p:sp>
        <p:nvSpPr>
          <p:cNvPr id="9" name="TextBox 8"/>
          <p:cNvSpPr txBox="1"/>
          <p:nvPr/>
        </p:nvSpPr>
        <p:spPr>
          <a:xfrm>
            <a:off x="457200" y="1090000"/>
            <a:ext cx="5545836" cy="5548000"/>
          </a:xfrm>
          <a:prstGeom prst="rect">
            <a:avLst/>
          </a:prstGeom>
          <a:noFill/>
        </p:spPr>
        <p:txBody>
          <a:bodyPr wrap="square">
            <a:spAutoFit/>
          </a:bodyPr>
          <a:lstStyle/>
          <a:p>
            <a:pPr algn="l">
              <a:lnSpc>
                <a:spcPts val="1700"/>
              </a:lnSpc>
            </a:pPr>
            <a:r>
              <a:rPr sz="1300" b="0">
                <a:solidFill>
                  <a:srgbClr val="F78466"/>
                </a:solidFill>
              </a:rPr>
              <a:t>Target: a broken selector string</a:t>
            </a:r>
          </a:p>
          <a:p>
            <a:pPr algn="l">
              <a:lnSpc>
                <a:spcPts val="1700"/>
              </a:lnSpc>
            </a:pPr>
            <a:r>
              <a:rPr sz="1300" b="0">
                <a:solidFill>
                  <a:srgbClr val="FFFFFF"/>
                </a:solidFill>
              </a:rPr>
              <a:t>Source: LocatorStore (locator-memory.json)</a:t>
            </a:r>
          </a:p>
          <a:p>
            <a:pPr algn="l">
              <a:lnSpc>
                <a:spcPts val="1700"/>
              </a:lnSpc>
            </a:pPr>
            <a:r>
              <a:rPr sz="1300" b="0">
                <a:solidFill>
                  <a:srgbClr val="FFFFFF"/>
                </a:solidFill>
              </a:rPr>
              <a:t>Trigger: element.isVisible() returns false</a:t>
            </a:r>
          </a:p>
          <a:p>
            <a:pPr algn="l">
              <a:lnSpc>
                <a:spcPts val="1700"/>
              </a:lnSpc>
            </a:pPr>
            <a:r>
              <a:rPr sz="1300" b="0">
                <a:solidFill>
                  <a:srgbClr val="FFFFFF"/>
                </a:solidFill>
              </a:rPr>
              <a:t>Output: new selector string written to store</a:t>
            </a:r>
          </a:p>
          <a:p>
            <a:pPr algn="l">
              <a:lnSpc>
                <a:spcPts val="1700"/>
              </a:lnSpc>
            </a:pPr>
            <a:r>
              <a:rPr sz="1300" b="0">
                <a:solidFill>
                  <a:srgbClr val="FFFFFF"/>
                </a:solidFill>
              </a:rPr>
              <a:t/>
            </a:r>
          </a:p>
          <a:p>
            <a:pPr algn="l">
              <a:lnSpc>
                <a:spcPts val="1700"/>
              </a:lnSpc>
            </a:pPr>
            <a:r>
              <a:rPr sz="1300" b="0">
                <a:solidFill>
                  <a:srgbClr val="8B949E"/>
                </a:solidFill>
              </a:rPr>
              <a:t>Best for:</a:t>
            </a:r>
          </a:p>
          <a:p>
            <a:pPr algn="l">
              <a:lnSpc>
                <a:spcPts val="1700"/>
              </a:lnSpc>
            </a:pPr>
            <a:r>
              <a:rPr sz="1300" b="0">
                <a:solidFill>
                  <a:srgbClr val="FFFFFF"/>
                </a:solidFill>
              </a:rPr>
              <a:t>→ Ongoing test maintenance</a:t>
            </a:r>
          </a:p>
          <a:p>
            <a:pPr algn="l">
              <a:lnSpc>
                <a:spcPts val="1700"/>
              </a:lnSpc>
            </a:pPr>
            <a:r>
              <a:rPr sz="1300" b="0">
                <a:solidFill>
                  <a:srgbClr val="FFFFFF"/>
                </a:solidFill>
              </a:rPr>
              <a:t>→ Production test suites</a:t>
            </a:r>
          </a:p>
          <a:p>
            <a:pPr algn="l">
              <a:lnSpc>
                <a:spcPts val="1700"/>
              </a:lnSpc>
            </a:pPr>
            <a:r>
              <a:rPr sz="1300" b="0">
                <a:solidFill>
                  <a:srgbClr val="FFFFFF"/>
                </a:solidFill>
              </a:rPr>
              <a:t>→ Gradual UI drift over time</a:t>
            </a:r>
          </a:p>
          <a:p>
            <a:pPr algn="l">
              <a:lnSpc>
                <a:spcPts val="1700"/>
              </a:lnSpc>
            </a:pPr>
            <a:r>
              <a:rPr sz="1300" b="0">
                <a:solidFill>
                  <a:srgbClr val="FFFFFF"/>
                </a:solidFill>
              </a:rPr>
              <a:t/>
            </a:r>
          </a:p>
          <a:p>
            <a:pPr algn="l">
              <a:lnSpc>
                <a:spcPts val="1700"/>
              </a:lnSpc>
            </a:pPr>
            <a:r>
              <a:rPr sz="1300" b="0">
                <a:solidFill>
                  <a:srgbClr val="8B949E"/>
                </a:solidFill>
              </a:rPr>
              <a:t>Does NOT rewrite test source files.</a:t>
            </a:r>
          </a:p>
        </p:txBody>
      </p:sp>
      <p:sp>
        <p:nvSpPr>
          <p:cNvPr id="10" name="TextBox 9"/>
          <p:cNvSpPr txBox="1"/>
          <p:nvPr/>
        </p:nvSpPr>
        <p:spPr>
          <a:xfrm>
            <a:off x="6323076" y="740000"/>
            <a:ext cx="5545836" cy="300000"/>
          </a:xfrm>
          <a:prstGeom prst="rect">
            <a:avLst/>
          </a:prstGeom>
          <a:noFill/>
        </p:spPr>
        <p:txBody>
          <a:bodyPr wrap="square">
            <a:spAutoFit/>
          </a:bodyPr>
          <a:lstStyle/>
          <a:p>
            <a:pPr algn="l"/>
            <a:r>
              <a:rPr sz="1400" b="1">
                <a:solidFill>
                  <a:srgbClr val="FFA657"/>
                </a:solidFill>
              </a:rPr>
              <a:t>Ch4.1  ·  Test-Block Healing</a:t>
            </a:r>
          </a:p>
        </p:txBody>
      </p:sp>
      <p:sp>
        <p:nvSpPr>
          <p:cNvPr id="11" name="TextBox 10"/>
          <p:cNvSpPr txBox="1"/>
          <p:nvPr/>
        </p:nvSpPr>
        <p:spPr>
          <a:xfrm>
            <a:off x="6323076" y="1090000"/>
            <a:ext cx="5545836" cy="5548000"/>
          </a:xfrm>
          <a:prstGeom prst="rect">
            <a:avLst/>
          </a:prstGeom>
          <a:noFill/>
        </p:spPr>
        <p:txBody>
          <a:bodyPr wrap="square">
            <a:spAutoFit/>
          </a:bodyPr>
          <a:lstStyle/>
          <a:p>
            <a:pPr algn="l">
              <a:lnSpc>
                <a:spcPts val="1700"/>
              </a:lnSpc>
            </a:pPr>
            <a:r>
              <a:rPr sz="1300" b="0">
                <a:solidFill>
                  <a:srgbClr val="FFA657"/>
                </a:solidFill>
              </a:rPr>
              <a:t>Target: a failing test() block</a:t>
            </a:r>
          </a:p>
          <a:p>
            <a:pPr algn="l">
              <a:lnSpc>
                <a:spcPts val="1700"/>
              </a:lnSpc>
            </a:pPr>
            <a:r>
              <a:rPr sz="1300" b="0">
                <a:solidFill>
                  <a:srgbClr val="FFFFFF"/>
                </a:solidFill>
              </a:rPr>
              <a:t>Source: generated test source files</a:t>
            </a:r>
          </a:p>
          <a:p>
            <a:pPr algn="l">
              <a:lnSpc>
                <a:spcPts val="1700"/>
              </a:lnSpc>
            </a:pPr>
            <a:r>
              <a:rPr sz="1300" b="0">
                <a:solidFill>
                  <a:srgbClr val="FFFFFF"/>
                </a:solidFill>
              </a:rPr>
              <a:t>Trigger: test exits with status: failed</a:t>
            </a:r>
          </a:p>
          <a:p>
            <a:pPr algn="l">
              <a:lnSpc>
                <a:spcPts val="1700"/>
              </a:lnSpc>
            </a:pPr>
            <a:r>
              <a:rPr sz="1300" b="0">
                <a:solidFill>
                  <a:srgbClr val="FFFFFF"/>
                </a:solidFill>
              </a:rPr>
              <a:t>Output: patched .spec.ts written to disk</a:t>
            </a:r>
          </a:p>
          <a:p>
            <a:pPr algn="l">
              <a:lnSpc>
                <a:spcPts val="1700"/>
              </a:lnSpc>
            </a:pPr>
            <a:r>
              <a:rPr sz="1300" b="0">
                <a:solidFill>
                  <a:srgbClr val="FFFFFF"/>
                </a:solidFill>
              </a:rPr>
              <a:t/>
            </a:r>
          </a:p>
          <a:p>
            <a:pPr algn="l">
              <a:lnSpc>
                <a:spcPts val="1700"/>
              </a:lnSpc>
            </a:pPr>
            <a:r>
              <a:rPr sz="1300" b="0">
                <a:solidFill>
                  <a:srgbClr val="8B949E"/>
                </a:solidFill>
              </a:rPr>
              <a:t>Best for:</a:t>
            </a:r>
          </a:p>
          <a:p>
            <a:pPr algn="l">
              <a:lnSpc>
                <a:spcPts val="1700"/>
              </a:lnSpc>
            </a:pPr>
            <a:r>
              <a:rPr sz="1300" b="0">
                <a:solidFill>
                  <a:srgbClr val="FFFFFF"/>
                </a:solidFill>
              </a:rPr>
              <a:t>→ First-run of AI-generated tests</a:t>
            </a:r>
          </a:p>
          <a:p>
            <a:pPr algn="l">
              <a:lnSpc>
                <a:spcPts val="1700"/>
              </a:lnSpc>
            </a:pPr>
            <a:r>
              <a:rPr sz="1300" b="0">
                <a:solidFill>
                  <a:srgbClr val="FFFFFF"/>
                </a:solidFill>
              </a:rPr>
              <a:t>→ Bulk test generation + cleanup</a:t>
            </a:r>
          </a:p>
          <a:p>
            <a:pPr algn="l">
              <a:lnSpc>
                <a:spcPts val="1700"/>
              </a:lnSpc>
            </a:pPr>
            <a:r>
              <a:rPr sz="1300" b="0">
                <a:solidFill>
                  <a:srgbClr val="FFFFFF"/>
                </a:solidFill>
              </a:rPr>
              <a:t>→ Large-scale migrations</a:t>
            </a:r>
          </a:p>
          <a:p>
            <a:pPr algn="l">
              <a:lnSpc>
                <a:spcPts val="1700"/>
              </a:lnSpc>
            </a:pPr>
            <a:r>
              <a:rPr sz="1300" b="0">
                <a:solidFill>
                  <a:srgbClr val="FFFFFF"/>
                </a:solidFill>
              </a:rPr>
              <a:t/>
            </a:r>
          </a:p>
          <a:p>
            <a:pPr algn="l">
              <a:lnSpc>
                <a:spcPts val="1700"/>
              </a:lnSpc>
            </a:pPr>
            <a:r>
              <a:rPr sz="1300" b="0">
                <a:solidFill>
                  <a:srgbClr val="8B949E"/>
                </a:solidFill>
              </a:rPr>
              <a:t>Does NOT update LocatorStore.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FA657"/>
                </a:solidFill>
              </a:rPr>
              <a:t>CH 4.1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Discussion Questions</a:t>
            </a:r>
          </a:p>
        </p:txBody>
      </p:sp>
      <p:sp>
        <p:nvSpPr>
          <p:cNvPr id="6" name="Rectangle 5"/>
          <p:cNvSpPr/>
          <p:nvPr/>
        </p:nvSpPr>
        <p:spPr>
          <a:xfrm>
            <a:off x="274320" y="700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60000"/>
            <a:ext cx="700000" cy="1866000"/>
          </a:xfrm>
          <a:prstGeom prst="rect">
            <a:avLst/>
          </a:prstGeom>
          <a:noFill/>
        </p:spPr>
        <p:txBody>
          <a:bodyPr wrap="square">
            <a:spAutoFit/>
          </a:bodyPr>
          <a:lstStyle/>
          <a:p>
            <a:pPr algn="ctr"/>
            <a:r>
              <a:rPr sz="2800" b="1">
                <a:solidFill>
                  <a:srgbClr val="FFA657"/>
                </a:solidFill>
              </a:rPr>
              <a:t>1</a:t>
            </a:r>
          </a:p>
        </p:txBody>
      </p:sp>
      <p:sp>
        <p:nvSpPr>
          <p:cNvPr id="8" name="TextBox 7"/>
          <p:cNvSpPr txBox="1"/>
          <p:nvPr/>
        </p:nvSpPr>
        <p:spPr>
          <a:xfrm>
            <a:off x="1100000" y="780000"/>
            <a:ext cx="10788952" cy="1826000"/>
          </a:xfrm>
          <a:prstGeom prst="rect">
            <a:avLst/>
          </a:prstGeom>
          <a:noFill/>
        </p:spPr>
        <p:txBody>
          <a:bodyPr wrap="square">
            <a:spAutoFit/>
          </a:bodyPr>
          <a:lstStyle/>
          <a:p>
            <a:pPr algn="l"/>
            <a:r>
              <a:rPr sz="1400" b="0">
                <a:solidFill>
                  <a:srgbClr val="FFFFFF"/>
                </a:solidFill>
              </a:rPr>
              <a:t>The Planner runs a seed test before navigating the app. What does the seed test actually bootstrap — and what would happen if the Planner navigated to http://localhost:5173 without it?</a:t>
            </a:r>
          </a:p>
        </p:txBody>
      </p:sp>
      <p:sp>
        <p:nvSpPr>
          <p:cNvPr id="9" name="Rectangle 8"/>
          <p:cNvSpPr/>
          <p:nvPr/>
        </p:nvSpPr>
        <p:spPr>
          <a:xfrm>
            <a:off x="274320" y="2686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2746000"/>
            <a:ext cx="700000" cy="1866000"/>
          </a:xfrm>
          <a:prstGeom prst="rect">
            <a:avLst/>
          </a:prstGeom>
          <a:noFill/>
        </p:spPr>
        <p:txBody>
          <a:bodyPr wrap="square">
            <a:spAutoFit/>
          </a:bodyPr>
          <a:lstStyle/>
          <a:p>
            <a:pPr algn="ctr"/>
            <a:r>
              <a:rPr sz="2800" b="1">
                <a:solidFill>
                  <a:srgbClr val="FFA657"/>
                </a:solidFill>
              </a:rPr>
              <a:t>2</a:t>
            </a:r>
          </a:p>
        </p:txBody>
      </p:sp>
      <p:sp>
        <p:nvSpPr>
          <p:cNvPr id="11" name="TextBox 10"/>
          <p:cNvSpPr txBox="1"/>
          <p:nvPr/>
        </p:nvSpPr>
        <p:spPr>
          <a:xfrm>
            <a:off x="1100000" y="2766000"/>
            <a:ext cx="10788952" cy="1826000"/>
          </a:xfrm>
          <a:prstGeom prst="rect">
            <a:avLst/>
          </a:prstGeom>
          <a:noFill/>
        </p:spPr>
        <p:txBody>
          <a:bodyPr wrap="square">
            <a:spAutoFit/>
          </a:bodyPr>
          <a:lstStyle/>
          <a:p>
            <a:pPr algn="l"/>
            <a:r>
              <a:rPr sz="1400" b="0">
                <a:solidFill>
                  <a:srgbClr val="FFFFFF"/>
                </a:solidFill>
              </a:rPr>
              <a:t>The Generator is explicitly allowed to emit tests that contain errors, leaving them for the Healer to fix. Why is imperfect generation preferable to requiring the Generator to produce passing tests on the first attempt?</a:t>
            </a:r>
          </a:p>
        </p:txBody>
      </p:sp>
      <p:sp>
        <p:nvSpPr>
          <p:cNvPr id="12" name="Rectangle 11"/>
          <p:cNvSpPr/>
          <p:nvPr/>
        </p:nvSpPr>
        <p:spPr>
          <a:xfrm>
            <a:off x="274320" y="4672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4732000"/>
            <a:ext cx="700000" cy="1866000"/>
          </a:xfrm>
          <a:prstGeom prst="rect">
            <a:avLst/>
          </a:prstGeom>
          <a:noFill/>
        </p:spPr>
        <p:txBody>
          <a:bodyPr wrap="square">
            <a:spAutoFit/>
          </a:bodyPr>
          <a:lstStyle/>
          <a:p>
            <a:pPr algn="ctr"/>
            <a:r>
              <a:rPr sz="2800" b="1">
                <a:solidFill>
                  <a:srgbClr val="FFA657"/>
                </a:solidFill>
              </a:rPr>
              <a:t>3</a:t>
            </a:r>
          </a:p>
        </p:txBody>
      </p:sp>
      <p:sp>
        <p:nvSpPr>
          <p:cNvPr id="14" name="TextBox 13"/>
          <p:cNvSpPr txBox="1"/>
          <p:nvPr/>
        </p:nvSpPr>
        <p:spPr>
          <a:xfrm>
            <a:off x="1100000" y="4752000"/>
            <a:ext cx="10788952" cy="1826000"/>
          </a:xfrm>
          <a:prstGeom prst="rect">
            <a:avLst/>
          </a:prstGeom>
          <a:noFill/>
        </p:spPr>
        <p:txBody>
          <a:bodyPr wrap="square">
            <a:spAutoFit/>
          </a:bodyPr>
          <a:lstStyle/>
          <a:p>
            <a:pPr algn="l"/>
            <a:r>
              <a:rPr sz="1400" b="0">
                <a:solidFill>
                  <a:srgbClr val="FFFFFF"/>
                </a:solidFill>
              </a:rPr>
              <a:t>A button is renamed from 'Submit' to 'Save' after the tests were generated. Ch4 SelfHealingAgent and Ch4.1 TestHealerAgent are both available. Which is the right tool, and why can't the other one help?</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FA657"/>
                </a:solidFill>
              </a:rPr>
              <a:t>CH 4.1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Workshop Tasks</a:t>
            </a:r>
          </a:p>
        </p:txBody>
      </p:sp>
      <p:sp>
        <p:nvSpPr>
          <p:cNvPr id="6" name="Rectangle 5"/>
          <p:cNvSpPr/>
          <p:nvPr/>
        </p:nvSpPr>
        <p:spPr>
          <a:xfrm>
            <a:off x="274320" y="680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40000"/>
            <a:ext cx="800000" cy="1379500"/>
          </a:xfrm>
          <a:prstGeom prst="rect">
            <a:avLst/>
          </a:prstGeom>
          <a:noFill/>
        </p:spPr>
        <p:txBody>
          <a:bodyPr wrap="square">
            <a:spAutoFit/>
          </a:bodyPr>
          <a:lstStyle/>
          <a:p>
            <a:pPr algn="l"/>
            <a:r>
              <a:rPr sz="1300" b="1">
                <a:solidFill>
                  <a:srgbClr val="FFA657"/>
                </a:solidFill>
              </a:rPr>
              <a:t>Task A</a:t>
            </a:r>
          </a:p>
        </p:txBody>
      </p:sp>
      <p:sp>
        <p:nvSpPr>
          <p:cNvPr id="8" name="TextBox 7"/>
          <p:cNvSpPr txBox="1"/>
          <p:nvPr/>
        </p:nvSpPr>
        <p:spPr>
          <a:xfrm>
            <a:off x="1200000" y="740000"/>
            <a:ext cx="3600000" cy="1379500"/>
          </a:xfrm>
          <a:prstGeom prst="rect">
            <a:avLst/>
          </a:prstGeom>
          <a:noFill/>
        </p:spPr>
        <p:txBody>
          <a:bodyPr wrap="square">
            <a:spAutoFit/>
          </a:bodyPr>
          <a:lstStyle/>
          <a:p>
            <a:pPr algn="l"/>
            <a:r>
              <a:rPr sz="1400" b="1">
                <a:solidFill>
                  <a:srgbClr val="FFFFFF"/>
                </a:solidFill>
              </a:rPr>
              <a:t>Init and inspect agents</a:t>
            </a:r>
          </a:p>
        </p:txBody>
      </p:sp>
      <p:sp>
        <p:nvSpPr>
          <p:cNvPr id="9" name="TextBox 8"/>
          <p:cNvSpPr txBox="1"/>
          <p:nvPr/>
        </p:nvSpPr>
        <p:spPr>
          <a:xfrm>
            <a:off x="4900000" y="740000"/>
            <a:ext cx="6988952" cy="1379500"/>
          </a:xfrm>
          <a:prstGeom prst="rect">
            <a:avLst/>
          </a:prstGeom>
          <a:noFill/>
        </p:spPr>
        <p:txBody>
          <a:bodyPr wrap="square">
            <a:spAutoFit/>
          </a:bodyPr>
          <a:lstStyle/>
          <a:p>
            <a:pPr algn="l"/>
            <a:r>
              <a:rPr sz="1200" b="0">
                <a:solidFill>
                  <a:srgbClr val="8B949E"/>
                </a:solidFill>
              </a:rPr>
              <a:t>npx playwright init-agents --loop=claude
Open .github/ and read the generated agent definitions.</a:t>
            </a:r>
          </a:p>
        </p:txBody>
      </p:sp>
      <p:sp>
        <p:nvSpPr>
          <p:cNvPr id="10" name="Rectangle 9"/>
          <p:cNvSpPr/>
          <p:nvPr/>
        </p:nvSpPr>
        <p:spPr>
          <a:xfrm>
            <a:off x="274320" y="2179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39500"/>
            <a:ext cx="800000" cy="1379500"/>
          </a:xfrm>
          <a:prstGeom prst="rect">
            <a:avLst/>
          </a:prstGeom>
          <a:noFill/>
        </p:spPr>
        <p:txBody>
          <a:bodyPr wrap="square">
            <a:spAutoFit/>
          </a:bodyPr>
          <a:lstStyle/>
          <a:p>
            <a:pPr algn="l"/>
            <a:r>
              <a:rPr sz="1300" b="1">
                <a:solidFill>
                  <a:srgbClr val="FFA657"/>
                </a:solidFill>
              </a:rPr>
              <a:t>Task B</a:t>
            </a:r>
          </a:p>
        </p:txBody>
      </p:sp>
      <p:sp>
        <p:nvSpPr>
          <p:cNvPr id="12" name="TextBox 11"/>
          <p:cNvSpPr txBox="1"/>
          <p:nvPr/>
        </p:nvSpPr>
        <p:spPr>
          <a:xfrm>
            <a:off x="1200000" y="2239500"/>
            <a:ext cx="3600000" cy="1379500"/>
          </a:xfrm>
          <a:prstGeom prst="rect">
            <a:avLst/>
          </a:prstGeom>
          <a:noFill/>
        </p:spPr>
        <p:txBody>
          <a:bodyPr wrap="square">
            <a:spAutoFit/>
          </a:bodyPr>
          <a:lstStyle/>
          <a:p>
            <a:pPr algn="l"/>
            <a:r>
              <a:rPr sz="1400" b="1">
                <a:solidFill>
                  <a:srgbClr val="FFFFFF"/>
                </a:solidFill>
              </a:rPr>
              <a:t>Run the Planner</a:t>
            </a:r>
          </a:p>
        </p:txBody>
      </p:sp>
      <p:sp>
        <p:nvSpPr>
          <p:cNvPr id="13" name="TextBox 12"/>
          <p:cNvSpPr txBox="1"/>
          <p:nvPr/>
        </p:nvSpPr>
        <p:spPr>
          <a:xfrm>
            <a:off x="4900000" y="2239500"/>
            <a:ext cx="6988952" cy="1379500"/>
          </a:xfrm>
          <a:prstGeom prst="rect">
            <a:avLst/>
          </a:prstGeom>
          <a:noFill/>
        </p:spPr>
        <p:txBody>
          <a:bodyPr wrap="square">
            <a:spAutoFit/>
          </a:bodyPr>
          <a:lstStyle/>
          <a:p>
            <a:pPr algn="l"/>
            <a:r>
              <a:rPr sz="1200" b="0">
                <a:solidFill>
                  <a:srgbClr val="8B949E"/>
                </a:solidFill>
              </a:rPr>
              <a:t>ANTHROPIC_API_KEY=sk-... npx ts-node examples/ch4.1-playwright-agents/planner.ts
Review specs/web-detective.md — does it cover login, dashboard, and products?</a:t>
            </a:r>
          </a:p>
        </p:txBody>
      </p:sp>
      <p:sp>
        <p:nvSpPr>
          <p:cNvPr id="14" name="Rectangle 13"/>
          <p:cNvSpPr/>
          <p:nvPr/>
        </p:nvSpPr>
        <p:spPr>
          <a:xfrm>
            <a:off x="274320" y="3679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739000"/>
            <a:ext cx="800000" cy="1379500"/>
          </a:xfrm>
          <a:prstGeom prst="rect">
            <a:avLst/>
          </a:prstGeom>
          <a:noFill/>
        </p:spPr>
        <p:txBody>
          <a:bodyPr wrap="square">
            <a:spAutoFit/>
          </a:bodyPr>
          <a:lstStyle/>
          <a:p>
            <a:pPr algn="l"/>
            <a:r>
              <a:rPr sz="1300" b="1">
                <a:solidFill>
                  <a:srgbClr val="FFA657"/>
                </a:solidFill>
              </a:rPr>
              <a:t>Task C</a:t>
            </a:r>
          </a:p>
        </p:txBody>
      </p:sp>
      <p:sp>
        <p:nvSpPr>
          <p:cNvPr id="16" name="TextBox 15"/>
          <p:cNvSpPr txBox="1"/>
          <p:nvPr/>
        </p:nvSpPr>
        <p:spPr>
          <a:xfrm>
            <a:off x="1200000" y="3739000"/>
            <a:ext cx="3600000" cy="1379500"/>
          </a:xfrm>
          <a:prstGeom prst="rect">
            <a:avLst/>
          </a:prstGeom>
          <a:noFill/>
        </p:spPr>
        <p:txBody>
          <a:bodyPr wrap="square">
            <a:spAutoFit/>
          </a:bodyPr>
          <a:lstStyle/>
          <a:p>
            <a:pPr algn="l"/>
            <a:r>
              <a:rPr sz="1400" b="1">
                <a:solidFill>
                  <a:srgbClr val="FFFFFF"/>
                </a:solidFill>
              </a:rPr>
              <a:t>Break a test and heal it</a:t>
            </a:r>
          </a:p>
        </p:txBody>
      </p:sp>
      <p:sp>
        <p:nvSpPr>
          <p:cNvPr id="17" name="TextBox 16"/>
          <p:cNvSpPr txBox="1"/>
          <p:nvPr/>
        </p:nvSpPr>
        <p:spPr>
          <a:xfrm>
            <a:off x="4900000" y="3739000"/>
            <a:ext cx="6988952" cy="1379500"/>
          </a:xfrm>
          <a:prstGeom prst="rect">
            <a:avLst/>
          </a:prstGeom>
          <a:noFill/>
        </p:spPr>
        <p:txBody>
          <a:bodyPr wrap="square">
            <a:spAutoFit/>
          </a:bodyPr>
          <a:lstStyle/>
          <a:p>
            <a:pPr algn="l"/>
            <a:r>
              <a:rPr sz="1200" b="0">
                <a:solidFill>
                  <a:srgbClr val="8B949E"/>
                </a:solidFill>
              </a:rPr>
              <a:t>In tests/generated/web-detective.spec.ts change one getByRole to locator('.gone').
Run TestHealerAgent. Observe the multi-round repair loop.</a:t>
            </a:r>
          </a:p>
        </p:txBody>
      </p:sp>
      <p:sp>
        <p:nvSpPr>
          <p:cNvPr id="18" name="Rectangle 17"/>
          <p:cNvSpPr/>
          <p:nvPr/>
        </p:nvSpPr>
        <p:spPr>
          <a:xfrm>
            <a:off x="274320" y="5178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5238500"/>
            <a:ext cx="800000" cy="1379500"/>
          </a:xfrm>
          <a:prstGeom prst="rect">
            <a:avLst/>
          </a:prstGeom>
          <a:noFill/>
        </p:spPr>
        <p:txBody>
          <a:bodyPr wrap="square">
            <a:spAutoFit/>
          </a:bodyPr>
          <a:lstStyle/>
          <a:p>
            <a:pPr algn="l"/>
            <a:r>
              <a:rPr sz="1300" b="1">
                <a:solidFill>
                  <a:srgbClr val="FFA657"/>
                </a:solidFill>
              </a:rPr>
              <a:t>Task D</a:t>
            </a:r>
          </a:p>
        </p:txBody>
      </p:sp>
      <p:sp>
        <p:nvSpPr>
          <p:cNvPr id="20" name="TextBox 19"/>
          <p:cNvSpPr txBox="1"/>
          <p:nvPr/>
        </p:nvSpPr>
        <p:spPr>
          <a:xfrm>
            <a:off x="1200000" y="5238500"/>
            <a:ext cx="3600000" cy="1379500"/>
          </a:xfrm>
          <a:prstGeom prst="rect">
            <a:avLst/>
          </a:prstGeom>
          <a:noFill/>
        </p:spPr>
        <p:txBody>
          <a:bodyPr wrap="square">
            <a:spAutoFit/>
          </a:bodyPr>
          <a:lstStyle/>
          <a:p>
            <a:pPr algn="l"/>
            <a:r>
              <a:rPr sz="1400" b="1">
                <a:solidFill>
                  <a:srgbClr val="FFFFFF"/>
                </a:solidFill>
              </a:rPr>
              <a:t>Use /pw-plan skill</a:t>
            </a:r>
          </a:p>
        </p:txBody>
      </p:sp>
      <p:sp>
        <p:nvSpPr>
          <p:cNvPr id="21" name="TextBox 20"/>
          <p:cNvSpPr txBox="1"/>
          <p:nvPr/>
        </p:nvSpPr>
        <p:spPr>
          <a:xfrm>
            <a:off x="4900000" y="5238500"/>
            <a:ext cx="6988952" cy="1379500"/>
          </a:xfrm>
          <a:prstGeom prst="rect">
            <a:avLst/>
          </a:prstGeom>
          <a:noFill/>
        </p:spPr>
        <p:txBody>
          <a:bodyPr wrap="square">
            <a:spAutoFit/>
          </a:bodyPr>
          <a:lstStyle/>
          <a:p>
            <a:pPr algn="l"/>
            <a:r>
              <a:rPr sz="1200" b="0">
                <a:solidFill>
                  <a:srgbClr val="8B949E"/>
                </a:solidFill>
              </a:rPr>
              <a:t>/pw-plan web-detective
Compare the skill-generated tests with the programmatic ones.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286000"/>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286000"/>
            <a:ext cx="12188952" cy="4572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086000"/>
            <a:ext cx="12188952" cy="400000"/>
          </a:xfrm>
          <a:prstGeom prst="rect">
            <a:avLst/>
          </a:prstGeom>
          <a:noFill/>
        </p:spPr>
        <p:txBody>
          <a:bodyPr wrap="square">
            <a:spAutoFit/>
          </a:bodyPr>
          <a:lstStyle/>
          <a:p>
            <a:pPr algn="ctr"/>
            <a:r>
              <a:rPr sz="3600" b="1">
                <a:solidFill>
                  <a:srgbClr val="0D1117"/>
                </a:solidFill>
              </a:rPr>
              <a:t>☕  Break</a:t>
            </a:r>
          </a:p>
        </p:txBody>
      </p:sp>
      <p:sp>
        <p:nvSpPr>
          <p:cNvPr id="6" name="TextBox 5"/>
          <p:cNvSpPr txBox="1"/>
          <p:nvPr/>
        </p:nvSpPr>
        <p:spPr>
          <a:xfrm>
            <a:off x="0" y="2566000"/>
            <a:ext cx="12188952" cy="400000"/>
          </a:xfrm>
          <a:prstGeom prst="rect">
            <a:avLst/>
          </a:prstGeom>
          <a:noFill/>
        </p:spPr>
        <p:txBody>
          <a:bodyPr wrap="square">
            <a:spAutoFit/>
          </a:bodyPr>
          <a:lstStyle/>
          <a:p>
            <a:pPr algn="ctr"/>
            <a:r>
              <a:rPr sz="2000" b="0">
                <a:solidFill>
                  <a:srgbClr val="8B949E"/>
                </a:solidFill>
              </a:rPr>
              <a:t>15:30 – 15:45  ·  15 minutes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37160"/>
            <a:ext cx="1371600" cy="347472"/>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9184" y="164592"/>
            <a:ext cx="1280160" cy="320040"/>
          </a:xfrm>
          <a:prstGeom prst="rect">
            <a:avLst/>
          </a:prstGeom>
          <a:noFill/>
        </p:spPr>
        <p:txBody>
          <a:bodyPr wrap="square">
            <a:spAutoFit/>
          </a:bodyPr>
          <a:lstStyle/>
          <a:p>
            <a:pPr algn="ctr"/>
            <a:r>
              <a:rPr sz="1300" b="1">
                <a:solidFill>
                  <a:srgbClr val="0D1117"/>
                </a:solidFill>
              </a:rPr>
              <a:t>CH 5  ·  15:45</a:t>
            </a:r>
          </a:p>
        </p:txBody>
      </p:sp>
      <p:sp>
        <p:nvSpPr>
          <p:cNvPr id="6" name="TextBox 5"/>
          <p:cNvSpPr txBox="1"/>
          <p:nvPr/>
        </p:nvSpPr>
        <p:spPr>
          <a:xfrm>
            <a:off x="1874519" y="109728"/>
            <a:ext cx="9900000" cy="600000"/>
          </a:xfrm>
          <a:prstGeom prst="rect">
            <a:avLst/>
          </a:prstGeom>
          <a:noFill/>
        </p:spPr>
        <p:txBody>
          <a:bodyPr wrap="square">
            <a:spAutoFit/>
          </a:bodyPr>
          <a:lstStyle/>
          <a:p>
            <a:pPr algn="l"/>
            <a:r>
              <a:rPr sz="3000" b="1">
                <a:solidFill>
                  <a:srgbClr val="FFFFFF"/>
                </a:solidFill>
              </a:rPr>
              <a:t>Building Your Own Custom AI Agent</a:t>
            </a:r>
          </a:p>
        </p:txBody>
      </p:sp>
      <p:sp>
        <p:nvSpPr>
          <p:cNvPr id="7" name="TextBox 6"/>
          <p:cNvSpPr txBox="1"/>
          <p:nvPr/>
        </p:nvSpPr>
        <p:spPr>
          <a:xfrm>
            <a:off x="1874519" y="660000"/>
            <a:ext cx="9900000" cy="347472"/>
          </a:xfrm>
          <a:prstGeom prst="rect">
            <a:avLst/>
          </a:prstGeom>
          <a:noFill/>
        </p:spPr>
        <p:txBody>
          <a:bodyPr wrap="square">
            <a:spAutoFit/>
          </a:bodyPr>
          <a:lstStyle/>
          <a:p>
            <a:pPr algn="l"/>
            <a:r>
              <a:rPr sz="1500" b="0">
                <a:solidFill>
                  <a:srgbClr val="8B949E"/>
                </a:solidFill>
              </a:rPr>
              <a:t>45 min  ·  Observe → Plan → Act → Verify → Learn with Anthropic SDK</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9D353"/>
                </a:solidFill>
              </a:rPr>
              <a:t>CH 5</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WebTestAgent — Architecture Overview</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Three files. Three responsibilities.</a:t>
            </a:r>
          </a:p>
          <a:p>
            <a:pPr algn="l">
              <a:lnSpc>
                <a:spcPts val="1800"/>
              </a:lnSpc>
            </a:pPr>
            <a:r>
              <a:rPr sz="1400" b="0">
                <a:solidFill>
                  <a:srgbClr val="FFFFFF"/>
                </a:solidFill>
              </a:rPr>
              <a:t/>
            </a:r>
          </a:p>
          <a:p>
            <a:pPr algn="l">
              <a:lnSpc>
                <a:spcPts val="1800"/>
              </a:lnSpc>
            </a:pPr>
            <a:r>
              <a:rPr sz="1400" b="0">
                <a:solidFill>
                  <a:srgbClr val="FFFFFF"/>
                </a:solidFill>
              </a:rPr>
              <a:t>agent.ts     The reasoning loop: calls Claude, executes tools, collects results</a:t>
            </a:r>
          </a:p>
          <a:p>
            <a:pPr algn="l">
              <a:lnSpc>
                <a:spcPts val="1800"/>
              </a:lnSpc>
            </a:pPr>
            <a:r>
              <a:rPr sz="1400" b="0">
                <a:solidFill>
                  <a:srgbClr val="FFFFFF"/>
                </a:solidFill>
              </a:rPr>
              <a:t>tools.ts     The tool registry: typed JSON schemas Claude uses to call Playwright</a:t>
            </a:r>
          </a:p>
          <a:p>
            <a:pPr algn="l">
              <a:lnSpc>
                <a:spcPts val="1800"/>
              </a:lnSpc>
            </a:pPr>
            <a:r>
              <a:rPr sz="1400" b="0">
                <a:solidFill>
                  <a:srgbClr val="FFFFFF"/>
                </a:solidFill>
              </a:rPr>
              <a:t>prompts.ts   The system + task prompts: defines identity and goal per run</a:t>
            </a:r>
          </a:p>
          <a:p>
            <a:pPr algn="l">
              <a:lnSpc>
                <a:spcPts val="1800"/>
              </a:lnSpc>
            </a:pPr>
            <a:r>
              <a:rPr sz="1400" b="0">
                <a:solidFill>
                  <a:srgbClr val="FFFFFF"/>
                </a:solidFill>
              </a:rPr>
              <a:t/>
            </a:r>
          </a:p>
          <a:p>
            <a:pPr algn="l">
              <a:lnSpc>
                <a:spcPts val="1800"/>
              </a:lnSpc>
            </a:pPr>
            <a:r>
              <a:rPr sz="1400" b="0">
                <a:solidFill>
                  <a:srgbClr val="8B949E"/>
                </a:solidFill>
              </a:rPr>
              <a:t>The loop (agent.ts):</a:t>
            </a:r>
          </a:p>
          <a:p>
            <a:pPr algn="l">
              <a:lnSpc>
                <a:spcPts val="1800"/>
              </a:lnSpc>
            </a:pPr>
            <a:r>
              <a:rPr sz="1400" b="0">
                <a:solidFill>
                  <a:srgbClr val="FFFFFF"/>
                </a:solidFill>
              </a:rPr>
              <a:t>  1. Send goal + conversation history to Claude</a:t>
            </a:r>
          </a:p>
          <a:p>
            <a:pPr algn="l">
              <a:lnSpc>
                <a:spcPts val="1800"/>
              </a:lnSpc>
            </a:pPr>
            <a:r>
              <a:rPr sz="1400" b="0">
                <a:solidFill>
                  <a:srgbClr val="FFFFFF"/>
                </a:solidFill>
              </a:rPr>
              <a:t>  2. Claude responds with tool_use blocks</a:t>
            </a:r>
          </a:p>
          <a:p>
            <a:pPr algn="l">
              <a:lnSpc>
                <a:spcPts val="1800"/>
              </a:lnSpc>
            </a:pPr>
            <a:r>
              <a:rPr sz="1400" b="0">
                <a:solidFill>
                  <a:srgbClr val="FFFFFF"/>
                </a:solidFill>
              </a:rPr>
              <a:t>  3. Execute each tool against the live browser</a:t>
            </a:r>
          </a:p>
          <a:p>
            <a:pPr algn="l">
              <a:lnSpc>
                <a:spcPts val="1800"/>
              </a:lnSpc>
            </a:pPr>
            <a:r>
              <a:rPr sz="1400" b="0">
                <a:solidFill>
                  <a:srgbClr val="FFFFFF"/>
                </a:solidFill>
              </a:rPr>
              <a:t>  4. Append tool results to conversation history</a:t>
            </a:r>
          </a:p>
          <a:p>
            <a:pPr algn="l">
              <a:lnSpc>
                <a:spcPts val="1800"/>
              </a:lnSpc>
            </a:pPr>
            <a:r>
              <a:rPr sz="1400" b="0">
                <a:solidFill>
                  <a:srgbClr val="FFFFFF"/>
                </a:solidFill>
              </a:rPr>
              <a:t>  5. Repeat until done() is called or 15 turns reached</a:t>
            </a:r>
          </a:p>
          <a:p>
            <a:pPr algn="l">
              <a:lnSpc>
                <a:spcPts val="1800"/>
              </a:lnSpc>
            </a:pPr>
            <a:r>
              <a:rPr sz="1400" b="0">
                <a:solidFill>
                  <a:srgbClr val="FFFFFF"/>
                </a:solidFill>
              </a:rPr>
              <a:t/>
            </a:r>
          </a:p>
          <a:p>
            <a:pPr algn="l">
              <a:lnSpc>
                <a:spcPts val="1800"/>
              </a:lnSpc>
            </a:pPr>
            <a:r>
              <a:rPr sz="1400" b="0">
                <a:solidFill>
                  <a:srgbClr val="8B949E"/>
                </a:solidFill>
              </a:rPr>
              <a:t>Key design choices:</a:t>
            </a:r>
          </a:p>
          <a:p>
            <a:pPr algn="l">
              <a:lnSpc>
                <a:spcPts val="1800"/>
              </a:lnSpc>
            </a:pPr>
            <a:r>
              <a:rPr sz="1400" b="0">
                <a:solidFill>
                  <a:srgbClr val="FFFFFF"/>
                </a:solidFill>
              </a:rPr>
              <a:t>  • done() is a tool — not a return — so Claude controls termination</a:t>
            </a:r>
          </a:p>
          <a:p>
            <a:pPr algn="l">
              <a:lnSpc>
                <a:spcPts val="1800"/>
              </a:lnSpc>
            </a:pPr>
            <a:r>
              <a:rPr sz="1400" b="0">
                <a:solidFill>
                  <a:srgbClr val="FFFFFF"/>
                </a:solidFill>
              </a:rPr>
              <a:t>  • 15-turn limit prevents infinite loops if goal is impossible</a:t>
            </a:r>
          </a:p>
          <a:p>
            <a:pPr algn="l">
              <a:lnSpc>
                <a:spcPts val="1800"/>
              </a:lnSpc>
            </a:pPr>
            <a:r>
              <a:rPr sz="1400" b="0">
                <a:solidFill>
                  <a:srgbClr val="FFFFFF"/>
                </a:solidFill>
              </a:rPr>
              <a:t>  • System prompt is cached (cache_control: ephemeral) for cost savings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9D353"/>
                </a:solidFill>
              </a:rPr>
              <a:t>CH 5</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The 15-Turn Reasoning Loop</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ch5-custom-agent/agent.ts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for (let turn = 0; turn &lt; 15; turn++) {</a:t>
            </a:r>
          </a:p>
          <a:p>
            <a:pPr algn="l">
              <a:lnSpc>
                <a:spcPts val="1500"/>
              </a:lnSpc>
            </a:pPr>
            <a:r>
              <a:rPr sz="1200" b="0">
                <a:solidFill>
                  <a:srgbClr val="FFFFFF"/>
                </a:solidFill>
                <a:latin typeface="Courier New"/>
              </a:rPr>
              <a:t>  const response = await client.messages.create({</a:t>
            </a:r>
          </a:p>
          <a:p>
            <a:pPr algn="l">
              <a:lnSpc>
                <a:spcPts val="1500"/>
              </a:lnSpc>
            </a:pPr>
            <a:r>
              <a:rPr sz="1200" b="0">
                <a:solidFill>
                  <a:srgbClr val="FFFFFF"/>
                </a:solidFill>
                <a:latin typeface="Courier New"/>
              </a:rPr>
              <a:t>    model:    'claude-sonnet-4-6',</a:t>
            </a:r>
          </a:p>
          <a:p>
            <a:pPr algn="l">
              <a:lnSpc>
                <a:spcPts val="1500"/>
              </a:lnSpc>
            </a:pPr>
            <a:r>
              <a:rPr sz="1200" b="0">
                <a:solidFill>
                  <a:srgbClr val="FFFFFF"/>
                </a:solidFill>
                <a:latin typeface="Courier New"/>
              </a:rPr>
              <a:t>    system:   [{ type: 'text', text: SYSTEM_PROMPT,</a:t>
            </a:r>
          </a:p>
          <a:p>
            <a:pPr algn="l">
              <a:lnSpc>
                <a:spcPts val="1500"/>
              </a:lnSpc>
            </a:pPr>
            <a:r>
              <a:rPr sz="1200" b="0">
                <a:solidFill>
                  <a:srgbClr val="39D353"/>
                </a:solidFill>
                <a:latin typeface="Courier New"/>
              </a:rPr>
              <a:t>               cache_control: { type: 'ephemeral' } }],  // cached ✓</a:t>
            </a:r>
          </a:p>
          <a:p>
            <a:pPr algn="l">
              <a:lnSpc>
                <a:spcPts val="1500"/>
              </a:lnSpc>
            </a:pPr>
            <a:r>
              <a:rPr sz="1200" b="0">
                <a:solidFill>
                  <a:srgbClr val="FFFFFF"/>
                </a:solidFill>
                <a:latin typeface="Courier New"/>
              </a:rPr>
              <a:t>    tools:    AGENT_TOOLS,</a:t>
            </a:r>
          </a:p>
          <a:p>
            <a:pPr algn="l">
              <a:lnSpc>
                <a:spcPts val="1500"/>
              </a:lnSpc>
            </a:pPr>
            <a:r>
              <a:rPr sz="1200" b="0">
                <a:solidFill>
                  <a:srgbClr val="FFFFFF"/>
                </a:solidFill>
                <a:latin typeface="Courier New"/>
              </a:rPr>
              <a:t>    messages,</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  messages.push({ role: 'assistant', content: response.content })</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  for (const block of response.content) {</a:t>
            </a:r>
          </a:p>
          <a:p>
            <a:pPr algn="l">
              <a:lnSpc>
                <a:spcPts val="1500"/>
              </a:lnSpc>
            </a:pPr>
            <a:r>
              <a:rPr sz="1200" b="0">
                <a:solidFill>
                  <a:srgbClr val="FFFFFF"/>
                </a:solidFill>
                <a:latin typeface="Courier New"/>
              </a:rPr>
              <a:t>    if (block.type !== 'tool_use') continue</a:t>
            </a:r>
          </a:p>
          <a:p>
            <a:pPr algn="l">
              <a:lnSpc>
                <a:spcPts val="1500"/>
              </a:lnSpc>
            </a:pPr>
            <a:r>
              <a:rPr sz="1200" b="0">
                <a:solidFill>
                  <a:srgbClr val="39D353"/>
                </a:solidFill>
                <a:latin typeface="Courier New"/>
              </a:rPr>
              <a:t>    if (block.name === 'done') return parseResult(block.input)</a:t>
            </a:r>
          </a:p>
          <a:p>
            <a:pPr algn="l">
              <a:lnSpc>
                <a:spcPts val="1500"/>
              </a:lnSpc>
            </a:pPr>
            <a:r>
              <a:rPr sz="1200" b="0">
                <a:solidFill>
                  <a:srgbClr val="FFFFFF"/>
                </a:solidFill>
                <a:latin typeface="Courier New"/>
              </a:rPr>
              <a:t>    const result = await this.execute(block.name, block.input)</a:t>
            </a:r>
          </a:p>
          <a:p>
            <a:pPr algn="l">
              <a:lnSpc>
                <a:spcPts val="1500"/>
              </a:lnSpc>
            </a:pPr>
            <a:r>
              <a:rPr sz="1200" b="0">
                <a:solidFill>
                  <a:srgbClr val="FFFFFF"/>
                </a:solidFill>
                <a:latin typeface="Courier New"/>
              </a:rPr>
              <a:t>    toolResults.push({ type: 'tool_result',</a:t>
            </a:r>
          </a:p>
          <a:p>
            <a:pPr algn="l">
              <a:lnSpc>
                <a:spcPts val="1500"/>
              </a:lnSpc>
            </a:pPr>
            <a:r>
              <a:rPr sz="1200" b="0">
                <a:solidFill>
                  <a:srgbClr val="FFFFFF"/>
                </a:solidFill>
                <a:latin typeface="Courier New"/>
              </a:rPr>
              <a:t>      tool_use_id: block.id, content: result })</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  messages.push({ role: 'user', content: toolResults })</a:t>
            </a:r>
          </a:p>
          <a:p>
            <a:pPr algn="l">
              <a:lnSpc>
                <a:spcPts val="1500"/>
              </a:lnSpc>
            </a:pPr>
            <a:r>
              <a:rPr sz="1200" b="0">
                <a:solidFill>
                  <a:srgbClr val="FFFFFF"/>
                </a:solidFill>
                <a:latin typeface="Courier New"/>
              </a:rPr>
              <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9D353"/>
                </a:solidFill>
              </a:rPr>
              <a:t>CH 5</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Tool Registry — What Claude Can Do</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ch5-custom-agent/tools.ts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export type ToolName =</a:t>
            </a:r>
          </a:p>
          <a:p>
            <a:pPr algn="l">
              <a:lnSpc>
                <a:spcPts val="1500"/>
              </a:lnSpc>
            </a:pPr>
            <a:r>
              <a:rPr sz="1200" b="0">
                <a:solidFill>
                  <a:srgbClr val="FFFFFF"/>
                </a:solidFill>
                <a:latin typeface="Courier New"/>
              </a:rPr>
              <a:t>  | 'navigate'        // go to a URL or path</a:t>
            </a:r>
          </a:p>
          <a:p>
            <a:pPr algn="l">
              <a:lnSpc>
                <a:spcPts val="1500"/>
              </a:lnSpc>
            </a:pPr>
            <a:r>
              <a:rPr sz="1200" b="0">
                <a:solidFill>
                  <a:srgbClr val="FFFFFF"/>
                </a:solidFill>
                <a:latin typeface="Courier New"/>
              </a:rPr>
              <a:t>  | 'click'           // click element (selector + description required)</a:t>
            </a:r>
          </a:p>
          <a:p>
            <a:pPr algn="l">
              <a:lnSpc>
                <a:spcPts val="1500"/>
              </a:lnSpc>
            </a:pPr>
            <a:r>
              <a:rPr sz="1200" b="0">
                <a:solidFill>
                  <a:srgbClr val="FFFFFF"/>
                </a:solidFill>
                <a:latin typeface="Courier New"/>
              </a:rPr>
              <a:t>  | 'fill'            // type into an input</a:t>
            </a:r>
          </a:p>
          <a:p>
            <a:pPr algn="l">
              <a:lnSpc>
                <a:spcPts val="1500"/>
              </a:lnSpc>
            </a:pPr>
            <a:r>
              <a:rPr sz="1200" b="0">
                <a:solidFill>
                  <a:srgbClr val="39D353"/>
                </a:solidFill>
                <a:latin typeface="Courier New"/>
              </a:rPr>
              <a:t>  | 'snapshot'        // ariaSnapshot — CALL FIRST before acting</a:t>
            </a:r>
          </a:p>
          <a:p>
            <a:pPr algn="l">
              <a:lnSpc>
                <a:spcPts val="1500"/>
              </a:lnSpc>
            </a:pPr>
            <a:r>
              <a:rPr sz="1200" b="0">
                <a:solidFill>
                  <a:srgbClr val="FFFFFF"/>
                </a:solidFill>
                <a:latin typeface="Courier New"/>
              </a:rPr>
              <a:t>  | 'assert_url'      // URL contains expected string</a:t>
            </a:r>
          </a:p>
          <a:p>
            <a:pPr algn="l">
              <a:lnSpc>
                <a:spcPts val="1500"/>
              </a:lnSpc>
            </a:pPr>
            <a:r>
              <a:rPr sz="1200" b="0">
                <a:solidFill>
                  <a:srgbClr val="FFFFFF"/>
                </a:solidFill>
                <a:latin typeface="Courier New"/>
              </a:rPr>
              <a:t>  | 'assert_visible'  // element is visible on page</a:t>
            </a:r>
          </a:p>
          <a:p>
            <a:pPr algn="l">
              <a:lnSpc>
                <a:spcPts val="1500"/>
              </a:lnSpc>
            </a:pPr>
            <a:r>
              <a:rPr sz="1200" b="0">
                <a:solidFill>
                  <a:srgbClr val="FFFFFF"/>
                </a:solidFill>
                <a:latin typeface="Courier New"/>
              </a:rPr>
              <a:t>  | 'assert_text'     // element contains expected text</a:t>
            </a:r>
          </a:p>
          <a:p>
            <a:pPr algn="l">
              <a:lnSpc>
                <a:spcPts val="1500"/>
              </a:lnSpc>
            </a:pPr>
            <a:r>
              <a:rPr sz="1200" b="0">
                <a:solidFill>
                  <a:srgbClr val="FFFFFF"/>
                </a:solidFill>
                <a:latin typeface="Courier New"/>
              </a:rPr>
              <a:t>  | 'screenshot'      // take PNG when visual confirmation needed</a:t>
            </a:r>
          </a:p>
          <a:p>
            <a:pPr algn="l">
              <a:lnSpc>
                <a:spcPts val="1500"/>
              </a:lnSpc>
            </a:pPr>
            <a:r>
              <a:rPr sz="1200" b="0">
                <a:solidFill>
                  <a:srgbClr val="39D353"/>
                </a:solidFill>
                <a:latin typeface="Courier New"/>
              </a:rPr>
              <a:t>  | 'done'            // signal goal achieved/failed</a:t>
            </a:r>
          </a:p>
          <a:p>
            <a:pPr algn="l">
              <a:lnSpc>
                <a:spcPts val="1500"/>
              </a:lnSpc>
            </a:pPr>
            <a:r>
              <a:rPr sz="1200" b="0">
                <a:solidFill>
                  <a:srgbClr val="FFFFFF"/>
                </a:solidFill>
                <a:latin typeface="Courier New"/>
              </a:rPr>
              <a:t/>
            </a:r>
          </a:p>
          <a:p>
            <a:pPr algn="l">
              <a:lnSpc>
                <a:spcPts val="1500"/>
              </a:lnSpc>
            </a:pPr>
            <a:r>
              <a:rPr sz="1200" b="0">
                <a:solidFill>
                  <a:srgbClr val="8B949E"/>
                </a:solidFill>
                <a:latin typeface="Courier New"/>
              </a:rPr>
              <a:t>// Every tool returns a string result consumed by the next turn.</a:t>
            </a:r>
          </a:p>
          <a:p>
            <a:pPr algn="l">
              <a:lnSpc>
                <a:spcPts val="1500"/>
              </a:lnSpc>
            </a:pPr>
            <a:r>
              <a:rPr sz="1200" b="0">
                <a:solidFill>
                  <a:srgbClr val="8B949E"/>
                </a:solidFill>
                <a:latin typeface="Courier New"/>
              </a:rPr>
              <a:t>// 'done' is special: it short-circuits the loop immediately.</a:t>
            </a:r>
          </a:p>
          <a:p>
            <a:pPr algn="l">
              <a:lnSpc>
                <a:spcPts val="1500"/>
              </a:lnSpc>
            </a:pPr>
            <a:r>
              <a:rPr sz="1200" b="0">
                <a:solidFill>
                  <a:srgbClr val="FFFFFF"/>
                </a:solidFill>
                <a:latin typeface="Courier New"/>
              </a:rPr>
              <a:t/>
            </a:r>
          </a:p>
          <a:p>
            <a:pPr algn="l">
              <a:lnSpc>
                <a:spcPts val="1500"/>
              </a:lnSpc>
            </a:pPr>
            <a:r>
              <a:rPr sz="1200" b="0">
                <a:solidFill>
                  <a:srgbClr val="8B949E"/>
                </a:solidFill>
                <a:latin typeface="Courier New"/>
              </a:rPr>
              <a:t>// Adding a tool = add to ToolName, AGENT_TOOLS array, execute() switch.</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9D353"/>
                </a:solidFill>
              </a:rPr>
              <a:t>CH 5</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System Prompt Engineering — Rules That Matter</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39D353"/>
                </a:solidFill>
              </a:rPr>
              <a:t>Always call snapshot() first.</a:t>
            </a:r>
          </a:p>
          <a:p>
            <a:pPr algn="l">
              <a:lnSpc>
                <a:spcPts val="1800"/>
              </a:lnSpc>
            </a:pPr>
            <a:r>
              <a:rPr sz="1400" b="0">
                <a:solidFill>
                  <a:srgbClr val="8B949E"/>
                </a:solidFill>
              </a:rPr>
              <a:t>  → Forces the agent to observe before acting. Prevents selector hallucination.</a:t>
            </a:r>
          </a:p>
          <a:p>
            <a:pPr algn="l">
              <a:lnSpc>
                <a:spcPts val="1800"/>
              </a:lnSpc>
            </a:pPr>
            <a:r>
              <a:rPr sz="1400" b="0">
                <a:solidFill>
                  <a:srgbClr val="FFFFFF"/>
                </a:solidFill>
              </a:rPr>
              <a:t/>
            </a:r>
          </a:p>
          <a:p>
            <a:pPr algn="l">
              <a:lnSpc>
                <a:spcPts val="1800"/>
              </a:lnSpc>
            </a:pPr>
            <a:r>
              <a:rPr sz="1400" b="0">
                <a:solidFill>
                  <a:srgbClr val="FFFFFF"/>
                </a:solidFill>
              </a:rPr>
              <a:t>Prefer ARIA selectors: getByRole, getByLabel, getByText, getByPlaceholder.</a:t>
            </a:r>
          </a:p>
          <a:p>
            <a:pPr algn="l">
              <a:lnSpc>
                <a:spcPts val="1800"/>
              </a:lnSpc>
            </a:pPr>
            <a:r>
              <a:rPr sz="1400" b="0">
                <a:solidFill>
                  <a:srgbClr val="8B949E"/>
                </a:solidFill>
              </a:rPr>
              <a:t>  → Stable across style changes. Readable in logs.</a:t>
            </a:r>
          </a:p>
          <a:p>
            <a:pPr algn="l">
              <a:lnSpc>
                <a:spcPts val="1800"/>
              </a:lnSpc>
            </a:pPr>
            <a:r>
              <a:rPr sz="1400" b="0">
                <a:solidFill>
                  <a:srgbClr val="FFFFFF"/>
                </a:solidFill>
              </a:rPr>
              <a:t/>
            </a:r>
          </a:p>
          <a:p>
            <a:pPr algn="l">
              <a:lnSpc>
                <a:spcPts val="1800"/>
              </a:lnSpc>
            </a:pPr>
            <a:r>
              <a:rPr sz="1400" b="0">
                <a:solidFill>
                  <a:srgbClr val="FFFFFF"/>
                </a:solidFill>
              </a:rPr>
              <a:t>Use done() as soon as the goal is achieved or definitively failed.</a:t>
            </a:r>
          </a:p>
          <a:p>
            <a:pPr algn="l">
              <a:lnSpc>
                <a:spcPts val="1800"/>
              </a:lnSpc>
            </a:pPr>
            <a:r>
              <a:rPr sz="1400" b="0">
                <a:solidFill>
                  <a:srgbClr val="8B949E"/>
                </a:solidFill>
              </a:rPr>
              <a:t>  → Without this rule the agent loops until the turn limit.</a:t>
            </a:r>
          </a:p>
          <a:p>
            <a:pPr algn="l">
              <a:lnSpc>
                <a:spcPts val="1800"/>
              </a:lnSpc>
            </a:pPr>
            <a:r>
              <a:rPr sz="1400" b="0">
                <a:solidFill>
                  <a:srgbClr val="FFFFFF"/>
                </a:solidFill>
              </a:rPr>
              <a:t/>
            </a:r>
          </a:p>
          <a:p>
            <a:pPr algn="l">
              <a:lnSpc>
                <a:spcPts val="1800"/>
              </a:lnSpc>
            </a:pPr>
            <a:r>
              <a:rPr sz="1400" b="0">
                <a:solidFill>
                  <a:srgbClr val="FFFFFF"/>
                </a:solidFill>
              </a:rPr>
              <a:t>Do not loop more than 15 tool calls.</a:t>
            </a:r>
          </a:p>
          <a:p>
            <a:pPr algn="l">
              <a:lnSpc>
                <a:spcPts val="1800"/>
              </a:lnSpc>
            </a:pPr>
            <a:r>
              <a:rPr sz="1400" b="0">
                <a:solidFill>
                  <a:srgbClr val="8B949E"/>
                </a:solidFill>
              </a:rPr>
              <a:t>  → Hard guard — prevents runaway API spend.</a:t>
            </a:r>
          </a:p>
          <a:p>
            <a:pPr algn="l">
              <a:lnSpc>
                <a:spcPts val="1800"/>
              </a:lnSpc>
            </a:pPr>
            <a:r>
              <a:rPr sz="1400" b="0">
                <a:solidFill>
                  <a:srgbClr val="FFFFFF"/>
                </a:solidFill>
              </a:rPr>
              <a:t/>
            </a:r>
          </a:p>
          <a:p>
            <a:pPr algn="l">
              <a:lnSpc>
                <a:spcPts val="1800"/>
              </a:lnSpc>
            </a:pPr>
            <a:r>
              <a:rPr sz="1400" b="0">
                <a:solidFill>
                  <a:srgbClr val="FFFFFF"/>
                </a:solidFill>
              </a:rPr>
              <a:t>Assertions must produce binary outcomes: passed or failed, with evidence.</a:t>
            </a:r>
          </a:p>
          <a:p>
            <a:pPr algn="l">
              <a:lnSpc>
                <a:spcPts val="1800"/>
              </a:lnSpc>
            </a:pPr>
            <a:r>
              <a:rPr sz="1400" b="0">
                <a:solidFill>
                  <a:srgbClr val="8B949E"/>
                </a:solidFill>
              </a:rPr>
              <a:t>  → Forces the agent to be explicit. Easy to parse in reporter.</a:t>
            </a:r>
          </a:p>
          <a:p>
            <a:pPr algn="l">
              <a:lnSpc>
                <a:spcPts val="1800"/>
              </a:lnSpc>
            </a:pPr>
            <a:r>
              <a:rPr sz="1400" b="0">
                <a:solidFill>
                  <a:srgbClr val="FFFFFF"/>
                </a:solidFill>
              </a:rPr>
              <a:t/>
            </a:r>
          </a:p>
          <a:p>
            <a:pPr algn="l">
              <a:lnSpc>
                <a:spcPts val="1800"/>
              </a:lnSpc>
            </a:pPr>
            <a:r>
              <a:rPr sz="1400" b="0">
                <a:solidFill>
                  <a:srgbClr val="FFFFFF"/>
                </a:solidFill>
              </a:rPr>
              <a:t>done() summary must include each assertion, the actual value observed,</a:t>
            </a:r>
          </a:p>
          <a:p>
            <a:pPr algn="l">
              <a:lnSpc>
                <a:spcPts val="1800"/>
              </a:lnSpc>
            </a:pPr>
            <a:r>
              <a:rPr sz="1400" b="0">
                <a:solidFill>
                  <a:srgbClr val="FFFFFF"/>
                </a:solidFill>
              </a:rPr>
              <a:t>and whether it matched the expectation.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9D353"/>
                </a:solidFill>
              </a:rPr>
              <a:t>CH 5</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Prompt Caching — The Math</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System prompt is ~1000 tokens and identical on every turn.</a:t>
            </a:r>
          </a:p>
          <a:p>
            <a:pPr algn="l">
              <a:lnSpc>
                <a:spcPts val="1800"/>
              </a:lnSpc>
            </a:pPr>
            <a:r>
              <a:rPr sz="1400" b="0">
                <a:solidFill>
                  <a:srgbClr val="F78466"/>
                </a:solidFill>
              </a:rPr>
              <a:t>Without caching: 1000 tokens × 15 turns × $3/MTok = $0.045 per run</a:t>
            </a:r>
          </a:p>
          <a:p>
            <a:pPr algn="l">
              <a:lnSpc>
                <a:spcPts val="1800"/>
              </a:lnSpc>
            </a:pPr>
            <a:r>
              <a:rPr sz="1400" b="0">
                <a:solidFill>
                  <a:srgbClr val="39D353"/>
                </a:solidFill>
              </a:rPr>
              <a:t>With caching (90% discount on read): $0.045 × 0.1 = $0.0045 per run</a:t>
            </a:r>
          </a:p>
          <a:p>
            <a:pPr algn="l">
              <a:lnSpc>
                <a:spcPts val="1800"/>
              </a:lnSpc>
            </a:pPr>
            <a:r>
              <a:rPr sz="1400" b="0">
                <a:solidFill>
                  <a:srgbClr val="FFFFFF"/>
                </a:solidFill>
              </a:rPr>
              <a:t>10× cheaper — meaningful at CI scale.</a:t>
            </a:r>
          </a:p>
          <a:p>
            <a:pPr algn="l">
              <a:lnSpc>
                <a:spcPts val="1800"/>
              </a:lnSpc>
            </a:pPr>
            <a:r>
              <a:rPr sz="1400" b="0">
                <a:solidFill>
                  <a:srgbClr val="FFFFFF"/>
                </a:solidFill>
              </a:rPr>
              <a:t/>
            </a:r>
          </a:p>
          <a:p>
            <a:pPr algn="l">
              <a:lnSpc>
                <a:spcPts val="1800"/>
              </a:lnSpc>
            </a:pPr>
            <a:r>
              <a:rPr sz="1400" b="0">
                <a:solidFill>
                  <a:srgbClr val="8B949E"/>
                </a:solidFill>
              </a:rPr>
              <a:t>How to enable:</a:t>
            </a:r>
          </a:p>
          <a:p>
            <a:pPr algn="l">
              <a:lnSpc>
                <a:spcPts val="1800"/>
              </a:lnSpc>
            </a:pPr>
            <a:r>
              <a:rPr sz="1400" b="0">
                <a:solidFill>
                  <a:srgbClr val="FFFFFF"/>
                </a:solidFill>
              </a:rPr>
              <a:t>  system: [{ type: 'text', text: SYSTEM_PROMPT,</a:t>
            </a:r>
          </a:p>
          <a:p>
            <a:pPr algn="l">
              <a:lnSpc>
                <a:spcPts val="1800"/>
              </a:lnSpc>
            </a:pPr>
            <a:r>
              <a:rPr sz="1400" b="0">
                <a:solidFill>
                  <a:srgbClr val="39D353"/>
                </a:solidFill>
              </a:rPr>
              <a:t>            cache_control: { type: 'ephemeral' } }]</a:t>
            </a:r>
          </a:p>
          <a:p>
            <a:pPr algn="l">
              <a:lnSpc>
                <a:spcPts val="1800"/>
              </a:lnSpc>
            </a:pPr>
            <a:r>
              <a:rPr sz="1400" b="0">
                <a:solidFill>
                  <a:srgbClr val="FFFFFF"/>
                </a:solidFill>
              </a:rPr>
              <a:t/>
            </a:r>
          </a:p>
          <a:p>
            <a:pPr algn="l">
              <a:lnSpc>
                <a:spcPts val="1800"/>
              </a:lnSpc>
            </a:pPr>
            <a:r>
              <a:rPr sz="1400" b="0">
                <a:solidFill>
                  <a:srgbClr val="8B949E"/>
                </a:solidFill>
              </a:rPr>
              <a:t>Rules:</a:t>
            </a:r>
          </a:p>
          <a:p>
            <a:pPr algn="l">
              <a:lnSpc>
                <a:spcPts val="1800"/>
              </a:lnSpc>
            </a:pPr>
            <a:r>
              <a:rPr sz="1400" b="0">
                <a:solidFill>
                  <a:srgbClr val="FFFFFF"/>
                </a:solidFill>
              </a:rPr>
              <a:t>  • Cache TTL = 5 minutes. Reuse within the same agent run is automatic.</a:t>
            </a:r>
          </a:p>
          <a:p>
            <a:pPr algn="l">
              <a:lnSpc>
                <a:spcPts val="1800"/>
              </a:lnSpc>
            </a:pPr>
            <a:r>
              <a:rPr sz="1400" b="0">
                <a:solidFill>
                  <a:srgbClr val="FFFFFF"/>
                </a:solidFill>
              </a:rPr>
              <a:t>  • Only the system prompt benefits here — task prompts vary per run.</a:t>
            </a:r>
          </a:p>
          <a:p>
            <a:pPr algn="l">
              <a:lnSpc>
                <a:spcPts val="1800"/>
              </a:lnSpc>
            </a:pPr>
            <a:r>
              <a:rPr sz="1400" b="0">
                <a:solidFill>
                  <a:srgbClr val="FFFFFF"/>
                </a:solidFill>
              </a:rPr>
              <a:t>  • Check response.usage.cache_read_input_tokens to confirm cache hits.</a:t>
            </a:r>
          </a:p>
          <a:p>
            <a:pPr algn="l">
              <a:lnSpc>
                <a:spcPts val="1800"/>
              </a:lnSpc>
            </a:pPr>
            <a:r>
              <a:rPr sz="1400" b="0">
                <a:solidFill>
                  <a:srgbClr val="FFFFFF"/>
                </a:solidFill>
              </a:rPr>
              <a:t/>
            </a:r>
          </a:p>
          <a:p>
            <a:pPr algn="l">
              <a:lnSpc>
                <a:spcPts val="1800"/>
              </a:lnSpc>
            </a:pPr>
            <a:r>
              <a:rPr sz="1400" b="0">
                <a:solidFill>
                  <a:srgbClr val="8B949E"/>
                </a:solidFill>
              </a:rPr>
              <a:t>Across a 12-turn run costing $0.10 without caching:</a:t>
            </a:r>
          </a:p>
          <a:p>
            <a:pPr algn="l">
              <a:lnSpc>
                <a:spcPts val="1800"/>
              </a:lnSpc>
            </a:pPr>
            <a:r>
              <a:rPr sz="1400" b="0">
                <a:solidFill>
                  <a:srgbClr val="39D353"/>
                </a:solidFill>
              </a:rPr>
              <a:t>  Cached portion 80%, discount 90%  →  savings ≈ $0.072  →  total ≈ $0.028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9D353"/>
                </a:solidFill>
              </a:rPr>
              <a:t>CH 5</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Discussion Questions</a:t>
            </a:r>
          </a:p>
        </p:txBody>
      </p:sp>
      <p:sp>
        <p:nvSpPr>
          <p:cNvPr id="6" name="Rectangle 5"/>
          <p:cNvSpPr/>
          <p:nvPr/>
        </p:nvSpPr>
        <p:spPr>
          <a:xfrm>
            <a:off x="274320" y="700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60000"/>
            <a:ext cx="700000" cy="1866000"/>
          </a:xfrm>
          <a:prstGeom prst="rect">
            <a:avLst/>
          </a:prstGeom>
          <a:noFill/>
        </p:spPr>
        <p:txBody>
          <a:bodyPr wrap="square">
            <a:spAutoFit/>
          </a:bodyPr>
          <a:lstStyle/>
          <a:p>
            <a:pPr algn="ctr"/>
            <a:r>
              <a:rPr sz="2800" b="1">
                <a:solidFill>
                  <a:srgbClr val="39D353"/>
                </a:solidFill>
              </a:rPr>
              <a:t>1</a:t>
            </a:r>
          </a:p>
        </p:txBody>
      </p:sp>
      <p:sp>
        <p:nvSpPr>
          <p:cNvPr id="8" name="TextBox 7"/>
          <p:cNvSpPr txBox="1"/>
          <p:nvPr/>
        </p:nvSpPr>
        <p:spPr>
          <a:xfrm>
            <a:off x="1100000" y="780000"/>
            <a:ext cx="10788952" cy="1826000"/>
          </a:xfrm>
          <a:prstGeom prst="rect">
            <a:avLst/>
          </a:prstGeom>
          <a:noFill/>
        </p:spPr>
        <p:txBody>
          <a:bodyPr wrap="square">
            <a:spAutoFit/>
          </a:bodyPr>
          <a:lstStyle/>
          <a:p>
            <a:pPr algn="l"/>
            <a:r>
              <a:rPr sz="1400" b="0">
                <a:solidFill>
                  <a:srgbClr val="FFFFFF"/>
                </a:solidFill>
              </a:rPr>
              <a:t>The system prompt says 'Always call snapshot() first — never guess selectors.' What failure mode does this guard against, and what would you observe in the tool call log if the agent ignored this rule?</a:t>
            </a:r>
          </a:p>
        </p:txBody>
      </p:sp>
      <p:sp>
        <p:nvSpPr>
          <p:cNvPr id="9" name="Rectangle 8"/>
          <p:cNvSpPr/>
          <p:nvPr/>
        </p:nvSpPr>
        <p:spPr>
          <a:xfrm>
            <a:off x="274320" y="2686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2746000"/>
            <a:ext cx="700000" cy="1866000"/>
          </a:xfrm>
          <a:prstGeom prst="rect">
            <a:avLst/>
          </a:prstGeom>
          <a:noFill/>
        </p:spPr>
        <p:txBody>
          <a:bodyPr wrap="square">
            <a:spAutoFit/>
          </a:bodyPr>
          <a:lstStyle/>
          <a:p>
            <a:pPr algn="ctr"/>
            <a:r>
              <a:rPr sz="2800" b="1">
                <a:solidFill>
                  <a:srgbClr val="39D353"/>
                </a:solidFill>
              </a:rPr>
              <a:t>2</a:t>
            </a:r>
          </a:p>
        </p:txBody>
      </p:sp>
      <p:sp>
        <p:nvSpPr>
          <p:cNvPr id="11" name="TextBox 10"/>
          <p:cNvSpPr txBox="1"/>
          <p:nvPr/>
        </p:nvSpPr>
        <p:spPr>
          <a:xfrm>
            <a:off x="1100000" y="2766000"/>
            <a:ext cx="10788952" cy="1826000"/>
          </a:xfrm>
          <a:prstGeom prst="rect">
            <a:avLst/>
          </a:prstGeom>
          <a:noFill/>
        </p:spPr>
        <p:txBody>
          <a:bodyPr wrap="square">
            <a:spAutoFit/>
          </a:bodyPr>
          <a:lstStyle/>
          <a:p>
            <a:pPr algn="l"/>
            <a:r>
              <a:rPr sz="1400" b="0">
                <a:solidFill>
                  <a:srgbClr val="FFFFFF"/>
                </a:solidFill>
              </a:rPr>
              <a:t>done() is a regular tool in the registry rather than a hard loop exit. What is the advantage of this design, and what would break if you replaced it with a simple return from inside loop()?</a:t>
            </a:r>
          </a:p>
        </p:txBody>
      </p:sp>
      <p:sp>
        <p:nvSpPr>
          <p:cNvPr id="12" name="Rectangle 11"/>
          <p:cNvSpPr/>
          <p:nvPr/>
        </p:nvSpPr>
        <p:spPr>
          <a:xfrm>
            <a:off x="274320" y="4672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4732000"/>
            <a:ext cx="700000" cy="1866000"/>
          </a:xfrm>
          <a:prstGeom prst="rect">
            <a:avLst/>
          </a:prstGeom>
          <a:noFill/>
        </p:spPr>
        <p:txBody>
          <a:bodyPr wrap="square">
            <a:spAutoFit/>
          </a:bodyPr>
          <a:lstStyle/>
          <a:p>
            <a:pPr algn="ctr"/>
            <a:r>
              <a:rPr sz="2800" b="1">
                <a:solidFill>
                  <a:srgbClr val="39D353"/>
                </a:solidFill>
              </a:rPr>
              <a:t>3</a:t>
            </a:r>
          </a:p>
        </p:txBody>
      </p:sp>
      <p:sp>
        <p:nvSpPr>
          <p:cNvPr id="14" name="TextBox 13"/>
          <p:cNvSpPr txBox="1"/>
          <p:nvPr/>
        </p:nvSpPr>
        <p:spPr>
          <a:xfrm>
            <a:off x="1100000" y="4752000"/>
            <a:ext cx="10788952" cy="1826000"/>
          </a:xfrm>
          <a:prstGeom prst="rect">
            <a:avLst/>
          </a:prstGeom>
          <a:noFill/>
        </p:spPr>
        <p:txBody>
          <a:bodyPr wrap="square">
            <a:spAutoFit/>
          </a:bodyPr>
          <a:lstStyle/>
          <a:p>
            <a:pPr algn="l"/>
            <a:r>
              <a:rPr sz="1400" b="0">
                <a:solidFill>
                  <a:srgbClr val="FFFFFF"/>
                </a:solidFill>
              </a:rPr>
              <a:t>The agent uses prompt caching by setting cache_control: { type: 'ephemeral' }. In a 12-turn run costing $0.10 without caching, what saving would you expect if the cached portion is 80% and the cache read discount is 90%?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9D353"/>
                </a:solidFill>
              </a:rPr>
              <a:t>CH 5</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Workshop Tasks</a:t>
            </a:r>
          </a:p>
        </p:txBody>
      </p:sp>
      <p:sp>
        <p:nvSpPr>
          <p:cNvPr id="6" name="Rectangle 5"/>
          <p:cNvSpPr/>
          <p:nvPr/>
        </p:nvSpPr>
        <p:spPr>
          <a:xfrm>
            <a:off x="274320" y="680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40000"/>
            <a:ext cx="800000" cy="1379500"/>
          </a:xfrm>
          <a:prstGeom prst="rect">
            <a:avLst/>
          </a:prstGeom>
          <a:noFill/>
        </p:spPr>
        <p:txBody>
          <a:bodyPr wrap="square">
            <a:spAutoFit/>
          </a:bodyPr>
          <a:lstStyle/>
          <a:p>
            <a:pPr algn="l"/>
            <a:r>
              <a:rPr sz="1300" b="1">
                <a:solidFill>
                  <a:srgbClr val="39D353"/>
                </a:solidFill>
              </a:rPr>
              <a:t>Task A</a:t>
            </a:r>
          </a:p>
        </p:txBody>
      </p:sp>
      <p:sp>
        <p:nvSpPr>
          <p:cNvPr id="8" name="TextBox 7"/>
          <p:cNvSpPr txBox="1"/>
          <p:nvPr/>
        </p:nvSpPr>
        <p:spPr>
          <a:xfrm>
            <a:off x="1200000" y="740000"/>
            <a:ext cx="3600000" cy="1379500"/>
          </a:xfrm>
          <a:prstGeom prst="rect">
            <a:avLst/>
          </a:prstGeom>
          <a:noFill/>
        </p:spPr>
        <p:txBody>
          <a:bodyPr wrap="square">
            <a:spAutoFit/>
          </a:bodyPr>
          <a:lstStyle/>
          <a:p>
            <a:pPr algn="l"/>
            <a:r>
              <a:rPr sz="1400" b="1">
                <a:solidFill>
                  <a:srgbClr val="FFFFFF"/>
                </a:solidFill>
              </a:rPr>
              <a:t>Run the agent</a:t>
            </a:r>
          </a:p>
        </p:txBody>
      </p:sp>
      <p:sp>
        <p:nvSpPr>
          <p:cNvPr id="9" name="TextBox 8"/>
          <p:cNvSpPr txBox="1"/>
          <p:nvPr/>
        </p:nvSpPr>
        <p:spPr>
          <a:xfrm>
            <a:off x="4900000" y="740000"/>
            <a:ext cx="6988952" cy="1379500"/>
          </a:xfrm>
          <a:prstGeom prst="rect">
            <a:avLst/>
          </a:prstGeom>
          <a:noFill/>
        </p:spPr>
        <p:txBody>
          <a:bodyPr wrap="square">
            <a:spAutoFit/>
          </a:bodyPr>
          <a:lstStyle/>
          <a:p>
            <a:pPr algn="l"/>
            <a:r>
              <a:rPr sz="1200" b="0">
                <a:solidFill>
                  <a:srgbClr val="8B949E"/>
                </a:solidFill>
              </a:rPr>
              <a:t>ANTHROPIC_API_KEY=sk-... npx ts-node examples/ch5-custom-agent/agent.ts
Watch the per-step log. How many snapshot() calls in the full e-commerce run?</a:t>
            </a:r>
          </a:p>
        </p:txBody>
      </p:sp>
      <p:sp>
        <p:nvSpPr>
          <p:cNvPr id="10" name="Rectangle 9"/>
          <p:cNvSpPr/>
          <p:nvPr/>
        </p:nvSpPr>
        <p:spPr>
          <a:xfrm>
            <a:off x="274320" y="2179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39500"/>
            <a:ext cx="800000" cy="1379500"/>
          </a:xfrm>
          <a:prstGeom prst="rect">
            <a:avLst/>
          </a:prstGeom>
          <a:noFill/>
        </p:spPr>
        <p:txBody>
          <a:bodyPr wrap="square">
            <a:spAutoFit/>
          </a:bodyPr>
          <a:lstStyle/>
          <a:p>
            <a:pPr algn="l"/>
            <a:r>
              <a:rPr sz="1300" b="1">
                <a:solidFill>
                  <a:srgbClr val="39D353"/>
                </a:solidFill>
              </a:rPr>
              <a:t>Task B</a:t>
            </a:r>
          </a:p>
        </p:txBody>
      </p:sp>
      <p:sp>
        <p:nvSpPr>
          <p:cNvPr id="12" name="TextBox 11"/>
          <p:cNvSpPr txBox="1"/>
          <p:nvPr/>
        </p:nvSpPr>
        <p:spPr>
          <a:xfrm>
            <a:off x="1200000" y="2239500"/>
            <a:ext cx="3600000" cy="1379500"/>
          </a:xfrm>
          <a:prstGeom prst="rect">
            <a:avLst/>
          </a:prstGeom>
          <a:noFill/>
        </p:spPr>
        <p:txBody>
          <a:bodyPr wrap="square">
            <a:spAutoFit/>
          </a:bodyPr>
          <a:lstStyle/>
          <a:p>
            <a:pPr algn="l"/>
            <a:r>
              <a:rPr sz="1400" b="1">
                <a:solidFill>
                  <a:srgbClr val="FFFFFF"/>
                </a:solidFill>
              </a:rPr>
              <a:t>Add a logout task prompt</a:t>
            </a:r>
          </a:p>
        </p:txBody>
      </p:sp>
      <p:sp>
        <p:nvSpPr>
          <p:cNvPr id="13" name="TextBox 12"/>
          <p:cNvSpPr txBox="1"/>
          <p:nvPr/>
        </p:nvSpPr>
        <p:spPr>
          <a:xfrm>
            <a:off x="4900000" y="2239500"/>
            <a:ext cx="6988952" cy="1379500"/>
          </a:xfrm>
          <a:prstGeom prst="rect">
            <a:avLst/>
          </a:prstGeom>
          <a:noFill/>
        </p:spPr>
        <p:txBody>
          <a:bodyPr wrap="square">
            <a:spAutoFit/>
          </a:bodyPr>
          <a:lstStyle/>
          <a:p>
            <a:pPr algn="l"/>
            <a:r>
              <a:rPr sz="1200" b="0">
                <a:solidFill>
                  <a:srgbClr val="8B949E"/>
                </a:solidFill>
              </a:rPr>
              <a:t>In prompts.ts add tasks.logout(). Goal: click Logout → assert URL has /login.
Run agent.run(tasks.logout()). Does it pass?</a:t>
            </a:r>
          </a:p>
        </p:txBody>
      </p:sp>
      <p:sp>
        <p:nvSpPr>
          <p:cNvPr id="14" name="Rectangle 13"/>
          <p:cNvSpPr/>
          <p:nvPr/>
        </p:nvSpPr>
        <p:spPr>
          <a:xfrm>
            <a:off x="274320" y="3679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739000"/>
            <a:ext cx="800000" cy="1379500"/>
          </a:xfrm>
          <a:prstGeom prst="rect">
            <a:avLst/>
          </a:prstGeom>
          <a:noFill/>
        </p:spPr>
        <p:txBody>
          <a:bodyPr wrap="square">
            <a:spAutoFit/>
          </a:bodyPr>
          <a:lstStyle/>
          <a:p>
            <a:pPr algn="l"/>
            <a:r>
              <a:rPr sz="1300" b="1">
                <a:solidFill>
                  <a:srgbClr val="39D353"/>
                </a:solidFill>
              </a:rPr>
              <a:t>Task C</a:t>
            </a:r>
          </a:p>
        </p:txBody>
      </p:sp>
      <p:sp>
        <p:nvSpPr>
          <p:cNvPr id="16" name="TextBox 15"/>
          <p:cNvSpPr txBox="1"/>
          <p:nvPr/>
        </p:nvSpPr>
        <p:spPr>
          <a:xfrm>
            <a:off x="1200000" y="3739000"/>
            <a:ext cx="3600000" cy="1379500"/>
          </a:xfrm>
          <a:prstGeom prst="rect">
            <a:avLst/>
          </a:prstGeom>
          <a:noFill/>
        </p:spPr>
        <p:txBody>
          <a:bodyPr wrap="square">
            <a:spAutoFit/>
          </a:bodyPr>
          <a:lstStyle/>
          <a:p>
            <a:pPr algn="l"/>
            <a:r>
              <a:rPr sz="1400" b="1">
                <a:solidFill>
                  <a:srgbClr val="FFFFFF"/>
                </a:solidFill>
              </a:rPr>
              <a:t>Add a get_text tool</a:t>
            </a:r>
          </a:p>
        </p:txBody>
      </p:sp>
      <p:sp>
        <p:nvSpPr>
          <p:cNvPr id="17" name="TextBox 16"/>
          <p:cNvSpPr txBox="1"/>
          <p:nvPr/>
        </p:nvSpPr>
        <p:spPr>
          <a:xfrm>
            <a:off x="4900000" y="3739000"/>
            <a:ext cx="6988952" cy="1379500"/>
          </a:xfrm>
          <a:prstGeom prst="rect">
            <a:avLst/>
          </a:prstGeom>
          <a:noFill/>
        </p:spPr>
        <p:txBody>
          <a:bodyPr wrap="square">
            <a:spAutoFit/>
          </a:bodyPr>
          <a:lstStyle/>
          <a:p>
            <a:pPr algn="l"/>
            <a:r>
              <a:rPr sz="1200" b="0">
                <a:solidFill>
                  <a:srgbClr val="8B949E"/>
                </a:solidFill>
              </a:rPr>
              <a:t>Add 'get_text' to ToolName and AGENT_TOOLS. Wire it to locator.innerText().
Run fullEcommerce — does the agent use it to read stat card values?</a:t>
            </a:r>
          </a:p>
        </p:txBody>
      </p:sp>
      <p:sp>
        <p:nvSpPr>
          <p:cNvPr id="18" name="Rectangle 17"/>
          <p:cNvSpPr/>
          <p:nvPr/>
        </p:nvSpPr>
        <p:spPr>
          <a:xfrm>
            <a:off x="274320" y="5178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5238500"/>
            <a:ext cx="800000" cy="1379500"/>
          </a:xfrm>
          <a:prstGeom prst="rect">
            <a:avLst/>
          </a:prstGeom>
          <a:noFill/>
        </p:spPr>
        <p:txBody>
          <a:bodyPr wrap="square">
            <a:spAutoFit/>
          </a:bodyPr>
          <a:lstStyle/>
          <a:p>
            <a:pPr algn="l"/>
            <a:r>
              <a:rPr sz="1300" b="1">
                <a:solidFill>
                  <a:srgbClr val="39D353"/>
                </a:solidFill>
              </a:rPr>
              <a:t>Task D</a:t>
            </a:r>
          </a:p>
        </p:txBody>
      </p:sp>
      <p:sp>
        <p:nvSpPr>
          <p:cNvPr id="20" name="TextBox 19"/>
          <p:cNvSpPr txBox="1"/>
          <p:nvPr/>
        </p:nvSpPr>
        <p:spPr>
          <a:xfrm>
            <a:off x="1200000" y="5238500"/>
            <a:ext cx="3600000" cy="1379500"/>
          </a:xfrm>
          <a:prstGeom prst="rect">
            <a:avLst/>
          </a:prstGeom>
          <a:noFill/>
        </p:spPr>
        <p:txBody>
          <a:bodyPr wrap="square">
            <a:spAutoFit/>
          </a:bodyPr>
          <a:lstStyle/>
          <a:p>
            <a:pPr algn="l"/>
            <a:r>
              <a:rPr sz="1400" b="1">
                <a:solidFill>
                  <a:srgbClr val="FFFFFF"/>
                </a:solidFill>
              </a:rPr>
              <a:t>Measure cache hit rate</a:t>
            </a:r>
          </a:p>
        </p:txBody>
      </p:sp>
      <p:sp>
        <p:nvSpPr>
          <p:cNvPr id="21" name="TextBox 20"/>
          <p:cNvSpPr txBox="1"/>
          <p:nvPr/>
        </p:nvSpPr>
        <p:spPr>
          <a:xfrm>
            <a:off x="4900000" y="5238500"/>
            <a:ext cx="6988952" cy="1379500"/>
          </a:xfrm>
          <a:prstGeom prst="rect">
            <a:avLst/>
          </a:prstGeom>
          <a:noFill/>
        </p:spPr>
        <p:txBody>
          <a:bodyPr wrap="square">
            <a:spAutoFit/>
          </a:bodyPr>
          <a:lstStyle/>
          <a:p>
            <a:pPr algn="l"/>
            <a:r>
              <a:rPr sz="1200" b="0">
                <a:solidFill>
                  <a:srgbClr val="8B949E"/>
                </a:solidFill>
              </a:rPr>
              <a:t>Log response.usage.cache_read_input_tokens after each turn.
Confirm it's 0 on turn 1 and &gt; 0 on all subsequent turns.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37160"/>
            <a:ext cx="1371600" cy="34747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9184" y="164592"/>
            <a:ext cx="1280160" cy="320040"/>
          </a:xfrm>
          <a:prstGeom prst="rect">
            <a:avLst/>
          </a:prstGeom>
          <a:noFill/>
        </p:spPr>
        <p:txBody>
          <a:bodyPr wrap="square">
            <a:spAutoFit/>
          </a:bodyPr>
          <a:lstStyle/>
          <a:p>
            <a:pPr algn="ctr"/>
            <a:r>
              <a:rPr sz="1300" b="1">
                <a:solidFill>
                  <a:srgbClr val="0D1117"/>
                </a:solidFill>
              </a:rPr>
              <a:t>CH 6  ·  16:30</a:t>
            </a:r>
          </a:p>
        </p:txBody>
      </p:sp>
      <p:sp>
        <p:nvSpPr>
          <p:cNvPr id="6" name="TextBox 5"/>
          <p:cNvSpPr txBox="1"/>
          <p:nvPr/>
        </p:nvSpPr>
        <p:spPr>
          <a:xfrm>
            <a:off x="1874519" y="109728"/>
            <a:ext cx="9900000" cy="600000"/>
          </a:xfrm>
          <a:prstGeom prst="rect">
            <a:avLst/>
          </a:prstGeom>
          <a:noFill/>
        </p:spPr>
        <p:txBody>
          <a:bodyPr wrap="square">
            <a:spAutoFit/>
          </a:bodyPr>
          <a:lstStyle/>
          <a:p>
            <a:pPr algn="l"/>
            <a:r>
              <a:rPr sz="3000" b="1">
                <a:solidFill>
                  <a:srgbClr val="FFFFFF"/>
                </a:solidFill>
              </a:rPr>
              <a:t>Creating Effective Testing Skills</a:t>
            </a:r>
          </a:p>
        </p:txBody>
      </p:sp>
      <p:sp>
        <p:nvSpPr>
          <p:cNvPr id="7" name="TextBox 6"/>
          <p:cNvSpPr txBox="1"/>
          <p:nvPr/>
        </p:nvSpPr>
        <p:spPr>
          <a:xfrm>
            <a:off x="1874519" y="660000"/>
            <a:ext cx="9900000" cy="347472"/>
          </a:xfrm>
          <a:prstGeom prst="rect">
            <a:avLst/>
          </a:prstGeom>
          <a:noFill/>
        </p:spPr>
        <p:txBody>
          <a:bodyPr wrap="square">
            <a:spAutoFit/>
          </a:bodyPr>
          <a:lstStyle/>
          <a:p>
            <a:pPr algn="l"/>
            <a:r>
              <a:rPr sz="1500" b="0">
                <a:solidFill>
                  <a:srgbClr val="8B949E"/>
                </a:solidFill>
              </a:rPr>
              <a:t>30 min  ·  Reusable, parameterised AI behaviours scoped to QA</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6</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Skills — Reusable Agent Behaviours</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A skill is a SKILL.md file that gives an AI agent a specialised capability.</a:t>
            </a:r>
          </a:p>
          <a:p>
            <a:pPr algn="l">
              <a:lnSpc>
                <a:spcPts val="1800"/>
              </a:lnSpc>
            </a:pPr>
            <a:r>
              <a:rPr sz="1400" b="0">
                <a:solidFill>
                  <a:srgbClr val="FFFFFF"/>
                </a:solidFill>
              </a:rPr>
              <a:t>Invoked with  /skill-name [arguments]  in Claude Code or VS Code.</a:t>
            </a:r>
          </a:p>
          <a:p>
            <a:pPr algn="l">
              <a:lnSpc>
                <a:spcPts val="1800"/>
              </a:lnSpc>
            </a:pPr>
            <a:r>
              <a:rPr sz="1400" b="0">
                <a:solidFill>
                  <a:srgbClr val="FFFFFF"/>
                </a:solidFill>
              </a:rPr>
              <a:t/>
            </a:r>
          </a:p>
          <a:p>
            <a:pPr algn="l">
              <a:lnSpc>
                <a:spcPts val="1800"/>
              </a:lnSpc>
            </a:pPr>
            <a:r>
              <a:rPr sz="1400" b="0">
                <a:solidFill>
                  <a:srgbClr val="FFFFFF"/>
                </a:solidFill>
              </a:rPr>
              <a:t>A well-crafted skill is the difference between:</a:t>
            </a:r>
          </a:p>
          <a:p>
            <a:pPr algn="l">
              <a:lnSpc>
                <a:spcPts val="1800"/>
              </a:lnSpc>
            </a:pPr>
            <a:r>
              <a:rPr sz="1400" b="0">
                <a:solidFill>
                  <a:srgbClr val="FFFFFF"/>
                </a:solidFill>
              </a:rPr>
              <a:t>  an agent that works once  vs  one that works every time</a:t>
            </a:r>
          </a:p>
          <a:p>
            <a:pPr algn="l">
              <a:lnSpc>
                <a:spcPts val="1800"/>
              </a:lnSpc>
            </a:pPr>
            <a:r>
              <a:rPr sz="1400" b="0">
                <a:solidFill>
                  <a:srgbClr val="FFFFFF"/>
                </a:solidFill>
              </a:rPr>
              <a:t/>
            </a:r>
          </a:p>
          <a:p>
            <a:pPr algn="l">
              <a:lnSpc>
                <a:spcPts val="1800"/>
              </a:lnSpc>
            </a:pPr>
            <a:r>
              <a:rPr sz="1400" b="0">
                <a:solidFill>
                  <a:srgbClr val="8B949E"/>
                </a:solidFill>
              </a:rPr>
              <a:t>What makes a skill effective:</a:t>
            </a:r>
          </a:p>
          <a:p>
            <a:pPr algn="l">
              <a:lnSpc>
                <a:spcPts val="1800"/>
              </a:lnSpc>
            </a:pPr>
            <a:r>
              <a:rPr sz="1400" b="0">
                <a:solidFill>
                  <a:srgbClr val="FFFFFF"/>
                </a:solidFill>
              </a:rPr>
              <a:t>  ✓ Clear argument-hint — users know what to pass</a:t>
            </a:r>
          </a:p>
          <a:p>
            <a:pPr algn="l">
              <a:lnSpc>
                <a:spcPts val="1800"/>
              </a:lnSpc>
            </a:pPr>
            <a:r>
              <a:rPr sz="1400" b="0">
                <a:solidFill>
                  <a:srgbClr val="FFFFFF"/>
                </a:solidFill>
              </a:rPr>
              <a:t>  ✓ allowed-tools — pre-approves only the tools it needs</a:t>
            </a:r>
          </a:p>
          <a:p>
            <a:pPr algn="l">
              <a:lnSpc>
                <a:spcPts val="1800"/>
              </a:lnSpc>
            </a:pPr>
            <a:r>
              <a:rPr sz="1400" b="0">
                <a:solidFill>
                  <a:srgbClr val="FFFFFF"/>
                </a:solidFill>
              </a:rPr>
              <a:t>  ✓ Specific output contract — 'list failing tests, then error, then one-line fix'</a:t>
            </a:r>
          </a:p>
          <a:p>
            <a:pPr algn="l">
              <a:lnSpc>
                <a:spcPts val="1800"/>
              </a:lnSpc>
            </a:pPr>
            <a:r>
              <a:rPr sz="1400" b="0">
                <a:solidFill>
                  <a:srgbClr val="FFFFFF"/>
                </a:solidFill>
              </a:rPr>
              <a:t>  ✓ Guard rails — 'never modify test files unless user confirms'</a:t>
            </a:r>
          </a:p>
          <a:p>
            <a:pPr algn="l">
              <a:lnSpc>
                <a:spcPts val="1800"/>
              </a:lnSpc>
            </a:pPr>
            <a:r>
              <a:rPr sz="1400" b="0">
                <a:solidFill>
                  <a:srgbClr val="FFFFFF"/>
                </a:solidFill>
              </a:rPr>
              <a:t>  ✓ Anchored to project paths — refers to actual fixtures, page objects</a:t>
            </a:r>
          </a:p>
          <a:p>
            <a:pPr algn="l">
              <a:lnSpc>
                <a:spcPts val="1800"/>
              </a:lnSpc>
            </a:pPr>
            <a:r>
              <a:rPr sz="1400" b="0">
                <a:solidFill>
                  <a:srgbClr val="FFFFFF"/>
                </a:solidFill>
              </a:rPr>
              <a:t/>
            </a:r>
          </a:p>
          <a:p>
            <a:pPr algn="l">
              <a:lnSpc>
                <a:spcPts val="1800"/>
              </a:lnSpc>
            </a:pPr>
            <a:r>
              <a:rPr sz="1400" b="0">
                <a:solidFill>
                  <a:srgbClr val="8B949E"/>
                </a:solidFill>
              </a:rPr>
              <a:t>Project skills in this repo:</a:t>
            </a:r>
          </a:p>
          <a:p>
            <a:pPr algn="l">
              <a:lnSpc>
                <a:spcPts val="1800"/>
              </a:lnSpc>
            </a:pPr>
            <a:r>
              <a:rPr sz="1400" b="0">
                <a:solidFill>
                  <a:srgbClr val="D2A8FF"/>
                </a:solidFill>
              </a:rPr>
              <a:t>  /pw-run   /pw-debug   /pw-new-test   /pw-page-object   /pw-self-heal   /pw-plan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6</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Anatomy of a SKILL.md</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.claude/skills/pw-run/SKILL.md</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8B949E"/>
                </a:solidFill>
                <a:latin typeface="Courier New"/>
              </a:rPr>
              <a:t>---</a:t>
            </a:r>
          </a:p>
          <a:p>
            <a:pPr algn="l">
              <a:lnSpc>
                <a:spcPts val="1500"/>
              </a:lnSpc>
            </a:pPr>
            <a:r>
              <a:rPr sz="1200" b="0">
                <a:solidFill>
                  <a:srgbClr val="FFFFFF"/>
                </a:solidFill>
                <a:latin typeface="Courier New"/>
              </a:rPr>
              <a:t>name:          pw-run</a:t>
            </a:r>
          </a:p>
          <a:p>
            <a:pPr algn="l">
              <a:lnSpc>
                <a:spcPts val="1500"/>
              </a:lnSpc>
            </a:pPr>
            <a:r>
              <a:rPr sz="1200" b="0">
                <a:solidFill>
                  <a:srgbClr val="FFFFFF"/>
                </a:solidFill>
                <a:latin typeface="Courier New"/>
              </a:rPr>
              <a:t>description:   Run Playwright tests. Pass file, grep pattern, or leave blank.</a:t>
            </a:r>
          </a:p>
          <a:p>
            <a:pPr algn="l">
              <a:lnSpc>
                <a:spcPts val="1500"/>
              </a:lnSpc>
            </a:pPr>
            <a:r>
              <a:rPr sz="1200" b="0">
                <a:solidFill>
                  <a:srgbClr val="D2A8FF"/>
                </a:solidFill>
                <a:latin typeface="Courier New"/>
              </a:rPr>
              <a:t>argument-hint: "[test-file-or-grep-pattern]"   # shown in IDE autocomplete</a:t>
            </a:r>
          </a:p>
          <a:p>
            <a:pPr algn="l">
              <a:lnSpc>
                <a:spcPts val="1500"/>
              </a:lnSpc>
            </a:pPr>
            <a:r>
              <a:rPr sz="1200" b="0">
                <a:solidFill>
                  <a:srgbClr val="D2A8FF"/>
                </a:solidFill>
                <a:latin typeface="Courier New"/>
              </a:rPr>
              <a:t>allowed-tools: Bash(npx playwright *)           # pre-approved, no prompt</a:t>
            </a:r>
          </a:p>
          <a:p>
            <a:pPr algn="l">
              <a:lnSpc>
                <a:spcPts val="1500"/>
              </a:lnSpc>
            </a:pPr>
            <a:r>
              <a:rPr sz="1200" b="0">
                <a:solidFill>
                  <a:srgbClr val="8B949E"/>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Run the Playwright test suite. Arguments: $ARGUMENTS</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 Steps</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1. Determine scope from $ARGUMENTS:</a:t>
            </a:r>
          </a:p>
          <a:p>
            <a:pPr algn="l">
              <a:lnSpc>
                <a:spcPts val="1500"/>
              </a:lnSpc>
            </a:pPr>
            <a:r>
              <a:rPr sz="1200" b="0">
                <a:solidFill>
                  <a:srgbClr val="8B949E"/>
                </a:solidFill>
                <a:latin typeface="Courier New"/>
              </a:rPr>
              <a:t>   - Empty  → npx playwright test --reporter=list</a:t>
            </a:r>
          </a:p>
          <a:p>
            <a:pPr algn="l">
              <a:lnSpc>
                <a:spcPts val="1500"/>
              </a:lnSpc>
            </a:pPr>
            <a:r>
              <a:rPr sz="1200" b="0">
                <a:solidFill>
                  <a:srgbClr val="8B949E"/>
                </a:solidFill>
                <a:latin typeface="Courier New"/>
              </a:rPr>
              <a:t>   - File   → npx playwright test $ARGUMENTS --reporter=list</a:t>
            </a:r>
          </a:p>
          <a:p>
            <a:pPr algn="l">
              <a:lnSpc>
                <a:spcPts val="1500"/>
              </a:lnSpc>
            </a:pPr>
            <a:r>
              <a:rPr sz="1200" b="0">
                <a:solidFill>
                  <a:srgbClr val="8B949E"/>
                </a:solidFill>
                <a:latin typeface="Courier New"/>
              </a:rPr>
              <a:t>   - String → npx playwright test --grep "$ARGUMENTS"</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2. Run command and capture output.</a:t>
            </a:r>
          </a:p>
          <a:p>
            <a:pPr algn="l">
              <a:lnSpc>
                <a:spcPts val="1500"/>
              </a:lnSpc>
            </a:pPr>
            <a:r>
              <a:rPr sz="1200" b="0">
                <a:solidFill>
                  <a:srgbClr val="FFFFFF"/>
                </a:solidFill>
                <a:latin typeface="Courier New"/>
              </a:rPr>
              <a:t>3. Report: total passed/failed/skipped + duration.</a:t>
            </a:r>
          </a:p>
          <a:p>
            <a:pPr algn="l">
              <a:lnSpc>
                <a:spcPts val="1500"/>
              </a:lnSpc>
            </a:pPr>
            <a:r>
              <a:rPr sz="1200" b="0">
                <a:solidFill>
                  <a:srgbClr val="FFFFFF"/>
                </a:solidFill>
                <a:latin typeface="Courier New"/>
              </a:rPr>
              <a:t>4. For failures: quote error + suggest fix by category.</a:t>
            </a:r>
          </a:p>
          <a:p>
            <a:pPr algn="l">
              <a:lnSpc>
                <a:spcPts val="1500"/>
              </a:lnSpc>
            </a:pPr>
            <a:r>
              <a:rPr sz="1200" b="0">
                <a:solidFill>
                  <a:srgbClr val="FF7B72"/>
                </a:solidFill>
                <a:latin typeface="Courier New"/>
              </a:rPr>
              <a:t>Never modify test files unless the user explicitly asks.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6</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Project Skills — Complete Inventory</a:t>
            </a:r>
          </a:p>
        </p:txBody>
      </p:sp>
      <p:sp>
        <p:nvSpPr>
          <p:cNvPr id="6" name="Rectangle 5"/>
          <p:cNvSpPr/>
          <p:nvPr/>
        </p:nvSpPr>
        <p:spPr>
          <a:xfrm>
            <a:off x="274320" y="680000"/>
            <a:ext cx="3862104" cy="42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4320" y="800000"/>
            <a:ext cx="3760104" cy="360000"/>
          </a:xfrm>
          <a:prstGeom prst="rect">
            <a:avLst/>
          </a:prstGeom>
          <a:noFill/>
        </p:spPr>
        <p:txBody>
          <a:bodyPr wrap="square">
            <a:spAutoFit/>
          </a:bodyPr>
          <a:lstStyle/>
          <a:p>
            <a:pPr algn="l"/>
            <a:r>
              <a:rPr sz="1300" b="1">
                <a:solidFill>
                  <a:srgbClr val="0D1117"/>
                </a:solidFill>
              </a:rPr>
              <a:t>Skill</a:t>
            </a:r>
          </a:p>
        </p:txBody>
      </p:sp>
      <p:sp>
        <p:nvSpPr>
          <p:cNvPr id="8" name="Rectangle 7"/>
          <p:cNvSpPr/>
          <p:nvPr/>
        </p:nvSpPr>
        <p:spPr>
          <a:xfrm>
            <a:off x="4154424" y="680000"/>
            <a:ext cx="3862104" cy="42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14424" y="800000"/>
            <a:ext cx="3760104" cy="360000"/>
          </a:xfrm>
          <a:prstGeom prst="rect">
            <a:avLst/>
          </a:prstGeom>
          <a:noFill/>
        </p:spPr>
        <p:txBody>
          <a:bodyPr wrap="square">
            <a:spAutoFit/>
          </a:bodyPr>
          <a:lstStyle/>
          <a:p>
            <a:pPr algn="l"/>
            <a:r>
              <a:rPr sz="1300" b="1">
                <a:solidFill>
                  <a:srgbClr val="0D1117"/>
                </a:solidFill>
              </a:rPr>
              <a:t>Purpose</a:t>
            </a:r>
          </a:p>
        </p:txBody>
      </p:sp>
      <p:sp>
        <p:nvSpPr>
          <p:cNvPr id="10" name="Rectangle 9"/>
          <p:cNvSpPr/>
          <p:nvPr/>
        </p:nvSpPr>
        <p:spPr>
          <a:xfrm>
            <a:off x="8034528" y="680000"/>
            <a:ext cx="3862104" cy="42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4528" y="800000"/>
            <a:ext cx="3760104" cy="360000"/>
          </a:xfrm>
          <a:prstGeom prst="rect">
            <a:avLst/>
          </a:prstGeom>
          <a:noFill/>
        </p:spPr>
        <p:txBody>
          <a:bodyPr wrap="square">
            <a:spAutoFit/>
          </a:bodyPr>
          <a:lstStyle/>
          <a:p>
            <a:pPr algn="l"/>
            <a:r>
              <a:rPr sz="1300" b="1">
                <a:solidFill>
                  <a:srgbClr val="0D1117"/>
                </a:solidFill>
              </a:rPr>
              <a:t>allowed-tools</a:t>
            </a:r>
          </a:p>
        </p:txBody>
      </p:sp>
      <p:sp>
        <p:nvSpPr>
          <p:cNvPr id="12" name="Rectangle 11"/>
          <p:cNvSpPr/>
          <p:nvPr/>
        </p:nvSpPr>
        <p:spPr>
          <a:xfrm>
            <a:off x="274320" y="1100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4320" y="1220000"/>
            <a:ext cx="3760104" cy="360000"/>
          </a:xfrm>
          <a:prstGeom prst="rect">
            <a:avLst/>
          </a:prstGeom>
          <a:noFill/>
        </p:spPr>
        <p:txBody>
          <a:bodyPr wrap="square">
            <a:spAutoFit/>
          </a:bodyPr>
          <a:lstStyle/>
          <a:p>
            <a:pPr algn="l"/>
            <a:r>
              <a:rPr sz="1200" b="0">
                <a:solidFill>
                  <a:srgbClr val="FFFFFF"/>
                </a:solidFill>
                <a:latin typeface="Courier New"/>
              </a:rPr>
              <a:t>/pw-run</a:t>
            </a:r>
          </a:p>
        </p:txBody>
      </p:sp>
      <p:sp>
        <p:nvSpPr>
          <p:cNvPr id="14" name="Rectangle 13"/>
          <p:cNvSpPr/>
          <p:nvPr/>
        </p:nvSpPr>
        <p:spPr>
          <a:xfrm>
            <a:off x="4154424" y="1100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14424" y="1220000"/>
            <a:ext cx="3760104" cy="360000"/>
          </a:xfrm>
          <a:prstGeom prst="rect">
            <a:avLst/>
          </a:prstGeom>
          <a:noFill/>
        </p:spPr>
        <p:txBody>
          <a:bodyPr wrap="square">
            <a:spAutoFit/>
          </a:bodyPr>
          <a:lstStyle/>
          <a:p>
            <a:pPr algn="l"/>
            <a:r>
              <a:rPr sz="1200" b="0">
                <a:solidFill>
                  <a:srgbClr val="FFFFFF"/>
                </a:solidFill>
              </a:rPr>
              <a:t>Run full suite or filtered subset</a:t>
            </a:r>
          </a:p>
        </p:txBody>
      </p:sp>
      <p:sp>
        <p:nvSpPr>
          <p:cNvPr id="16" name="Rectangle 15"/>
          <p:cNvSpPr/>
          <p:nvPr/>
        </p:nvSpPr>
        <p:spPr>
          <a:xfrm>
            <a:off x="8034528" y="1100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94528" y="1220000"/>
            <a:ext cx="3760104" cy="360000"/>
          </a:xfrm>
          <a:prstGeom prst="rect">
            <a:avLst/>
          </a:prstGeom>
          <a:noFill/>
        </p:spPr>
        <p:txBody>
          <a:bodyPr wrap="square">
            <a:spAutoFit/>
          </a:bodyPr>
          <a:lstStyle/>
          <a:p>
            <a:pPr algn="l"/>
            <a:r>
              <a:rPr sz="1200" b="0">
                <a:solidFill>
                  <a:srgbClr val="FFFFFF"/>
                </a:solidFill>
              </a:rPr>
              <a:t>Bash(npx playwright *)</a:t>
            </a:r>
          </a:p>
        </p:txBody>
      </p:sp>
      <p:sp>
        <p:nvSpPr>
          <p:cNvPr id="18" name="Rectangle 17"/>
          <p:cNvSpPr/>
          <p:nvPr/>
        </p:nvSpPr>
        <p:spPr>
          <a:xfrm>
            <a:off x="274320" y="1538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4320" y="1658000"/>
            <a:ext cx="3760104" cy="360000"/>
          </a:xfrm>
          <a:prstGeom prst="rect">
            <a:avLst/>
          </a:prstGeom>
          <a:noFill/>
        </p:spPr>
        <p:txBody>
          <a:bodyPr wrap="square">
            <a:spAutoFit/>
          </a:bodyPr>
          <a:lstStyle/>
          <a:p>
            <a:pPr algn="l"/>
            <a:r>
              <a:rPr sz="1200" b="0">
                <a:solidFill>
                  <a:srgbClr val="FFFFFF"/>
                </a:solidFill>
                <a:latin typeface="Courier New"/>
              </a:rPr>
              <a:t>/pw-debug</a:t>
            </a:r>
          </a:p>
        </p:txBody>
      </p:sp>
      <p:sp>
        <p:nvSpPr>
          <p:cNvPr id="20" name="Rectangle 19"/>
          <p:cNvSpPr/>
          <p:nvPr/>
        </p:nvSpPr>
        <p:spPr>
          <a:xfrm>
            <a:off x="4154424" y="1538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14424" y="1658000"/>
            <a:ext cx="3760104" cy="360000"/>
          </a:xfrm>
          <a:prstGeom prst="rect">
            <a:avLst/>
          </a:prstGeom>
          <a:noFill/>
        </p:spPr>
        <p:txBody>
          <a:bodyPr wrap="square">
            <a:spAutoFit/>
          </a:bodyPr>
          <a:lstStyle/>
          <a:p>
            <a:pPr algn="l"/>
            <a:r>
              <a:rPr sz="1200" b="0">
                <a:solidFill>
                  <a:srgbClr val="FFFFFF"/>
                </a:solidFill>
              </a:rPr>
              <a:t>Headed run + trace + root-cause diagnosis</a:t>
            </a:r>
          </a:p>
        </p:txBody>
      </p:sp>
      <p:sp>
        <p:nvSpPr>
          <p:cNvPr id="22" name="Rectangle 21"/>
          <p:cNvSpPr/>
          <p:nvPr/>
        </p:nvSpPr>
        <p:spPr>
          <a:xfrm>
            <a:off x="8034528" y="1538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94528" y="1658000"/>
            <a:ext cx="3760104" cy="360000"/>
          </a:xfrm>
          <a:prstGeom prst="rect">
            <a:avLst/>
          </a:prstGeom>
          <a:noFill/>
        </p:spPr>
        <p:txBody>
          <a:bodyPr wrap="square">
            <a:spAutoFit/>
          </a:bodyPr>
          <a:lstStyle/>
          <a:p>
            <a:pPr algn="l"/>
            <a:r>
              <a:rPr sz="1200" b="0">
                <a:solidFill>
                  <a:srgbClr val="FFFFFF"/>
                </a:solidFill>
              </a:rPr>
              <a:t>Bash(npx playwright *)</a:t>
            </a:r>
          </a:p>
        </p:txBody>
      </p:sp>
      <p:sp>
        <p:nvSpPr>
          <p:cNvPr id="24" name="Rectangle 23"/>
          <p:cNvSpPr/>
          <p:nvPr/>
        </p:nvSpPr>
        <p:spPr>
          <a:xfrm>
            <a:off x="274320" y="1976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4320" y="2096000"/>
            <a:ext cx="3760104" cy="360000"/>
          </a:xfrm>
          <a:prstGeom prst="rect">
            <a:avLst/>
          </a:prstGeom>
          <a:noFill/>
        </p:spPr>
        <p:txBody>
          <a:bodyPr wrap="square">
            <a:spAutoFit/>
          </a:bodyPr>
          <a:lstStyle/>
          <a:p>
            <a:pPr algn="l"/>
            <a:r>
              <a:rPr sz="1200" b="0">
                <a:solidFill>
                  <a:srgbClr val="FFFFFF"/>
                </a:solidFill>
                <a:latin typeface="Courier New"/>
              </a:rPr>
              <a:t>/pw-new-test</a:t>
            </a:r>
          </a:p>
        </p:txBody>
      </p:sp>
      <p:sp>
        <p:nvSpPr>
          <p:cNvPr id="26" name="Rectangle 25"/>
          <p:cNvSpPr/>
          <p:nvPr/>
        </p:nvSpPr>
        <p:spPr>
          <a:xfrm>
            <a:off x="4154424" y="1976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14424" y="2096000"/>
            <a:ext cx="3760104" cy="360000"/>
          </a:xfrm>
          <a:prstGeom prst="rect">
            <a:avLst/>
          </a:prstGeom>
          <a:noFill/>
        </p:spPr>
        <p:txBody>
          <a:bodyPr wrap="square">
            <a:spAutoFit/>
          </a:bodyPr>
          <a:lstStyle/>
          <a:p>
            <a:pPr algn="l"/>
            <a:r>
              <a:rPr sz="1200" b="0">
                <a:solidFill>
                  <a:srgbClr val="FFFFFF"/>
                </a:solidFill>
              </a:rPr>
              <a:t>Scaffold spec using fixtures + page objects</a:t>
            </a:r>
          </a:p>
        </p:txBody>
      </p:sp>
      <p:sp>
        <p:nvSpPr>
          <p:cNvPr id="28" name="Rectangle 27"/>
          <p:cNvSpPr/>
          <p:nvPr/>
        </p:nvSpPr>
        <p:spPr>
          <a:xfrm>
            <a:off x="8034528" y="1976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4528" y="2096000"/>
            <a:ext cx="3760104" cy="360000"/>
          </a:xfrm>
          <a:prstGeom prst="rect">
            <a:avLst/>
          </a:prstGeom>
          <a:noFill/>
        </p:spPr>
        <p:txBody>
          <a:bodyPr wrap="square">
            <a:spAutoFit/>
          </a:bodyPr>
          <a:lstStyle/>
          <a:p>
            <a:pPr algn="l"/>
            <a:r>
              <a:rPr sz="1200" b="0">
                <a:solidFill>
                  <a:srgbClr val="FFFFFF"/>
                </a:solidFill>
              </a:rPr>
              <a:t>Bash, Read, Write</a:t>
            </a:r>
          </a:p>
        </p:txBody>
      </p:sp>
      <p:sp>
        <p:nvSpPr>
          <p:cNvPr id="30" name="Rectangle 29"/>
          <p:cNvSpPr/>
          <p:nvPr/>
        </p:nvSpPr>
        <p:spPr>
          <a:xfrm>
            <a:off x="274320" y="2414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4320" y="2534000"/>
            <a:ext cx="3760104" cy="360000"/>
          </a:xfrm>
          <a:prstGeom prst="rect">
            <a:avLst/>
          </a:prstGeom>
          <a:noFill/>
        </p:spPr>
        <p:txBody>
          <a:bodyPr wrap="square">
            <a:spAutoFit/>
          </a:bodyPr>
          <a:lstStyle/>
          <a:p>
            <a:pPr algn="l"/>
            <a:r>
              <a:rPr sz="1200" b="0">
                <a:solidFill>
                  <a:srgbClr val="FFFFFF"/>
                </a:solidFill>
                <a:latin typeface="Courier New"/>
              </a:rPr>
              <a:t>/pw-page-object</a:t>
            </a:r>
          </a:p>
        </p:txBody>
      </p:sp>
      <p:sp>
        <p:nvSpPr>
          <p:cNvPr id="32" name="Rectangle 31"/>
          <p:cNvSpPr/>
          <p:nvPr/>
        </p:nvSpPr>
        <p:spPr>
          <a:xfrm>
            <a:off x="4154424" y="2414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14424" y="2534000"/>
            <a:ext cx="3760104" cy="360000"/>
          </a:xfrm>
          <a:prstGeom prst="rect">
            <a:avLst/>
          </a:prstGeom>
          <a:noFill/>
        </p:spPr>
        <p:txBody>
          <a:bodyPr wrap="square">
            <a:spAutoFit/>
          </a:bodyPr>
          <a:lstStyle/>
          <a:p>
            <a:pPr algn="l"/>
            <a:r>
              <a:rPr sz="1200" b="0">
                <a:solidFill>
                  <a:srgbClr val="FFFFFF"/>
                </a:solidFill>
              </a:rPr>
              <a:t>Generate typed POM from React source</a:t>
            </a:r>
          </a:p>
        </p:txBody>
      </p:sp>
      <p:sp>
        <p:nvSpPr>
          <p:cNvPr id="34" name="Rectangle 33"/>
          <p:cNvSpPr/>
          <p:nvPr/>
        </p:nvSpPr>
        <p:spPr>
          <a:xfrm>
            <a:off x="8034528" y="2414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94528" y="2534000"/>
            <a:ext cx="3760104" cy="360000"/>
          </a:xfrm>
          <a:prstGeom prst="rect">
            <a:avLst/>
          </a:prstGeom>
          <a:noFill/>
        </p:spPr>
        <p:txBody>
          <a:bodyPr wrap="square">
            <a:spAutoFit/>
          </a:bodyPr>
          <a:lstStyle/>
          <a:p>
            <a:pPr algn="l"/>
            <a:r>
              <a:rPr sz="1200" b="0">
                <a:solidFill>
                  <a:srgbClr val="FFFFFF"/>
                </a:solidFill>
              </a:rPr>
              <a:t>Read, Write</a:t>
            </a:r>
          </a:p>
        </p:txBody>
      </p:sp>
      <p:sp>
        <p:nvSpPr>
          <p:cNvPr id="36" name="Rectangle 35"/>
          <p:cNvSpPr/>
          <p:nvPr/>
        </p:nvSpPr>
        <p:spPr>
          <a:xfrm>
            <a:off x="274320" y="2852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4320" y="2972000"/>
            <a:ext cx="3760104" cy="360000"/>
          </a:xfrm>
          <a:prstGeom prst="rect">
            <a:avLst/>
          </a:prstGeom>
          <a:noFill/>
        </p:spPr>
        <p:txBody>
          <a:bodyPr wrap="square">
            <a:spAutoFit/>
          </a:bodyPr>
          <a:lstStyle/>
          <a:p>
            <a:pPr algn="l"/>
            <a:r>
              <a:rPr sz="1200" b="0">
                <a:solidFill>
                  <a:srgbClr val="FFFFFF"/>
                </a:solidFill>
                <a:latin typeface="Courier New"/>
              </a:rPr>
              <a:t>/pw-self-heal</a:t>
            </a:r>
          </a:p>
        </p:txBody>
      </p:sp>
      <p:sp>
        <p:nvSpPr>
          <p:cNvPr id="38" name="Rectangle 37"/>
          <p:cNvSpPr/>
          <p:nvPr/>
        </p:nvSpPr>
        <p:spPr>
          <a:xfrm>
            <a:off x="4154424" y="2852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14424" y="2972000"/>
            <a:ext cx="3760104" cy="360000"/>
          </a:xfrm>
          <a:prstGeom prst="rect">
            <a:avLst/>
          </a:prstGeom>
          <a:noFill/>
        </p:spPr>
        <p:txBody>
          <a:bodyPr wrap="square">
            <a:spAutoFit/>
          </a:bodyPr>
          <a:lstStyle/>
          <a:p>
            <a:pPr algn="l"/>
            <a:r>
              <a:rPr sz="1200" b="0">
                <a:solidFill>
                  <a:srgbClr val="FFFFFF"/>
                </a:solidFill>
              </a:rPr>
              <a:t>Detect broken selectors, propose ARIA fixes</a:t>
            </a:r>
          </a:p>
        </p:txBody>
      </p:sp>
      <p:sp>
        <p:nvSpPr>
          <p:cNvPr id="40" name="Rectangle 39"/>
          <p:cNvSpPr/>
          <p:nvPr/>
        </p:nvSpPr>
        <p:spPr>
          <a:xfrm>
            <a:off x="8034528" y="2852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94528" y="2972000"/>
            <a:ext cx="3760104" cy="360000"/>
          </a:xfrm>
          <a:prstGeom prst="rect">
            <a:avLst/>
          </a:prstGeom>
          <a:noFill/>
        </p:spPr>
        <p:txBody>
          <a:bodyPr wrap="square">
            <a:spAutoFit/>
          </a:bodyPr>
          <a:lstStyle/>
          <a:p>
            <a:pPr algn="l"/>
            <a:r>
              <a:rPr sz="1200" b="0">
                <a:solidFill>
                  <a:srgbClr val="FFFFFF"/>
                </a:solidFill>
              </a:rPr>
              <a:t>Bash, Read, Edit</a:t>
            </a:r>
          </a:p>
        </p:txBody>
      </p:sp>
      <p:sp>
        <p:nvSpPr>
          <p:cNvPr id="42" name="Rectangle 41"/>
          <p:cNvSpPr/>
          <p:nvPr/>
        </p:nvSpPr>
        <p:spPr>
          <a:xfrm>
            <a:off x="274320" y="3290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4320" y="3410000"/>
            <a:ext cx="3760104" cy="360000"/>
          </a:xfrm>
          <a:prstGeom prst="rect">
            <a:avLst/>
          </a:prstGeom>
          <a:noFill/>
        </p:spPr>
        <p:txBody>
          <a:bodyPr wrap="square">
            <a:spAutoFit/>
          </a:bodyPr>
          <a:lstStyle/>
          <a:p>
            <a:pPr algn="l"/>
            <a:r>
              <a:rPr sz="1200" b="0">
                <a:solidFill>
                  <a:srgbClr val="FFFFFF"/>
                </a:solidFill>
                <a:latin typeface="Courier New"/>
              </a:rPr>
              <a:t>/pw-plan</a:t>
            </a:r>
          </a:p>
        </p:txBody>
      </p:sp>
      <p:sp>
        <p:nvSpPr>
          <p:cNvPr id="44" name="Rectangle 43"/>
          <p:cNvSpPr/>
          <p:nvPr/>
        </p:nvSpPr>
        <p:spPr>
          <a:xfrm>
            <a:off x="4154424" y="3290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214424" y="3410000"/>
            <a:ext cx="3760104" cy="360000"/>
          </a:xfrm>
          <a:prstGeom prst="rect">
            <a:avLst/>
          </a:prstGeom>
          <a:noFill/>
        </p:spPr>
        <p:txBody>
          <a:bodyPr wrap="square">
            <a:spAutoFit/>
          </a:bodyPr>
          <a:lstStyle/>
          <a:p>
            <a:pPr algn="l"/>
            <a:r>
              <a:rPr sz="1200" b="0">
                <a:solidFill>
                  <a:srgbClr val="FFFFFF"/>
                </a:solidFill>
              </a:rPr>
              <a:t>Run Planner → Generator pipeline</a:t>
            </a:r>
          </a:p>
        </p:txBody>
      </p:sp>
      <p:sp>
        <p:nvSpPr>
          <p:cNvPr id="46" name="Rectangle 45"/>
          <p:cNvSpPr/>
          <p:nvPr/>
        </p:nvSpPr>
        <p:spPr>
          <a:xfrm>
            <a:off x="8034528" y="3290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94528" y="3410000"/>
            <a:ext cx="3760104" cy="360000"/>
          </a:xfrm>
          <a:prstGeom prst="rect">
            <a:avLst/>
          </a:prstGeom>
          <a:noFill/>
        </p:spPr>
        <p:txBody>
          <a:bodyPr wrap="square">
            <a:spAutoFit/>
          </a:bodyPr>
          <a:lstStyle/>
          <a:p>
            <a:pPr algn="l"/>
            <a:r>
              <a:rPr sz="1200" b="0">
                <a:solidFill>
                  <a:srgbClr val="FFFFFF"/>
                </a:solidFill>
              </a:rPr>
              <a:t>Bash(npm *), Bash(npx *)</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6</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Prompt Engineering Inside Skills</a:t>
            </a:r>
          </a:p>
        </p:txBody>
      </p:sp>
      <p:sp>
        <p:nvSpPr>
          <p:cNvPr id="6" name="Rectangle 5"/>
          <p:cNvSpPr/>
          <p:nvPr/>
        </p:nvSpPr>
        <p:spPr>
          <a:xfrm>
            <a:off x="274320"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40196"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740000"/>
            <a:ext cx="5545836" cy="300000"/>
          </a:xfrm>
          <a:prstGeom prst="rect">
            <a:avLst/>
          </a:prstGeom>
          <a:noFill/>
        </p:spPr>
        <p:txBody>
          <a:bodyPr wrap="square">
            <a:spAutoFit/>
          </a:bodyPr>
          <a:lstStyle/>
          <a:p>
            <a:pPr algn="l"/>
            <a:r>
              <a:rPr sz="1400" b="1">
                <a:solidFill>
                  <a:srgbClr val="D2A8FF"/>
                </a:solidFill>
              </a:rPr>
              <a:t>What works</a:t>
            </a:r>
          </a:p>
        </p:txBody>
      </p:sp>
      <p:sp>
        <p:nvSpPr>
          <p:cNvPr id="9" name="TextBox 8"/>
          <p:cNvSpPr txBox="1"/>
          <p:nvPr/>
        </p:nvSpPr>
        <p:spPr>
          <a:xfrm>
            <a:off x="457200" y="1090000"/>
            <a:ext cx="5545836" cy="5548000"/>
          </a:xfrm>
          <a:prstGeom prst="rect">
            <a:avLst/>
          </a:prstGeom>
          <a:noFill/>
        </p:spPr>
        <p:txBody>
          <a:bodyPr wrap="square">
            <a:spAutoFit/>
          </a:bodyPr>
          <a:lstStyle/>
          <a:p>
            <a:pPr algn="l">
              <a:lnSpc>
                <a:spcPts val="1700"/>
              </a:lnSpc>
            </a:pPr>
            <a:r>
              <a:rPr sz="1300" b="0">
                <a:solidFill>
                  <a:srgbClr val="FFFFFF"/>
                </a:solidFill>
              </a:rPr>
              <a:t>Be specific about output format:</a:t>
            </a:r>
          </a:p>
          <a:p>
            <a:pPr algn="l">
              <a:lnSpc>
                <a:spcPts val="1700"/>
              </a:lnSpc>
            </a:pPr>
            <a:r>
              <a:rPr sz="1300" b="0">
                <a:solidFill>
                  <a:srgbClr val="FFFFFF"/>
                </a:solidFill>
              </a:rPr>
              <a:t>  'list failing test titles, then the</a:t>
            </a:r>
          </a:p>
          <a:p>
            <a:pPr algn="l">
              <a:lnSpc>
                <a:spcPts val="1700"/>
              </a:lnSpc>
            </a:pPr>
            <a:r>
              <a:rPr sz="1300" b="0">
                <a:solidFill>
                  <a:srgbClr val="FFFFFF"/>
                </a:solidFill>
              </a:rPr>
              <a:t>  error, then a one-line fix'</a:t>
            </a:r>
          </a:p>
          <a:p>
            <a:pPr algn="l">
              <a:lnSpc>
                <a:spcPts val="1700"/>
              </a:lnSpc>
            </a:pPr>
            <a:r>
              <a:rPr sz="1300" b="0">
                <a:solidFill>
                  <a:srgbClr val="8B949E"/>
                </a:solidFill>
              </a:rPr>
              <a:t>  beats 'explain the failure'</a:t>
            </a:r>
          </a:p>
          <a:p>
            <a:pPr algn="l">
              <a:lnSpc>
                <a:spcPts val="1700"/>
              </a:lnSpc>
            </a:pPr>
            <a:r>
              <a:rPr sz="1300" b="0">
                <a:solidFill>
                  <a:srgbClr val="FFFFFF"/>
                </a:solidFill>
              </a:rPr>
              <a:t/>
            </a:r>
          </a:p>
          <a:p>
            <a:pPr algn="l">
              <a:lnSpc>
                <a:spcPts val="1700"/>
              </a:lnSpc>
            </a:pPr>
            <a:r>
              <a:rPr sz="1300" b="0">
                <a:solidFill>
                  <a:srgbClr val="FFFFFF"/>
                </a:solidFill>
              </a:rPr>
              <a:t>Anchor to project conventions:</a:t>
            </a:r>
          </a:p>
          <a:p>
            <a:pPr algn="l">
              <a:lnSpc>
                <a:spcPts val="1700"/>
              </a:lnSpc>
            </a:pPr>
            <a:r>
              <a:rPr sz="1300" b="0">
                <a:solidFill>
                  <a:srgbClr val="FFFFFF"/>
                </a:solidFill>
              </a:rPr>
              <a:t>  Reference actual file paths,
  fixture names, page object patterns</a:t>
            </a:r>
          </a:p>
          <a:p>
            <a:pPr algn="l">
              <a:lnSpc>
                <a:spcPts val="1700"/>
              </a:lnSpc>
            </a:pPr>
            <a:r>
              <a:rPr sz="1300" b="0">
                <a:solidFill>
                  <a:srgbClr val="FFFFFF"/>
                </a:solidFill>
              </a:rPr>
              <a:t/>
            </a:r>
          </a:p>
          <a:p>
            <a:pPr algn="l">
              <a:lnSpc>
                <a:spcPts val="1700"/>
              </a:lnSpc>
            </a:pPr>
            <a:r>
              <a:rPr sz="1300" b="0">
                <a:solidFill>
                  <a:srgbClr val="FFFFFF"/>
                </a:solidFill>
              </a:rPr>
              <a:t>Guard rails that matter:</a:t>
            </a:r>
          </a:p>
          <a:p>
            <a:pPr algn="l">
              <a:lnSpc>
                <a:spcPts val="1700"/>
              </a:lnSpc>
            </a:pPr>
            <a:r>
              <a:rPr sz="1300" b="0">
                <a:solidFill>
                  <a:srgbClr val="FFFFFF"/>
                </a:solidFill>
              </a:rPr>
              <a:t>  'Never modify test files unless
  the user confirms'</a:t>
            </a:r>
          </a:p>
          <a:p>
            <a:pPr algn="l">
              <a:lnSpc>
                <a:spcPts val="1700"/>
              </a:lnSpc>
            </a:pPr>
            <a:r>
              <a:rPr sz="1300" b="0">
                <a:solidFill>
                  <a:srgbClr val="FFFFFF"/>
                </a:solidFill>
              </a:rPr>
              <a:t>  'Do not run npm install'</a:t>
            </a:r>
          </a:p>
        </p:txBody>
      </p:sp>
      <p:sp>
        <p:nvSpPr>
          <p:cNvPr id="10" name="TextBox 9"/>
          <p:cNvSpPr txBox="1"/>
          <p:nvPr/>
        </p:nvSpPr>
        <p:spPr>
          <a:xfrm>
            <a:off x="6323076" y="740000"/>
            <a:ext cx="5545836" cy="300000"/>
          </a:xfrm>
          <a:prstGeom prst="rect">
            <a:avLst/>
          </a:prstGeom>
          <a:noFill/>
        </p:spPr>
        <p:txBody>
          <a:bodyPr wrap="square">
            <a:spAutoFit/>
          </a:bodyPr>
          <a:lstStyle/>
          <a:p>
            <a:pPr algn="l"/>
            <a:r>
              <a:rPr sz="1400" b="1">
                <a:solidFill>
                  <a:srgbClr val="D2A8FF"/>
                </a:solidFill>
              </a:rPr>
              <a:t>What to avoid</a:t>
            </a:r>
          </a:p>
        </p:txBody>
      </p:sp>
      <p:sp>
        <p:nvSpPr>
          <p:cNvPr id="11" name="TextBox 10"/>
          <p:cNvSpPr txBox="1"/>
          <p:nvPr/>
        </p:nvSpPr>
        <p:spPr>
          <a:xfrm>
            <a:off x="6323076" y="1090000"/>
            <a:ext cx="5545836" cy="5548000"/>
          </a:xfrm>
          <a:prstGeom prst="rect">
            <a:avLst/>
          </a:prstGeom>
          <a:noFill/>
        </p:spPr>
        <p:txBody>
          <a:bodyPr wrap="square">
            <a:spAutoFit/>
          </a:bodyPr>
          <a:lstStyle/>
          <a:p>
            <a:pPr algn="l">
              <a:lnSpc>
                <a:spcPts val="1700"/>
              </a:lnSpc>
            </a:pPr>
            <a:r>
              <a:rPr sz="1300" b="0">
                <a:solidFill>
                  <a:srgbClr val="FF7B72"/>
                </a:solidFill>
              </a:rPr>
              <a:t>Vague descriptions:</a:t>
            </a:r>
          </a:p>
          <a:p>
            <a:pPr algn="l">
              <a:lnSpc>
                <a:spcPts val="1700"/>
              </a:lnSpc>
            </a:pPr>
            <a:r>
              <a:rPr sz="1300" b="0">
                <a:solidFill>
                  <a:srgbClr val="8B949E"/>
                </a:solidFill>
              </a:rPr>
              <a:t>  'help with tests'  →  LLM drifts</a:t>
            </a:r>
          </a:p>
          <a:p>
            <a:pPr algn="l">
              <a:lnSpc>
                <a:spcPts val="1700"/>
              </a:lnSpc>
            </a:pPr>
            <a:r>
              <a:rPr sz="1300" b="0">
                <a:solidFill>
                  <a:srgbClr val="FFFFFF"/>
                </a:solidFill>
              </a:rPr>
              <a:t/>
            </a:r>
          </a:p>
          <a:p>
            <a:pPr algn="l">
              <a:lnSpc>
                <a:spcPts val="1700"/>
              </a:lnSpc>
            </a:pPr>
            <a:r>
              <a:rPr sz="1300" b="0">
                <a:solidFill>
                  <a:srgbClr val="FF7B72"/>
                </a:solidFill>
              </a:rPr>
              <a:t>Over-broad allowed-tools:</a:t>
            </a:r>
          </a:p>
          <a:p>
            <a:pPr algn="l">
              <a:lnSpc>
                <a:spcPts val="1700"/>
              </a:lnSpc>
            </a:pPr>
            <a:r>
              <a:rPr sz="1300" b="0">
                <a:solidFill>
                  <a:srgbClr val="8B949E"/>
                </a:solidFill>
              </a:rPr>
              <a:t>  * (all tools) means the agent
  can do anything</a:t>
            </a:r>
          </a:p>
          <a:p>
            <a:pPr algn="l">
              <a:lnSpc>
                <a:spcPts val="1700"/>
              </a:lnSpc>
            </a:pPr>
            <a:r>
              <a:rPr sz="1300" b="0">
                <a:solidFill>
                  <a:srgbClr val="FFFFFF"/>
                </a:solidFill>
              </a:rPr>
              <a:t/>
            </a:r>
          </a:p>
          <a:p>
            <a:pPr algn="l">
              <a:lnSpc>
                <a:spcPts val="1700"/>
              </a:lnSpc>
            </a:pPr>
            <a:r>
              <a:rPr sz="1300" b="0">
                <a:solidFill>
                  <a:srgbClr val="FF7B72"/>
                </a:solidFill>
              </a:rPr>
              <a:t>Missing output contract:</a:t>
            </a:r>
          </a:p>
          <a:p>
            <a:pPr algn="l">
              <a:lnSpc>
                <a:spcPts val="1700"/>
              </a:lnSpc>
            </a:pPr>
            <a:r>
              <a:rPr sz="1300" b="0">
                <a:solidFill>
                  <a:srgbClr val="8B949E"/>
                </a:solidFill>
              </a:rPr>
              <a:t>  Without a format spec the agent
  improvises — inconsistent output</a:t>
            </a:r>
          </a:p>
          <a:p>
            <a:pPr algn="l">
              <a:lnSpc>
                <a:spcPts val="1700"/>
              </a:lnSpc>
            </a:pPr>
            <a:r>
              <a:rPr sz="1300" b="0">
                <a:solidFill>
                  <a:srgbClr val="FFFFFF"/>
                </a:solidFill>
              </a:rPr>
              <a:t/>
            </a:r>
          </a:p>
          <a:p>
            <a:pPr algn="l">
              <a:lnSpc>
                <a:spcPts val="1700"/>
              </a:lnSpc>
            </a:pPr>
            <a:r>
              <a:rPr sz="1300" b="0">
                <a:solidFill>
                  <a:srgbClr val="FF7B72"/>
                </a:solidFill>
              </a:rPr>
              <a:t>No argument-hint:</a:t>
            </a:r>
          </a:p>
          <a:p>
            <a:pPr algn="l">
              <a:lnSpc>
                <a:spcPts val="1700"/>
              </a:lnSpc>
            </a:pPr>
            <a:r>
              <a:rPr sz="1300" b="0">
                <a:solidFill>
                  <a:srgbClr val="8B949E"/>
                </a:solidFill>
              </a:rPr>
              <a:t>  Collaborators won't know what
  to pass as $ARGUMENTS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6</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Discussion Questions</a:t>
            </a:r>
          </a:p>
        </p:txBody>
      </p:sp>
      <p:sp>
        <p:nvSpPr>
          <p:cNvPr id="6" name="Rectangle 5"/>
          <p:cNvSpPr/>
          <p:nvPr/>
        </p:nvSpPr>
        <p:spPr>
          <a:xfrm>
            <a:off x="274320" y="700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60000"/>
            <a:ext cx="700000" cy="1866000"/>
          </a:xfrm>
          <a:prstGeom prst="rect">
            <a:avLst/>
          </a:prstGeom>
          <a:noFill/>
        </p:spPr>
        <p:txBody>
          <a:bodyPr wrap="square">
            <a:spAutoFit/>
          </a:bodyPr>
          <a:lstStyle/>
          <a:p>
            <a:pPr algn="ctr"/>
            <a:r>
              <a:rPr sz="2800" b="1">
                <a:solidFill>
                  <a:srgbClr val="D2A8FF"/>
                </a:solidFill>
              </a:rPr>
              <a:t>1</a:t>
            </a:r>
          </a:p>
        </p:txBody>
      </p:sp>
      <p:sp>
        <p:nvSpPr>
          <p:cNvPr id="8" name="TextBox 7"/>
          <p:cNvSpPr txBox="1"/>
          <p:nvPr/>
        </p:nvSpPr>
        <p:spPr>
          <a:xfrm>
            <a:off x="1100000" y="780000"/>
            <a:ext cx="10788952" cy="1826000"/>
          </a:xfrm>
          <a:prstGeom prst="rect">
            <a:avLst/>
          </a:prstGeom>
          <a:noFill/>
        </p:spPr>
        <p:txBody>
          <a:bodyPr wrap="square">
            <a:spAutoFit/>
          </a:bodyPr>
          <a:lstStyle/>
          <a:p>
            <a:pPr algn="l"/>
            <a:r>
              <a:rPr sz="1400" b="0">
                <a:solidFill>
                  <a:srgbClr val="FFFFFF"/>
                </a:solidFill>
              </a:rPr>
              <a:t>The /pw-debug skill injects live test output via the shell before the LLM sees the prompt. Why does running the tests inside the skill (rather than pasting output manually) produce better diagnoses?</a:t>
            </a:r>
          </a:p>
        </p:txBody>
      </p:sp>
      <p:sp>
        <p:nvSpPr>
          <p:cNvPr id="9" name="Rectangle 8"/>
          <p:cNvSpPr/>
          <p:nvPr/>
        </p:nvSpPr>
        <p:spPr>
          <a:xfrm>
            <a:off x="274320" y="2686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2746000"/>
            <a:ext cx="700000" cy="1866000"/>
          </a:xfrm>
          <a:prstGeom prst="rect">
            <a:avLst/>
          </a:prstGeom>
          <a:noFill/>
        </p:spPr>
        <p:txBody>
          <a:bodyPr wrap="square">
            <a:spAutoFit/>
          </a:bodyPr>
          <a:lstStyle/>
          <a:p>
            <a:pPr algn="ctr"/>
            <a:r>
              <a:rPr sz="2800" b="1">
                <a:solidFill>
                  <a:srgbClr val="D2A8FF"/>
                </a:solidFill>
              </a:rPr>
              <a:t>2</a:t>
            </a:r>
          </a:p>
        </p:txBody>
      </p:sp>
      <p:sp>
        <p:nvSpPr>
          <p:cNvPr id="11" name="TextBox 10"/>
          <p:cNvSpPr txBox="1"/>
          <p:nvPr/>
        </p:nvSpPr>
        <p:spPr>
          <a:xfrm>
            <a:off x="1100000" y="2766000"/>
            <a:ext cx="10788952" cy="1826000"/>
          </a:xfrm>
          <a:prstGeom prst="rect">
            <a:avLst/>
          </a:prstGeom>
          <a:noFill/>
        </p:spPr>
        <p:txBody>
          <a:bodyPr wrap="square">
            <a:spAutoFit/>
          </a:bodyPr>
          <a:lstStyle/>
          <a:p>
            <a:pPr algn="l"/>
            <a:r>
              <a:rPr sz="1400" b="0">
                <a:solidFill>
                  <a:srgbClr val="FFFFFF"/>
                </a:solidFill>
              </a:rPr>
              <a:t>allowed-tools in a skill's frontmatter restricts which tools the agent may call. What is the security and correctness argument for limiting /pw-new-test to only Read, Edit, Write, and Bash?</a:t>
            </a:r>
          </a:p>
        </p:txBody>
      </p:sp>
      <p:sp>
        <p:nvSpPr>
          <p:cNvPr id="12" name="Rectangle 11"/>
          <p:cNvSpPr/>
          <p:nvPr/>
        </p:nvSpPr>
        <p:spPr>
          <a:xfrm>
            <a:off x="274320" y="4672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4732000"/>
            <a:ext cx="700000" cy="1866000"/>
          </a:xfrm>
          <a:prstGeom prst="rect">
            <a:avLst/>
          </a:prstGeom>
          <a:noFill/>
        </p:spPr>
        <p:txBody>
          <a:bodyPr wrap="square">
            <a:spAutoFit/>
          </a:bodyPr>
          <a:lstStyle/>
          <a:p>
            <a:pPr algn="ctr"/>
            <a:r>
              <a:rPr sz="2800" b="1">
                <a:solidFill>
                  <a:srgbClr val="D2A8FF"/>
                </a:solidFill>
              </a:rPr>
              <a:t>3</a:t>
            </a:r>
          </a:p>
        </p:txBody>
      </p:sp>
      <p:sp>
        <p:nvSpPr>
          <p:cNvPr id="14" name="TextBox 13"/>
          <p:cNvSpPr txBox="1"/>
          <p:nvPr/>
        </p:nvSpPr>
        <p:spPr>
          <a:xfrm>
            <a:off x="1100000" y="4752000"/>
            <a:ext cx="10788952" cy="1826000"/>
          </a:xfrm>
          <a:prstGeom prst="rect">
            <a:avLst/>
          </a:prstGeom>
          <a:noFill/>
        </p:spPr>
        <p:txBody>
          <a:bodyPr wrap="square">
            <a:spAutoFit/>
          </a:bodyPr>
          <a:lstStyle/>
          <a:p>
            <a:pPr algn="l"/>
            <a:r>
              <a:rPr sz="1400" b="0">
                <a:solidFill>
                  <a:srgbClr val="FFFFFF"/>
                </a:solidFill>
              </a:rPr>
              <a:t>A skill with no argument-hint field still works when invoked with an argument. What is the purpose of argument-hint, and who specifically benefits from 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6</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Workshop Tasks</a:t>
            </a:r>
          </a:p>
        </p:txBody>
      </p:sp>
      <p:sp>
        <p:nvSpPr>
          <p:cNvPr id="6" name="Rectangle 5"/>
          <p:cNvSpPr/>
          <p:nvPr/>
        </p:nvSpPr>
        <p:spPr>
          <a:xfrm>
            <a:off x="274320" y="680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40000"/>
            <a:ext cx="800000" cy="1379500"/>
          </a:xfrm>
          <a:prstGeom prst="rect">
            <a:avLst/>
          </a:prstGeom>
          <a:noFill/>
        </p:spPr>
        <p:txBody>
          <a:bodyPr wrap="square">
            <a:spAutoFit/>
          </a:bodyPr>
          <a:lstStyle/>
          <a:p>
            <a:pPr algn="l"/>
            <a:r>
              <a:rPr sz="1300" b="1">
                <a:solidFill>
                  <a:srgbClr val="D2A8FF"/>
                </a:solidFill>
              </a:rPr>
              <a:t>Task A</a:t>
            </a:r>
          </a:p>
        </p:txBody>
      </p:sp>
      <p:sp>
        <p:nvSpPr>
          <p:cNvPr id="8" name="TextBox 7"/>
          <p:cNvSpPr txBox="1"/>
          <p:nvPr/>
        </p:nvSpPr>
        <p:spPr>
          <a:xfrm>
            <a:off x="1200000" y="740000"/>
            <a:ext cx="3600000" cy="1379500"/>
          </a:xfrm>
          <a:prstGeom prst="rect">
            <a:avLst/>
          </a:prstGeom>
          <a:noFill/>
        </p:spPr>
        <p:txBody>
          <a:bodyPr wrap="square">
            <a:spAutoFit/>
          </a:bodyPr>
          <a:lstStyle/>
          <a:p>
            <a:pPr algn="l"/>
            <a:r>
              <a:rPr sz="1400" b="1">
                <a:solidFill>
                  <a:srgbClr val="FFFFFF"/>
                </a:solidFill>
              </a:rPr>
              <a:t>Run an existing skill</a:t>
            </a:r>
          </a:p>
        </p:txBody>
      </p:sp>
      <p:sp>
        <p:nvSpPr>
          <p:cNvPr id="9" name="TextBox 8"/>
          <p:cNvSpPr txBox="1"/>
          <p:nvPr/>
        </p:nvSpPr>
        <p:spPr>
          <a:xfrm>
            <a:off x="4900000" y="740000"/>
            <a:ext cx="6988952" cy="1379500"/>
          </a:xfrm>
          <a:prstGeom prst="rect">
            <a:avLst/>
          </a:prstGeom>
          <a:noFill/>
        </p:spPr>
        <p:txBody>
          <a:bodyPr wrap="square">
            <a:spAutoFit/>
          </a:bodyPr>
          <a:lstStyle/>
          <a:p>
            <a:pPr algn="l"/>
            <a:r>
              <a:rPr sz="1200" b="0">
                <a:solidFill>
                  <a:srgbClr val="8B949E"/>
                </a:solidFill>
              </a:rPr>
              <a:t>/pw-run tests/auth.spec.ts
Observe: does the skill summarise pass/fail? Does it suggest a fix on failure?</a:t>
            </a:r>
          </a:p>
        </p:txBody>
      </p:sp>
      <p:sp>
        <p:nvSpPr>
          <p:cNvPr id="10" name="Rectangle 9"/>
          <p:cNvSpPr/>
          <p:nvPr/>
        </p:nvSpPr>
        <p:spPr>
          <a:xfrm>
            <a:off x="274320" y="2179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39500"/>
            <a:ext cx="800000" cy="1379500"/>
          </a:xfrm>
          <a:prstGeom prst="rect">
            <a:avLst/>
          </a:prstGeom>
          <a:noFill/>
        </p:spPr>
        <p:txBody>
          <a:bodyPr wrap="square">
            <a:spAutoFit/>
          </a:bodyPr>
          <a:lstStyle/>
          <a:p>
            <a:pPr algn="l"/>
            <a:r>
              <a:rPr sz="1300" b="1">
                <a:solidFill>
                  <a:srgbClr val="D2A8FF"/>
                </a:solidFill>
              </a:rPr>
              <a:t>Task B</a:t>
            </a:r>
          </a:p>
        </p:txBody>
      </p:sp>
      <p:sp>
        <p:nvSpPr>
          <p:cNvPr id="12" name="TextBox 11"/>
          <p:cNvSpPr txBox="1"/>
          <p:nvPr/>
        </p:nvSpPr>
        <p:spPr>
          <a:xfrm>
            <a:off x="1200000" y="2239500"/>
            <a:ext cx="3600000" cy="1379500"/>
          </a:xfrm>
          <a:prstGeom prst="rect">
            <a:avLst/>
          </a:prstGeom>
          <a:noFill/>
        </p:spPr>
        <p:txBody>
          <a:bodyPr wrap="square">
            <a:spAutoFit/>
          </a:bodyPr>
          <a:lstStyle/>
          <a:p>
            <a:pPr algn="l"/>
            <a:r>
              <a:rPr sz="1400" b="1">
                <a:solidFill>
                  <a:srgbClr val="FFFFFF"/>
                </a:solidFill>
              </a:rPr>
              <a:t>Write a debug-test skill from scratch</a:t>
            </a:r>
          </a:p>
        </p:txBody>
      </p:sp>
      <p:sp>
        <p:nvSpPr>
          <p:cNvPr id="13" name="TextBox 12"/>
          <p:cNvSpPr txBox="1"/>
          <p:nvPr/>
        </p:nvSpPr>
        <p:spPr>
          <a:xfrm>
            <a:off x="4900000" y="2239500"/>
            <a:ext cx="6988952" cy="1379500"/>
          </a:xfrm>
          <a:prstGeom prst="rect">
            <a:avLst/>
          </a:prstGeom>
          <a:noFill/>
        </p:spPr>
        <p:txBody>
          <a:bodyPr wrap="square">
            <a:spAutoFit/>
          </a:bodyPr>
          <a:lstStyle/>
          <a:p>
            <a:pPr algn="l"/>
            <a:r>
              <a:rPr sz="1200" b="0">
                <a:solidFill>
                  <a:srgbClr val="8B949E"/>
                </a:solidFill>
              </a:rPr>
              <a:t>Create .claude/skills/debug-test/SKILL.md with: argument-hint, allowed-tools,
headed run step, root-cause categories, output contract. Invoke it.</a:t>
            </a:r>
          </a:p>
        </p:txBody>
      </p:sp>
      <p:sp>
        <p:nvSpPr>
          <p:cNvPr id="14" name="Rectangle 13"/>
          <p:cNvSpPr/>
          <p:nvPr/>
        </p:nvSpPr>
        <p:spPr>
          <a:xfrm>
            <a:off x="274320" y="3679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739000"/>
            <a:ext cx="800000" cy="1379500"/>
          </a:xfrm>
          <a:prstGeom prst="rect">
            <a:avLst/>
          </a:prstGeom>
          <a:noFill/>
        </p:spPr>
        <p:txBody>
          <a:bodyPr wrap="square">
            <a:spAutoFit/>
          </a:bodyPr>
          <a:lstStyle/>
          <a:p>
            <a:pPr algn="l"/>
            <a:r>
              <a:rPr sz="1300" b="1">
                <a:solidFill>
                  <a:srgbClr val="D2A8FF"/>
                </a:solidFill>
              </a:rPr>
              <a:t>Task C</a:t>
            </a:r>
          </a:p>
        </p:txBody>
      </p:sp>
      <p:sp>
        <p:nvSpPr>
          <p:cNvPr id="16" name="TextBox 15"/>
          <p:cNvSpPr txBox="1"/>
          <p:nvPr/>
        </p:nvSpPr>
        <p:spPr>
          <a:xfrm>
            <a:off x="1200000" y="3739000"/>
            <a:ext cx="3600000" cy="1379500"/>
          </a:xfrm>
          <a:prstGeom prst="rect">
            <a:avLst/>
          </a:prstGeom>
          <a:noFill/>
        </p:spPr>
        <p:txBody>
          <a:bodyPr wrap="square">
            <a:spAutoFit/>
          </a:bodyPr>
          <a:lstStyle/>
          <a:p>
            <a:pPr algn="l"/>
            <a:r>
              <a:rPr sz="1400" b="1">
                <a:solidFill>
                  <a:srgbClr val="FFFFFF"/>
                </a:solidFill>
              </a:rPr>
              <a:t>Audit allowed-tools</a:t>
            </a:r>
          </a:p>
        </p:txBody>
      </p:sp>
      <p:sp>
        <p:nvSpPr>
          <p:cNvPr id="17" name="TextBox 16"/>
          <p:cNvSpPr txBox="1"/>
          <p:nvPr/>
        </p:nvSpPr>
        <p:spPr>
          <a:xfrm>
            <a:off x="4900000" y="3739000"/>
            <a:ext cx="6988952" cy="1379500"/>
          </a:xfrm>
          <a:prstGeom prst="rect">
            <a:avLst/>
          </a:prstGeom>
          <a:noFill/>
        </p:spPr>
        <p:txBody>
          <a:bodyPr wrap="square">
            <a:spAutoFit/>
          </a:bodyPr>
          <a:lstStyle/>
          <a:p>
            <a:pPr algn="l"/>
            <a:r>
              <a:rPr sz="1200" b="0">
                <a:solidFill>
                  <a:srgbClr val="8B949E"/>
                </a:solidFill>
              </a:rPr>
              <a:t>Check each of the 6 project skills. Is any allowed-tools broader than needed?
Reduce scope on one skill and verify it still works correctly.</a:t>
            </a:r>
          </a:p>
        </p:txBody>
      </p:sp>
      <p:sp>
        <p:nvSpPr>
          <p:cNvPr id="18" name="Rectangle 17"/>
          <p:cNvSpPr/>
          <p:nvPr/>
        </p:nvSpPr>
        <p:spPr>
          <a:xfrm>
            <a:off x="274320" y="5178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5238500"/>
            <a:ext cx="800000" cy="1379500"/>
          </a:xfrm>
          <a:prstGeom prst="rect">
            <a:avLst/>
          </a:prstGeom>
          <a:noFill/>
        </p:spPr>
        <p:txBody>
          <a:bodyPr wrap="square">
            <a:spAutoFit/>
          </a:bodyPr>
          <a:lstStyle/>
          <a:p>
            <a:pPr algn="l"/>
            <a:r>
              <a:rPr sz="1300" b="1">
                <a:solidFill>
                  <a:srgbClr val="D2A8FF"/>
                </a:solidFill>
              </a:rPr>
              <a:t>Task D</a:t>
            </a:r>
          </a:p>
        </p:txBody>
      </p:sp>
      <p:sp>
        <p:nvSpPr>
          <p:cNvPr id="20" name="TextBox 19"/>
          <p:cNvSpPr txBox="1"/>
          <p:nvPr/>
        </p:nvSpPr>
        <p:spPr>
          <a:xfrm>
            <a:off x="1200000" y="5238500"/>
            <a:ext cx="3600000" cy="1379500"/>
          </a:xfrm>
          <a:prstGeom prst="rect">
            <a:avLst/>
          </a:prstGeom>
          <a:noFill/>
        </p:spPr>
        <p:txBody>
          <a:bodyPr wrap="square">
            <a:spAutoFit/>
          </a:bodyPr>
          <a:lstStyle/>
          <a:p>
            <a:pPr algn="l"/>
            <a:r>
              <a:rPr sz="1400" b="1">
                <a:solidFill>
                  <a:srgbClr val="FFFFFF"/>
                </a:solidFill>
              </a:rPr>
              <a:t>Add cross-reference to pw-self-heal</a:t>
            </a:r>
          </a:p>
        </p:txBody>
      </p:sp>
      <p:sp>
        <p:nvSpPr>
          <p:cNvPr id="21" name="TextBox 20"/>
          <p:cNvSpPr txBox="1"/>
          <p:nvPr/>
        </p:nvSpPr>
        <p:spPr>
          <a:xfrm>
            <a:off x="4900000" y="5238500"/>
            <a:ext cx="6988952" cy="1379500"/>
          </a:xfrm>
          <a:prstGeom prst="rect">
            <a:avLst/>
          </a:prstGeom>
          <a:noFill/>
        </p:spPr>
        <p:txBody>
          <a:bodyPr wrap="square">
            <a:spAutoFit/>
          </a:bodyPr>
          <a:lstStyle/>
          <a:p>
            <a:pPr algn="l"/>
            <a:r>
              <a:rPr sz="1200" b="0">
                <a:solidFill>
                  <a:srgbClr val="8B949E"/>
                </a:solidFill>
              </a:rPr>
              <a:t>Read .claude/skills/pw-self-heal/SKILL.md scope note.
Does it correctly redirect generated test failures to ch4.1 TestHealerAgent?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37160"/>
            <a:ext cx="1371600" cy="34747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9184" y="164592"/>
            <a:ext cx="1280160" cy="320040"/>
          </a:xfrm>
          <a:prstGeom prst="rect">
            <a:avLst/>
          </a:prstGeom>
          <a:noFill/>
        </p:spPr>
        <p:txBody>
          <a:bodyPr wrap="square">
            <a:spAutoFit/>
          </a:bodyPr>
          <a:lstStyle/>
          <a:p>
            <a:pPr algn="ctr"/>
            <a:r>
              <a:rPr sz="1300" b="1">
                <a:solidFill>
                  <a:srgbClr val="0D1117"/>
                </a:solidFill>
              </a:rPr>
              <a:t>CH 7  ·  17:00</a:t>
            </a:r>
          </a:p>
        </p:txBody>
      </p:sp>
      <p:sp>
        <p:nvSpPr>
          <p:cNvPr id="6" name="TextBox 5"/>
          <p:cNvSpPr txBox="1"/>
          <p:nvPr/>
        </p:nvSpPr>
        <p:spPr>
          <a:xfrm>
            <a:off x="1874519" y="109728"/>
            <a:ext cx="9900000" cy="600000"/>
          </a:xfrm>
          <a:prstGeom prst="rect">
            <a:avLst/>
          </a:prstGeom>
          <a:noFill/>
        </p:spPr>
        <p:txBody>
          <a:bodyPr wrap="square">
            <a:spAutoFit/>
          </a:bodyPr>
          <a:lstStyle/>
          <a:p>
            <a:pPr algn="l"/>
            <a:r>
              <a:rPr sz="3000" b="1">
                <a:solidFill>
                  <a:srgbClr val="FFFFFF"/>
                </a:solidFill>
              </a:rPr>
              <a:t>Implementing an Agent &amp; Running on CI</a:t>
            </a:r>
          </a:p>
        </p:txBody>
      </p:sp>
      <p:sp>
        <p:nvSpPr>
          <p:cNvPr id="7" name="TextBox 6"/>
          <p:cNvSpPr txBox="1"/>
          <p:nvPr/>
        </p:nvSpPr>
        <p:spPr>
          <a:xfrm>
            <a:off x="1874519" y="660000"/>
            <a:ext cx="9900000" cy="347472"/>
          </a:xfrm>
          <a:prstGeom prst="rect">
            <a:avLst/>
          </a:prstGeom>
          <a:noFill/>
        </p:spPr>
        <p:txBody>
          <a:bodyPr wrap="square">
            <a:spAutoFit/>
          </a:bodyPr>
          <a:lstStyle/>
          <a:p>
            <a:pPr algn="l"/>
            <a:r>
              <a:rPr sz="1500" b="0">
                <a:solidFill>
                  <a:srgbClr val="8B949E"/>
                </a:solidFill>
              </a:rPr>
              <a:t>60 min  ·  Structured output, annotations, parallel matrix, post-mortem reporting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7</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The CI Contract — Exit Codes + Critical Flag</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Every agent run maps to one of three exit codes:</a:t>
            </a:r>
          </a:p>
          <a:p>
            <a:pPr algn="l">
              <a:lnSpc>
                <a:spcPts val="1800"/>
              </a:lnSpc>
            </a:pPr>
            <a:r>
              <a:rPr sz="1400" b="0">
                <a:solidFill>
                  <a:srgbClr val="FFFFFF"/>
                </a:solidFill>
              </a:rPr>
              <a:t/>
            </a:r>
          </a:p>
          <a:p>
            <a:pPr algn="l">
              <a:lnSpc>
                <a:spcPts val="1800"/>
              </a:lnSpc>
            </a:pPr>
            <a:r>
              <a:rPr sz="1400" b="0">
                <a:solidFill>
                  <a:srgbClr val="39D353"/>
                </a:solidFill>
              </a:rPr>
              <a:t>  0   All critical scenarios passed  (pipeline continues)</a:t>
            </a:r>
          </a:p>
          <a:p>
            <a:pPr algn="l">
              <a:lnSpc>
                <a:spcPts val="1800"/>
              </a:lnSpc>
            </a:pPr>
            <a:r>
              <a:rPr sz="1400" b="0">
                <a:solidFill>
                  <a:srgbClr val="FF7B72"/>
                </a:solidFill>
              </a:rPr>
              <a:t>  1   At least one critical scenario failed  (pipeline fails)</a:t>
            </a:r>
          </a:p>
          <a:p>
            <a:pPr algn="l">
              <a:lnSpc>
                <a:spcPts val="1800"/>
              </a:lnSpc>
            </a:pPr>
            <a:r>
              <a:rPr sz="1400" b="0">
                <a:solidFill>
                  <a:srgbClr val="F78466"/>
                </a:solidFill>
              </a:rPr>
              <a:t>  2   Configuration error (missing API key, bad scenario name)</a:t>
            </a:r>
          </a:p>
          <a:p>
            <a:pPr algn="l">
              <a:lnSpc>
                <a:spcPts val="1800"/>
              </a:lnSpc>
            </a:pPr>
            <a:r>
              <a:rPr sz="1400" b="0">
                <a:solidFill>
                  <a:srgbClr val="FFFFFF"/>
                </a:solidFill>
              </a:rPr>
              <a:t/>
            </a:r>
          </a:p>
          <a:p>
            <a:pPr algn="l">
              <a:lnSpc>
                <a:spcPts val="1800"/>
              </a:lnSpc>
            </a:pPr>
            <a:r>
              <a:rPr sz="1400" b="0">
                <a:solidFill>
                  <a:srgbClr val="8B949E"/>
                </a:solidFill>
              </a:rPr>
              <a:t>The critical flag per scenario:</a:t>
            </a:r>
          </a:p>
          <a:p>
            <a:pPr algn="l">
              <a:lnSpc>
                <a:spcPts val="1800"/>
              </a:lnSpc>
            </a:pPr>
            <a:r>
              <a:rPr sz="1400" b="0">
                <a:solidFill>
                  <a:srgbClr val="FF7B72"/>
                </a:solidFill>
              </a:rPr>
              <a:t>  critical: true   →  failure = exit 1, ::error annotation in PR diff</a:t>
            </a:r>
          </a:p>
          <a:p>
            <a:pPr algn="l">
              <a:lnSpc>
                <a:spcPts val="1800"/>
              </a:lnSpc>
            </a:pPr>
            <a:r>
              <a:rPr sz="1400" b="0">
                <a:solidFill>
                  <a:srgbClr val="E3B341"/>
                </a:solidFill>
              </a:rPr>
              <a:t>  critical: false  →  failure = exit 0, ::warning annotation only</a:t>
            </a:r>
          </a:p>
          <a:p>
            <a:pPr algn="l">
              <a:lnSpc>
                <a:spcPts val="1800"/>
              </a:lnSpc>
            </a:pPr>
            <a:r>
              <a:rPr sz="1400" b="0">
                <a:solidFill>
                  <a:srgbClr val="FFFFFF"/>
                </a:solidFill>
              </a:rPr>
              <a:t/>
            </a:r>
          </a:p>
          <a:p>
            <a:pPr algn="l">
              <a:lnSpc>
                <a:spcPts val="1800"/>
              </a:lnSpc>
            </a:pPr>
            <a:r>
              <a:rPr sz="1400" b="0">
                <a:solidFill>
                  <a:srgbClr val="FFFFFF"/>
                </a:solidFill>
              </a:rPr>
              <a:t>Why separate critical from optional:</a:t>
            </a:r>
          </a:p>
          <a:p>
            <a:pPr algn="l">
              <a:lnSpc>
                <a:spcPts val="1800"/>
              </a:lnSpc>
            </a:pPr>
            <a:r>
              <a:rPr sz="1400" b="0">
                <a:solidFill>
                  <a:srgbClr val="FFFFFF"/>
                </a:solidFill>
              </a:rPr>
              <a:t>  Some checks are exploratory (visual, performance, a11y) — they should warn</a:t>
            </a:r>
          </a:p>
          <a:p>
            <a:pPr algn="l">
              <a:lnSpc>
                <a:spcPts val="1800"/>
              </a:lnSpc>
            </a:pPr>
            <a:r>
              <a:rPr sz="1400" b="0">
                <a:solidFill>
                  <a:srgbClr val="FFFFFF"/>
                </a:solidFill>
              </a:rPr>
              <a:t>  but never block a deploy. Mixing them inflates noise and causes bypass.</a:t>
            </a:r>
          </a:p>
          <a:p>
            <a:pPr algn="l">
              <a:lnSpc>
                <a:spcPts val="1800"/>
              </a:lnSpc>
            </a:pPr>
            <a:r>
              <a:rPr sz="1400" b="0">
                <a:solidFill>
                  <a:srgbClr val="FFFFFF"/>
                </a:solidFill>
              </a:rPr>
              <a:t/>
            </a:r>
          </a:p>
          <a:p>
            <a:pPr algn="l">
              <a:lnSpc>
                <a:spcPts val="1800"/>
              </a:lnSpc>
            </a:pPr>
            <a:r>
              <a:rPr sz="1400" b="0">
                <a:solidFill>
                  <a:srgbClr val="8B949E"/>
                </a:solidFill>
              </a:rPr>
              <a:t>Rule of thumb:</a:t>
            </a:r>
          </a:p>
          <a:p>
            <a:pPr algn="l">
              <a:lnSpc>
                <a:spcPts val="1800"/>
              </a:lnSpc>
            </a:pPr>
            <a:r>
              <a:rPr sz="1400" b="0">
                <a:solidFill>
                  <a:srgbClr val="FFFFFF"/>
                </a:solidFill>
              </a:rPr>
              <a:t>  Start new scenarios as critical: false.</a:t>
            </a:r>
          </a:p>
          <a:p>
            <a:pPr algn="l">
              <a:lnSpc>
                <a:spcPts val="1800"/>
              </a:lnSpc>
            </a:pPr>
            <a:r>
              <a:rPr sz="1400" b="0">
                <a:solidFill>
                  <a:srgbClr val="FFFFFF"/>
                </a:solidFill>
              </a:rPr>
              <a:t>  Promote to critical: true once they've run cleanly for 5+ consecutive builds.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7</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CIReporter — Four Output Channels</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ch7-agent-ci/reporter.ts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class CIReporter {</a:t>
            </a:r>
          </a:p>
          <a:p>
            <a:pPr algn="l">
              <a:lnSpc>
                <a:spcPts val="1500"/>
              </a:lnSpc>
            </a:pPr>
            <a:r>
              <a:rPr sz="1200" b="0">
                <a:solidFill>
                  <a:srgbClr val="FFFFFF"/>
                </a:solidFill>
                <a:latin typeface="Courier New"/>
              </a:rPr>
              <a:t>  record(result: ScenarioResult): void {</a:t>
            </a:r>
          </a:p>
          <a:p>
            <a:pPr algn="l">
              <a:lnSpc>
                <a:spcPts val="1500"/>
              </a:lnSpc>
            </a:pPr>
            <a:r>
              <a:rPr sz="1200" b="0">
                <a:solidFill>
                  <a:srgbClr val="FFFFFF"/>
                </a:solidFill>
                <a:latin typeface="Courier New"/>
              </a:rPr>
              <a:t>    // Channel 1: workflow annotation → inline in PR diff</a:t>
            </a:r>
          </a:p>
          <a:p>
            <a:pPr algn="l">
              <a:lnSpc>
                <a:spcPts val="1500"/>
              </a:lnSpc>
            </a:pPr>
            <a:r>
              <a:rPr sz="1200" b="0">
                <a:solidFill>
                  <a:srgbClr val="FFFFFF"/>
                </a:solidFill>
                <a:latin typeface="Courier New"/>
              </a:rPr>
              <a:t>    this.annotation(result.critical ? 'error' : 'warning',</a:t>
            </a:r>
          </a:p>
          <a:p>
            <a:pPr algn="l">
              <a:lnSpc>
                <a:spcPts val="1500"/>
              </a:lnSpc>
            </a:pPr>
            <a:r>
              <a:rPr sz="1200" b="0">
                <a:solidFill>
                  <a:srgbClr val="58A6FF"/>
                </a:solidFill>
                <a:latin typeface="Courier New"/>
              </a:rPr>
              <a:t>      `Agent scenario failed: ${result.name}`, result.summary)</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  async writeStepSummary(): Promise&lt;void&gt; {</a:t>
            </a:r>
          </a:p>
          <a:p>
            <a:pPr algn="l">
              <a:lnSpc>
                <a:spcPts val="1500"/>
              </a:lnSpc>
            </a:pPr>
            <a:r>
              <a:rPr sz="1200" b="0">
                <a:solidFill>
                  <a:srgbClr val="FFFFFF"/>
                </a:solidFill>
                <a:latin typeface="Courier New"/>
              </a:rPr>
              <a:t>    // Channel 2: Markdown table in $GITHUB_STEP_SUMMARY</a:t>
            </a:r>
          </a:p>
          <a:p>
            <a:pPr algn="l">
              <a:lnSpc>
                <a:spcPts val="1500"/>
              </a:lnSpc>
            </a:pPr>
            <a:r>
              <a:rPr sz="1200" b="0">
                <a:solidFill>
                  <a:srgbClr val="58A6FF"/>
                </a:solidFill>
                <a:latin typeface="Courier New"/>
              </a:rPr>
              <a:t>    fs.appendFileSync(process.env.GITHUB_STEP_SUMMARY, markdownTable)</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  setOutputs(): void {</a:t>
            </a:r>
          </a:p>
          <a:p>
            <a:pPr algn="l">
              <a:lnSpc>
                <a:spcPts val="1500"/>
              </a:lnSpc>
            </a:pPr>
            <a:r>
              <a:rPr sz="1200" b="0">
                <a:solidFill>
                  <a:srgbClr val="FFFFFF"/>
                </a:solidFill>
                <a:latin typeface="Courier New"/>
              </a:rPr>
              <a:t>    // Channel 3: job outputs → consumed by downstream jobs</a:t>
            </a:r>
          </a:p>
          <a:p>
            <a:pPr algn="l">
              <a:lnSpc>
                <a:spcPts val="1500"/>
              </a:lnSpc>
            </a:pPr>
            <a:r>
              <a:rPr sz="1200" b="0">
                <a:solidFill>
                  <a:srgbClr val="58A6FF"/>
                </a:solidFill>
                <a:latin typeface="Courier New"/>
              </a:rPr>
              <a:t>    this.setOutput('passed', String(allCriticalPassed))</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  writeReport(path): void {</a:t>
            </a:r>
          </a:p>
          <a:p>
            <a:pPr algn="l">
              <a:lnSpc>
                <a:spcPts val="1500"/>
              </a:lnSpc>
            </a:pPr>
            <a:r>
              <a:rPr sz="1200" b="0">
                <a:solidFill>
                  <a:srgbClr val="FFFFFF"/>
                </a:solidFill>
                <a:latin typeface="Courier New"/>
              </a:rPr>
              <a:t>    // Channel 4: agent-report.json → uploaded as artifact</a:t>
            </a:r>
          </a:p>
          <a:p>
            <a:pPr algn="l">
              <a:lnSpc>
                <a:spcPts val="1500"/>
              </a:lnSpc>
            </a:pPr>
            <a:r>
              <a:rPr sz="1200" b="0">
                <a:solidFill>
                  <a:srgbClr val="58A6FF"/>
                </a:solidFill>
                <a:latin typeface="Courier New"/>
              </a:rPr>
              <a:t>    fs.writeFileSync(path, JSON.stringify(report, null, 2))</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7</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GitHub Actions Workflow Commands</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Emitted to stdout — GitHub Actions intercepts and renders them:</a:t>
            </a:r>
          </a:p>
          <a:p>
            <a:pPr algn="l">
              <a:lnSpc>
                <a:spcPts val="1800"/>
              </a:lnSpc>
            </a:pPr>
            <a:r>
              <a:rPr sz="1400" b="0">
                <a:solidFill>
                  <a:srgbClr val="FFFFFF"/>
                </a:solidFill>
              </a:rPr>
              <a:t/>
            </a:r>
          </a:p>
          <a:p>
            <a:pPr algn="l">
              <a:lnSpc>
                <a:spcPts val="1800"/>
              </a:lnSpc>
            </a:pPr>
            <a:r>
              <a:rPr sz="1400" b="0">
                <a:solidFill>
                  <a:srgbClr val="FF7B72"/>
                </a:solidFill>
              </a:rPr>
              <a:t>::error title=&lt;title&gt;::&lt;message&gt;</a:t>
            </a:r>
          </a:p>
          <a:p>
            <a:pPr algn="l">
              <a:lnSpc>
                <a:spcPts val="1800"/>
              </a:lnSpc>
            </a:pPr>
            <a:r>
              <a:rPr sz="1400" b="0">
                <a:solidFill>
                  <a:srgbClr val="8B949E"/>
                </a:solidFill>
              </a:rPr>
              <a:t>  → Red annotation inline in the PR diff file view</a:t>
            </a:r>
          </a:p>
          <a:p>
            <a:pPr algn="l">
              <a:lnSpc>
                <a:spcPts val="1800"/>
              </a:lnSpc>
            </a:pPr>
            <a:r>
              <a:rPr sz="1400" b="0">
                <a:solidFill>
                  <a:srgbClr val="FFFFFF"/>
                </a:solidFill>
              </a:rPr>
              <a:t/>
            </a:r>
          </a:p>
          <a:p>
            <a:pPr algn="l">
              <a:lnSpc>
                <a:spcPts val="1800"/>
              </a:lnSpc>
            </a:pPr>
            <a:r>
              <a:rPr sz="1400" b="0">
                <a:solidFill>
                  <a:srgbClr val="E3B341"/>
                </a:solidFill>
              </a:rPr>
              <a:t>::warning title=&lt;title&gt;::&lt;message&gt;</a:t>
            </a:r>
          </a:p>
          <a:p>
            <a:pPr algn="l">
              <a:lnSpc>
                <a:spcPts val="1800"/>
              </a:lnSpc>
            </a:pPr>
            <a:r>
              <a:rPr sz="1400" b="0">
                <a:solidFill>
                  <a:srgbClr val="8B949E"/>
                </a:solidFill>
              </a:rPr>
              <a:t>  → Yellow annotation — visible but doesn't block merge</a:t>
            </a:r>
          </a:p>
          <a:p>
            <a:pPr algn="l">
              <a:lnSpc>
                <a:spcPts val="1800"/>
              </a:lnSpc>
            </a:pPr>
            <a:r>
              <a:rPr sz="1400" b="0">
                <a:solidFill>
                  <a:srgbClr val="FFFFFF"/>
                </a:solidFill>
              </a:rPr>
              <a:t/>
            </a:r>
          </a:p>
          <a:p>
            <a:pPr algn="l">
              <a:lnSpc>
                <a:spcPts val="1800"/>
              </a:lnSpc>
            </a:pPr>
            <a:r>
              <a:rPr sz="1400" b="0">
                <a:solidFill>
                  <a:srgbClr val="8B949E"/>
                </a:solidFill>
              </a:rPr>
              <a:t>::notice title=&lt;title&gt;::&lt;message&gt;</a:t>
            </a:r>
          </a:p>
          <a:p>
            <a:pPr algn="l">
              <a:lnSpc>
                <a:spcPts val="1800"/>
              </a:lnSpc>
            </a:pPr>
            <a:r>
              <a:rPr sz="1400" b="0">
                <a:solidFill>
                  <a:srgbClr val="8B949E"/>
                </a:solidFill>
              </a:rPr>
              <a:t>  → Neutral — useful for informational annotations</a:t>
            </a:r>
          </a:p>
          <a:p>
            <a:pPr algn="l">
              <a:lnSpc>
                <a:spcPts val="1800"/>
              </a:lnSpc>
            </a:pPr>
            <a:r>
              <a:rPr sz="1400" b="0">
                <a:solidFill>
                  <a:srgbClr val="FFFFFF"/>
                </a:solidFill>
              </a:rPr>
              <a:t/>
            </a:r>
          </a:p>
          <a:p>
            <a:pPr algn="l">
              <a:lnSpc>
                <a:spcPts val="1800"/>
              </a:lnSpc>
            </a:pPr>
            <a:r>
              <a:rPr sz="1400" b="0">
                <a:solidFill>
                  <a:srgbClr val="FFFFFF"/>
                </a:solidFill>
              </a:rPr>
              <a:t>Outside CI (local run): CIReporter prints to stdout instead.</a:t>
            </a:r>
          </a:p>
          <a:p>
            <a:pPr algn="l">
              <a:lnSpc>
                <a:spcPts val="1800"/>
              </a:lnSpc>
            </a:pPr>
            <a:r>
              <a:rPr sz="1400" b="0">
                <a:solidFill>
                  <a:srgbClr val="FF7B72"/>
                </a:solidFill>
              </a:rPr>
              <a:t>  ✗ [Agent scenario failed: login-flow]</a:t>
            </a:r>
          </a:p>
          <a:p>
            <a:pPr algn="l">
              <a:lnSpc>
                <a:spcPts val="1800"/>
              </a:lnSpc>
            </a:pPr>
            <a:r>
              <a:rPr sz="1400" b="0">
                <a:solidFill>
                  <a:srgbClr val="E3B341"/>
                </a:solidFill>
              </a:rPr>
              <a:t>  ⚠ [Agent scenario failed: logout-flow]</a:t>
            </a:r>
          </a:p>
          <a:p>
            <a:pPr algn="l">
              <a:lnSpc>
                <a:spcPts val="1800"/>
              </a:lnSpc>
            </a:pPr>
            <a:r>
              <a:rPr sz="1400" b="0">
                <a:solidFill>
                  <a:srgbClr val="FFFFFF"/>
                </a:solidFill>
              </a:rPr>
              <a:t/>
            </a:r>
          </a:p>
          <a:p>
            <a:pPr algn="l">
              <a:lnSpc>
                <a:spcPts val="1800"/>
              </a:lnSpc>
            </a:pPr>
            <a:r>
              <a:rPr sz="1400" b="0">
                <a:solidFill>
                  <a:srgbClr val="8B949E"/>
                </a:solidFill>
              </a:rPr>
              <a:t>Message escaping required:</a:t>
            </a:r>
          </a:p>
          <a:p>
            <a:pPr algn="l">
              <a:lnSpc>
                <a:spcPts val="1800"/>
              </a:lnSpc>
            </a:pPr>
            <a:r>
              <a:rPr sz="1400" b="0">
                <a:solidFill>
                  <a:srgbClr val="FFFFFF"/>
                </a:solidFill>
              </a:rPr>
              <a:t>  % → %25   \r → %0D   \n → %0A   : → %3A   , → %2C</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7</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Scenario Registry — Decoupled from Pipeline YAML</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ch7-agent-ci/scenarios.ts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interface Scenario {</a:t>
            </a:r>
          </a:p>
          <a:p>
            <a:pPr algn="l">
              <a:lnSpc>
                <a:spcPts val="1500"/>
              </a:lnSpc>
            </a:pPr>
            <a:r>
              <a:rPr sz="1200" b="0">
                <a:solidFill>
                  <a:srgbClr val="FFFFFF"/>
                </a:solidFill>
                <a:latin typeface="Courier New"/>
              </a:rPr>
              <a:t>  name:     string   // matrix key — matches GitHub Actions job ID</a:t>
            </a:r>
          </a:p>
          <a:p>
            <a:pPr algn="l">
              <a:lnSpc>
                <a:spcPts val="1500"/>
              </a:lnSpc>
            </a:pPr>
            <a:r>
              <a:rPr sz="1200" b="0">
                <a:solidFill>
                  <a:srgbClr val="FFFFFF"/>
                </a:solidFill>
                <a:latin typeface="Courier New"/>
              </a:rPr>
              <a:t>  task:     string   // goal string passed to WebTestAgent.run()</a:t>
            </a:r>
          </a:p>
          <a:p>
            <a:pPr algn="l">
              <a:lnSpc>
                <a:spcPts val="1500"/>
              </a:lnSpc>
            </a:pPr>
            <a:r>
              <a:rPr sz="1200" b="0">
                <a:solidFill>
                  <a:srgbClr val="FFFFFF"/>
                </a:solidFill>
                <a:latin typeface="Courier New"/>
              </a:rPr>
              <a:t>  critical: boolean  // false = warn-only, true = fails the build</a:t>
            </a:r>
          </a:p>
          <a:p>
            <a:pPr algn="l">
              <a:lnSpc>
                <a:spcPts val="1500"/>
              </a:lnSpc>
            </a:pPr>
            <a:r>
              <a:rPr sz="1200" b="0">
                <a:solidFill>
                  <a:srgbClr val="FFFFFF"/>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export const SCENARIOS: Scenario[] = [</a:t>
            </a:r>
          </a:p>
          <a:p>
            <a:pPr algn="l">
              <a:lnSpc>
                <a:spcPts val="1500"/>
              </a:lnSpc>
            </a:pPr>
            <a:r>
              <a:rPr sz="1200" b="0">
                <a:solidFill>
                  <a:srgbClr val="FFFFFF"/>
                </a:solidFill>
                <a:latin typeface="Courier New"/>
              </a:rPr>
              <a:t>  { name: 'auth-redirect',  task: tasks.authRedirect(),         critical: true  },</a:t>
            </a:r>
          </a:p>
          <a:p>
            <a:pPr algn="l">
              <a:lnSpc>
                <a:spcPts val="1500"/>
              </a:lnSpc>
            </a:pPr>
            <a:r>
              <a:rPr sz="1200" b="0">
                <a:solidFill>
                  <a:srgbClr val="FFFFFF"/>
                </a:solidFill>
                <a:latin typeface="Courier New"/>
              </a:rPr>
              <a:t>  { name: 'login-flow',     task: tasks.loginFlow(),            critical: true  },</a:t>
            </a:r>
          </a:p>
          <a:p>
            <a:pPr algn="l">
              <a:lnSpc>
                <a:spcPts val="1500"/>
              </a:lnSpc>
            </a:pPr>
            <a:r>
              <a:rPr sz="1200" b="0">
                <a:solidFill>
                  <a:srgbClr val="FFFFFF"/>
                </a:solidFill>
                <a:latin typeface="Courier New"/>
              </a:rPr>
              <a:t>  { name: 'product-search', task: tasks.productSearch('TV',2),  critical: true  },</a:t>
            </a:r>
          </a:p>
          <a:p>
            <a:pPr algn="l">
              <a:lnSpc>
                <a:spcPts val="1500"/>
              </a:lnSpc>
            </a:pPr>
            <a:r>
              <a:rPr sz="1200" b="0">
                <a:solidFill>
                  <a:srgbClr val="FFFFFF"/>
                </a:solidFill>
                <a:latin typeface="Courier New"/>
              </a:rPr>
              <a:t>  { name: 'full-ecommerce', task: tasks.fullEcommerce(),        critical: true  },</a:t>
            </a:r>
          </a:p>
          <a:p>
            <a:pPr algn="l">
              <a:lnSpc>
                <a:spcPts val="1500"/>
              </a:lnSpc>
            </a:pPr>
            <a:r>
              <a:rPr sz="1200" b="0">
                <a:solidFill>
                  <a:srgbClr val="FFFFFF"/>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8B949E"/>
                </a:solidFill>
                <a:latin typeface="Courier New"/>
              </a:rPr>
              <a:t>// Adding a new scenario = add one object here.</a:t>
            </a:r>
          </a:p>
          <a:p>
            <a:pPr algn="l">
              <a:lnSpc>
                <a:spcPts val="1500"/>
              </a:lnSpc>
            </a:pPr>
            <a:r>
              <a:rPr sz="1200" b="0">
                <a:solidFill>
                  <a:srgbClr val="8B949E"/>
                </a:solidFill>
                <a:latin typeface="Courier New"/>
              </a:rPr>
              <a:t>// No YAML changes needed — the matrix reads SCENARIOS at runtime.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7</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Pipeline Architecture</a:t>
            </a:r>
          </a:p>
        </p:txBody>
      </p:sp>
      <p:sp>
        <p:nvSpPr>
          <p:cNvPr id="6" name="Rectangle 5"/>
          <p:cNvSpPr/>
          <p:nvPr/>
        </p:nvSpPr>
        <p:spPr>
          <a:xfrm>
            <a:off x="274320" y="680000"/>
            <a:ext cx="11640312" cy="11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80000"/>
            <a:ext cx="8000" cy="1100000"/>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0000" y="820000"/>
            <a:ext cx="11340312" cy="400000"/>
          </a:xfrm>
          <a:prstGeom prst="rect">
            <a:avLst/>
          </a:prstGeom>
          <a:noFill/>
        </p:spPr>
        <p:txBody>
          <a:bodyPr wrap="square">
            <a:spAutoFit/>
          </a:bodyPr>
          <a:lstStyle/>
          <a:p>
            <a:pPr algn="l"/>
            <a:r>
              <a:rPr sz="1600" b="1">
                <a:solidFill>
                  <a:srgbClr val="FFFFFF"/>
                </a:solidFill>
              </a:rPr>
              <a:t>playwright (every push/PR)</a:t>
            </a:r>
          </a:p>
        </p:txBody>
      </p:sp>
      <p:sp>
        <p:nvSpPr>
          <p:cNvPr id="9" name="TextBox 8"/>
          <p:cNvSpPr txBox="1"/>
          <p:nvPr/>
        </p:nvSpPr>
        <p:spPr>
          <a:xfrm>
            <a:off x="420000" y="1260000"/>
            <a:ext cx="11340312" cy="400000"/>
          </a:xfrm>
          <a:prstGeom prst="rect">
            <a:avLst/>
          </a:prstGeom>
          <a:noFill/>
        </p:spPr>
        <p:txBody>
          <a:bodyPr wrap="square">
            <a:spAutoFit/>
          </a:bodyPr>
          <a:lstStyle/>
          <a:p>
            <a:pPr algn="l"/>
            <a:r>
              <a:rPr sz="1300" b="0">
                <a:solidFill>
                  <a:srgbClr val="8B949E"/>
                </a:solidFill>
              </a:rPr>
              <a:t>~2 min fast gate, no API cost</a:t>
            </a:r>
          </a:p>
        </p:txBody>
      </p:sp>
      <p:sp>
        <p:nvSpPr>
          <p:cNvPr id="10" name="Rectangle 9"/>
          <p:cNvSpPr/>
          <p:nvPr/>
        </p:nvSpPr>
        <p:spPr>
          <a:xfrm>
            <a:off x="274320" y="1860000"/>
            <a:ext cx="11640312" cy="11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4320" y="1860000"/>
            <a:ext cx="8000" cy="1100000"/>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000" y="2000000"/>
            <a:ext cx="11340312" cy="400000"/>
          </a:xfrm>
          <a:prstGeom prst="rect">
            <a:avLst/>
          </a:prstGeom>
          <a:noFill/>
        </p:spPr>
        <p:txBody>
          <a:bodyPr wrap="square">
            <a:spAutoFit/>
          </a:bodyPr>
          <a:lstStyle/>
          <a:p>
            <a:pPr algn="l"/>
            <a:r>
              <a:rPr sz="1600" b="1">
                <a:solidFill>
                  <a:srgbClr val="FFFFFF"/>
                </a:solidFill>
              </a:rPr>
              <a:t>locator-health (every push/PR)</a:t>
            </a:r>
          </a:p>
        </p:txBody>
      </p:sp>
      <p:sp>
        <p:nvSpPr>
          <p:cNvPr id="13" name="TextBox 12"/>
          <p:cNvSpPr txBox="1"/>
          <p:nvPr/>
        </p:nvSpPr>
        <p:spPr>
          <a:xfrm>
            <a:off x="420000" y="2440000"/>
            <a:ext cx="11340312" cy="400000"/>
          </a:xfrm>
          <a:prstGeom prst="rect">
            <a:avLst/>
          </a:prstGeom>
          <a:noFill/>
        </p:spPr>
        <p:txBody>
          <a:bodyPr wrap="square">
            <a:spAutoFit/>
          </a:bodyPr>
          <a:lstStyle/>
          <a:p>
            <a:pPr algn="l"/>
            <a:r>
              <a:rPr sz="1300" b="0">
                <a:solidFill>
                  <a:srgbClr val="8B949E"/>
                </a:solidFill>
              </a:rPr>
              <a:t>Seed store, probe selectors on live app</a:t>
            </a:r>
          </a:p>
        </p:txBody>
      </p:sp>
      <p:sp>
        <p:nvSpPr>
          <p:cNvPr id="14" name="Rectangle 13"/>
          <p:cNvSpPr/>
          <p:nvPr/>
        </p:nvSpPr>
        <p:spPr>
          <a:xfrm>
            <a:off x="274320" y="3040000"/>
            <a:ext cx="11640312" cy="11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 y="3040000"/>
            <a:ext cx="8000" cy="110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0000" y="3180000"/>
            <a:ext cx="11340312" cy="400000"/>
          </a:xfrm>
          <a:prstGeom prst="rect">
            <a:avLst/>
          </a:prstGeom>
          <a:noFill/>
        </p:spPr>
        <p:txBody>
          <a:bodyPr wrap="square">
            <a:spAutoFit/>
          </a:bodyPr>
          <a:lstStyle/>
          <a:p>
            <a:pPr algn="l"/>
            <a:r>
              <a:rPr sz="1600" b="1">
                <a:solidFill>
                  <a:srgbClr val="FFFFFF"/>
                </a:solidFill>
              </a:rPr>
              <a:t>agentic matrix (main only)</a:t>
            </a:r>
          </a:p>
        </p:txBody>
      </p:sp>
      <p:sp>
        <p:nvSpPr>
          <p:cNvPr id="17" name="TextBox 16"/>
          <p:cNvSpPr txBox="1"/>
          <p:nvPr/>
        </p:nvSpPr>
        <p:spPr>
          <a:xfrm>
            <a:off x="420000" y="3620000"/>
            <a:ext cx="11340312" cy="400000"/>
          </a:xfrm>
          <a:prstGeom prst="rect">
            <a:avLst/>
          </a:prstGeom>
          <a:noFill/>
        </p:spPr>
        <p:txBody>
          <a:bodyPr wrap="square">
            <a:spAutoFit/>
          </a:bodyPr>
          <a:lstStyle/>
          <a:p>
            <a:pPr algn="l"/>
            <a:r>
              <a:rPr sz="1300" b="0">
                <a:solidFill>
                  <a:srgbClr val="8B949E"/>
                </a:solidFill>
              </a:rPr>
              <a:t>Parallel jobs — one per scenario</a:t>
            </a:r>
          </a:p>
        </p:txBody>
      </p:sp>
      <p:sp>
        <p:nvSpPr>
          <p:cNvPr id="18" name="Rectangle 17"/>
          <p:cNvSpPr/>
          <p:nvPr/>
        </p:nvSpPr>
        <p:spPr>
          <a:xfrm>
            <a:off x="374320" y="3200000"/>
            <a:ext cx="2815078" cy="78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4320" y="3340000"/>
            <a:ext cx="2695078" cy="460000"/>
          </a:xfrm>
          <a:prstGeom prst="rect">
            <a:avLst/>
          </a:prstGeom>
          <a:noFill/>
        </p:spPr>
        <p:txBody>
          <a:bodyPr wrap="square">
            <a:spAutoFit/>
          </a:bodyPr>
          <a:lstStyle/>
          <a:p>
            <a:pPr algn="ctr"/>
            <a:r>
              <a:rPr sz="1100" b="0">
                <a:solidFill>
                  <a:srgbClr val="58A6FF"/>
                </a:solidFill>
              </a:rPr>
              <a:t>auth-redirect</a:t>
            </a:r>
          </a:p>
        </p:txBody>
      </p:sp>
      <p:sp>
        <p:nvSpPr>
          <p:cNvPr id="20" name="Rectangle 19"/>
          <p:cNvSpPr/>
          <p:nvPr/>
        </p:nvSpPr>
        <p:spPr>
          <a:xfrm>
            <a:off x="3249398" y="3200000"/>
            <a:ext cx="2815078" cy="78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09398" y="3340000"/>
            <a:ext cx="2695078" cy="460000"/>
          </a:xfrm>
          <a:prstGeom prst="rect">
            <a:avLst/>
          </a:prstGeom>
          <a:noFill/>
        </p:spPr>
        <p:txBody>
          <a:bodyPr wrap="square">
            <a:spAutoFit/>
          </a:bodyPr>
          <a:lstStyle/>
          <a:p>
            <a:pPr algn="ctr"/>
            <a:r>
              <a:rPr sz="1100" b="0">
                <a:solidFill>
                  <a:srgbClr val="58A6FF"/>
                </a:solidFill>
              </a:rPr>
              <a:t>login-flow</a:t>
            </a:r>
          </a:p>
        </p:txBody>
      </p:sp>
      <p:sp>
        <p:nvSpPr>
          <p:cNvPr id="22" name="Rectangle 21"/>
          <p:cNvSpPr/>
          <p:nvPr/>
        </p:nvSpPr>
        <p:spPr>
          <a:xfrm>
            <a:off x="6124476" y="3200000"/>
            <a:ext cx="2815078" cy="78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4476" y="3340000"/>
            <a:ext cx="2695078" cy="460000"/>
          </a:xfrm>
          <a:prstGeom prst="rect">
            <a:avLst/>
          </a:prstGeom>
          <a:noFill/>
        </p:spPr>
        <p:txBody>
          <a:bodyPr wrap="square">
            <a:spAutoFit/>
          </a:bodyPr>
          <a:lstStyle/>
          <a:p>
            <a:pPr algn="ctr"/>
            <a:r>
              <a:rPr sz="1100" b="0">
                <a:solidFill>
                  <a:srgbClr val="58A6FF"/>
                </a:solidFill>
              </a:rPr>
              <a:t>product-search</a:t>
            </a:r>
          </a:p>
        </p:txBody>
      </p:sp>
      <p:sp>
        <p:nvSpPr>
          <p:cNvPr id="24" name="Rectangle 23"/>
          <p:cNvSpPr/>
          <p:nvPr/>
        </p:nvSpPr>
        <p:spPr>
          <a:xfrm>
            <a:off x="8999554" y="3200000"/>
            <a:ext cx="2815078" cy="78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59554" y="3340000"/>
            <a:ext cx="2695078" cy="460000"/>
          </a:xfrm>
          <a:prstGeom prst="rect">
            <a:avLst/>
          </a:prstGeom>
          <a:noFill/>
        </p:spPr>
        <p:txBody>
          <a:bodyPr wrap="square">
            <a:spAutoFit/>
          </a:bodyPr>
          <a:lstStyle/>
          <a:p>
            <a:pPr algn="ctr"/>
            <a:r>
              <a:rPr sz="1100" b="0">
                <a:solidFill>
                  <a:srgbClr val="58A6FF"/>
                </a:solidFill>
              </a:rPr>
              <a:t>full-ecommerce</a:t>
            </a:r>
          </a:p>
        </p:txBody>
      </p:sp>
      <p:sp>
        <p:nvSpPr>
          <p:cNvPr id="26" name="TextBox 25"/>
          <p:cNvSpPr txBox="1"/>
          <p:nvPr/>
        </p:nvSpPr>
        <p:spPr>
          <a:xfrm>
            <a:off x="274320" y="4220000"/>
            <a:ext cx="11640312" cy="800000"/>
          </a:xfrm>
          <a:prstGeom prst="rect">
            <a:avLst/>
          </a:prstGeom>
          <a:noFill/>
        </p:spPr>
        <p:txBody>
          <a:bodyPr wrap="square">
            <a:spAutoFit/>
          </a:bodyPr>
          <a:lstStyle/>
          <a:p>
            <a:pPr algn="l"/>
            <a:r>
              <a:rPr sz="1300" b="0">
                <a:solidFill>
                  <a:srgbClr val="FFFFFF"/>
                </a:solidFill>
              </a:rPr>
              <a:t>fail-fast: false  →  all matrix jobs finish even if one fails.</a:t>
            </a:r>
          </a:p>
          <a:p>
            <a:pPr algn="l"/>
            <a:r>
              <a:rPr sz="1300" b="0">
                <a:solidFill>
                  <a:srgbClr val="8B949E"/>
                </a:solidFill>
              </a:rPr>
              <a:t>Each job uploads: agent-report-&lt;name&gt;.json + trace.zip</a:t>
            </a:r>
          </a:p>
          <a:p>
            <a:pPr algn="l"/>
            <a:r>
              <a:rPr sz="1300" b="0">
                <a:solidFill>
                  <a:srgbClr val="F78466"/>
                </a:solidFill>
              </a:rPr>
              <a:t>Cost gate: agentic matrix runs only on main — never on feature branches.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7  · Part A</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Part A — CI Reporter Walkthrough</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39D353"/>
                </a:solidFill>
              </a:rPr>
              <a:t>npx ts-node examples/ch7-agent-ci/agent-runner.ts --scenario login-flow</a:t>
            </a:r>
          </a:p>
          <a:p>
            <a:pPr algn="l">
              <a:lnSpc>
                <a:spcPts val="1800"/>
              </a:lnSpc>
            </a:pPr>
            <a:r>
              <a:rPr sz="1400" b="0">
                <a:solidFill>
                  <a:srgbClr val="FFFFFF"/>
                </a:solidFill>
              </a:rPr>
              <a:t/>
            </a:r>
          </a:p>
          <a:p>
            <a:pPr algn="l">
              <a:lnSpc>
                <a:spcPts val="1800"/>
              </a:lnSpc>
            </a:pPr>
            <a:r>
              <a:rPr sz="1400" b="0">
                <a:solidFill>
                  <a:srgbClr val="FFFFFF"/>
                </a:solidFill>
              </a:rPr>
              <a:t>Without GITHUB_ACTIONS set, reporter prints to stdout:</a:t>
            </a:r>
          </a:p>
          <a:p>
            <a:pPr algn="l">
              <a:lnSpc>
                <a:spcPts val="1800"/>
              </a:lnSpc>
            </a:pPr>
            <a:r>
              <a:rPr sz="1400" b="0">
                <a:solidFill>
                  <a:srgbClr val="39D353"/>
                </a:solidFill>
              </a:rPr>
              <a:t>  ✓ [Agent scenario passed: login-flow]  Summary: ...</a:t>
            </a:r>
          </a:p>
          <a:p>
            <a:pPr algn="l">
              <a:lnSpc>
                <a:spcPts val="1800"/>
              </a:lnSpc>
            </a:pPr>
            <a:r>
              <a:rPr sz="1400" b="0">
                <a:solidFill>
                  <a:srgbClr val="FF7B72"/>
                </a:solidFill>
              </a:rPr>
              <a:t>  ✗ [Agent scenario failed: product-search]  Error: ...</a:t>
            </a:r>
          </a:p>
          <a:p>
            <a:pPr algn="l">
              <a:lnSpc>
                <a:spcPts val="1800"/>
              </a:lnSpc>
            </a:pPr>
            <a:r>
              <a:rPr sz="1400" b="0">
                <a:solidFill>
                  <a:srgbClr val="FFFFFF"/>
                </a:solidFill>
              </a:rPr>
              <a:t/>
            </a:r>
          </a:p>
          <a:p>
            <a:pPr algn="l">
              <a:lnSpc>
                <a:spcPts val="1800"/>
              </a:lnSpc>
            </a:pPr>
            <a:r>
              <a:rPr sz="1400" b="0">
                <a:solidFill>
                  <a:srgbClr val="8B949E"/>
                </a:solidFill>
              </a:rPr>
              <a:t>After the run, open agent-report.json:</a:t>
            </a:r>
          </a:p>
          <a:p>
            <a:pPr algn="l">
              <a:lnSpc>
                <a:spcPts val="1800"/>
              </a:lnSpc>
            </a:pPr>
            <a:r>
              <a:rPr sz="1400" b="0">
                <a:solidFill>
                  <a:srgbClr val="FFFFFF"/>
                </a:solidFill>
              </a:rPr>
              <a:t>  { "timestamp": "...", "passed": true, "totalDurationMs": 8420,</a:t>
            </a:r>
          </a:p>
          <a:p>
            <a:pPr algn="l">
              <a:lnSpc>
                <a:spcPts val="1800"/>
              </a:lnSpc>
            </a:pPr>
            <a:r>
              <a:rPr sz="1400" b="0">
                <a:solidFill>
                  <a:srgbClr val="FFFFFF"/>
                </a:solidFill>
              </a:rPr>
              <a:t>    "scenarios": [{ "name": "login-flow", "passed": true,</a:t>
            </a:r>
          </a:p>
          <a:p>
            <a:pPr algn="l">
              <a:lnSpc>
                <a:spcPts val="1800"/>
              </a:lnSpc>
            </a:pPr>
            <a:r>
              <a:rPr sz="1400" b="0">
                <a:solidFill>
                  <a:srgbClr val="FFFFFF"/>
                </a:solidFill>
              </a:rPr>
              <a:t>      "toolCalls": 7, "durationMs": 3210, "critical": true }] }</a:t>
            </a:r>
          </a:p>
          <a:p>
            <a:pPr algn="l">
              <a:lnSpc>
                <a:spcPts val="1800"/>
              </a:lnSpc>
            </a:pPr>
            <a:r>
              <a:rPr sz="1400" b="0">
                <a:solidFill>
                  <a:srgbClr val="FFFFFF"/>
                </a:solidFill>
              </a:rPr>
              <a:t/>
            </a:r>
          </a:p>
          <a:p>
            <a:pPr algn="l">
              <a:lnSpc>
                <a:spcPts val="1800"/>
              </a:lnSpc>
            </a:pPr>
            <a:r>
              <a:rPr sz="1400" b="0">
                <a:solidFill>
                  <a:srgbClr val="8B949E"/>
                </a:solidFill>
              </a:rPr>
              <a:t>Hands-on:</a:t>
            </a:r>
          </a:p>
          <a:p>
            <a:pPr algn="l">
              <a:lnSpc>
                <a:spcPts val="1800"/>
              </a:lnSpc>
            </a:pPr>
            <a:r>
              <a:rPr sz="1400" b="0">
                <a:solidFill>
                  <a:srgbClr val="FFFFFF"/>
                </a:solidFill>
              </a:rPr>
              <a:t>1. Add a new annotation type (notice) to CIReporter.annotation()</a:t>
            </a:r>
          </a:p>
          <a:p>
            <a:pPr algn="l">
              <a:lnSpc>
                <a:spcPts val="1800"/>
              </a:lnSpc>
            </a:pPr>
            <a:r>
              <a:rPr sz="1400" b="0">
                <a:solidFill>
                  <a:srgbClr val="FFFFFF"/>
                </a:solidFill>
              </a:rPr>
              <a:t>2. Verify it prints the ✓ prefix locally</a:t>
            </a:r>
          </a:p>
          <a:p>
            <a:pPr algn="l">
              <a:lnSpc>
                <a:spcPts val="1800"/>
              </a:lnSpc>
            </a:pPr>
            <a:r>
              <a:rPr sz="1400" b="0">
                <a:solidFill>
                  <a:srgbClr val="FFFFFF"/>
                </a:solidFill>
              </a:rPr>
              <a:t>3. Check how $GITHUB_STEP_SUMMARY is written (appendFileSync)</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7  · Part B</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Part B — Scenario Runner</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CLI interface:</a:t>
            </a:r>
          </a:p>
          <a:p>
            <a:pPr algn="l">
              <a:lnSpc>
                <a:spcPts val="1800"/>
              </a:lnSpc>
            </a:pPr>
            <a:r>
              <a:rPr sz="1400" b="0">
                <a:solidFill>
                  <a:srgbClr val="39D353"/>
                </a:solidFill>
              </a:rPr>
              <a:t>  npx ts-node examples/ch7-agent-ci/agent-runner.ts --list</a:t>
            </a:r>
          </a:p>
          <a:p>
            <a:pPr algn="l">
              <a:lnSpc>
                <a:spcPts val="1800"/>
              </a:lnSpc>
            </a:pPr>
            <a:r>
              <a:rPr sz="1400" b="0">
                <a:solidFill>
                  <a:srgbClr val="39D353"/>
                </a:solidFill>
              </a:rPr>
              <a:t>  npx ts-node examples/ch7-agent-ci/agent-runner.ts --scenario login-flow</a:t>
            </a:r>
          </a:p>
          <a:p>
            <a:pPr algn="l">
              <a:lnSpc>
                <a:spcPts val="1800"/>
              </a:lnSpc>
            </a:pPr>
            <a:r>
              <a:rPr sz="1400" b="0">
                <a:solidFill>
                  <a:srgbClr val="39D353"/>
                </a:solidFill>
              </a:rPr>
              <a:t>  npx ts-node examples/ch7-agent-ci/agent-runner.ts --all</a:t>
            </a:r>
          </a:p>
          <a:p>
            <a:pPr algn="l">
              <a:lnSpc>
                <a:spcPts val="1800"/>
              </a:lnSpc>
            </a:pPr>
            <a:r>
              <a:rPr sz="1400" b="0">
                <a:solidFill>
                  <a:srgbClr val="FFFFFF"/>
                </a:solidFill>
              </a:rPr>
              <a:t/>
            </a:r>
          </a:p>
          <a:p>
            <a:pPr algn="l">
              <a:lnSpc>
                <a:spcPts val="1800"/>
              </a:lnSpc>
            </a:pPr>
            <a:r>
              <a:rPr sz="1400" b="0">
                <a:solidFill>
                  <a:srgbClr val="8B949E"/>
                </a:solidFill>
              </a:rPr>
              <a:t>Exit codes:</a:t>
            </a:r>
          </a:p>
          <a:p>
            <a:pPr algn="l">
              <a:lnSpc>
                <a:spcPts val="1800"/>
              </a:lnSpc>
            </a:pPr>
            <a:r>
              <a:rPr sz="1400" b="0">
                <a:solidFill>
                  <a:srgbClr val="39D353"/>
                </a:solidFill>
              </a:rPr>
              <a:t>  0   all critical scenarios passed</a:t>
            </a:r>
          </a:p>
          <a:p>
            <a:pPr algn="l">
              <a:lnSpc>
                <a:spcPts val="1800"/>
              </a:lnSpc>
            </a:pPr>
            <a:r>
              <a:rPr sz="1400" b="0">
                <a:solidFill>
                  <a:srgbClr val="FF7B72"/>
                </a:solidFill>
              </a:rPr>
              <a:t>  1   at least one critical scenario failed</a:t>
            </a:r>
          </a:p>
          <a:p>
            <a:pPr algn="l">
              <a:lnSpc>
                <a:spcPts val="1800"/>
              </a:lnSpc>
            </a:pPr>
            <a:r>
              <a:rPr sz="1400" b="0">
                <a:solidFill>
                  <a:srgbClr val="F78466"/>
                </a:solidFill>
              </a:rPr>
              <a:t>  2   unknown --scenario name</a:t>
            </a:r>
          </a:p>
          <a:p>
            <a:pPr algn="l">
              <a:lnSpc>
                <a:spcPts val="1800"/>
              </a:lnSpc>
            </a:pPr>
            <a:r>
              <a:rPr sz="1400" b="0">
                <a:solidFill>
                  <a:srgbClr val="FFFFFF"/>
                </a:solidFill>
              </a:rPr>
              <a:t/>
            </a:r>
          </a:p>
          <a:p>
            <a:pPr algn="l">
              <a:lnSpc>
                <a:spcPts val="1800"/>
              </a:lnSpc>
            </a:pPr>
            <a:r>
              <a:rPr sz="1400" b="0">
                <a:solidFill>
                  <a:srgbClr val="8B949E"/>
                </a:solidFill>
              </a:rPr>
              <a:t>Hands-on:</a:t>
            </a:r>
          </a:p>
          <a:p>
            <a:pPr algn="l">
              <a:lnSpc>
                <a:spcPts val="1800"/>
              </a:lnSpc>
            </a:pPr>
            <a:r>
              <a:rPr sz="1400" b="0">
                <a:solidFill>
                  <a:srgbClr val="FFFFFF"/>
                </a:solidFill>
              </a:rPr>
              <a:t>1. Run --scenario product-search. Observe per-step log lines.</a:t>
            </a:r>
          </a:p>
          <a:p>
            <a:pPr algn="l">
              <a:lnSpc>
                <a:spcPts val="1800"/>
              </a:lnSpc>
            </a:pPr>
            <a:r>
              <a:rPr sz="1400" b="0">
                <a:solidFill>
                  <a:srgbClr val="FFFFFF"/>
                </a:solidFill>
              </a:rPr>
              <a:t>2. Add a logout-flow scenario with critical: false</a:t>
            </a:r>
          </a:p>
          <a:p>
            <a:pPr algn="l">
              <a:lnSpc>
                <a:spcPts val="1800"/>
              </a:lnSpc>
            </a:pPr>
            <a:r>
              <a:rPr sz="1400" b="0">
                <a:solidFill>
                  <a:srgbClr val="FFFFFF"/>
                </a:solidFill>
              </a:rPr>
              <a:t>3. Make it fail deliberately (impossible count). Run --all.</a:t>
            </a:r>
          </a:p>
          <a:p>
            <a:pPr algn="l">
              <a:lnSpc>
                <a:spcPts val="1800"/>
              </a:lnSpc>
            </a:pPr>
            <a:r>
              <a:rPr sz="1400" b="0">
                <a:solidFill>
                  <a:srgbClr val="FFFFFF"/>
                </a:solidFill>
              </a:rPr>
              <a:t>4. Confirm exit code is 0 (not critical) vs 1 (critical).</a:t>
            </a:r>
          </a:p>
          <a:p>
            <a:pPr algn="l">
              <a:lnSpc>
                <a:spcPts val="1800"/>
              </a:lnSpc>
            </a:pPr>
            <a:r>
              <a:rPr sz="1400" b="0">
                <a:solidFill>
                  <a:srgbClr val="39D353"/>
                </a:solidFill>
              </a:rPr>
              <a:t>   echo $?  after the command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7</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Discussion Questions</a:t>
            </a:r>
          </a:p>
        </p:txBody>
      </p:sp>
      <p:sp>
        <p:nvSpPr>
          <p:cNvPr id="6" name="Rectangle 5"/>
          <p:cNvSpPr/>
          <p:nvPr/>
        </p:nvSpPr>
        <p:spPr>
          <a:xfrm>
            <a:off x="274320" y="700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60000"/>
            <a:ext cx="700000" cy="1866000"/>
          </a:xfrm>
          <a:prstGeom prst="rect">
            <a:avLst/>
          </a:prstGeom>
          <a:noFill/>
        </p:spPr>
        <p:txBody>
          <a:bodyPr wrap="square">
            <a:spAutoFit/>
          </a:bodyPr>
          <a:lstStyle/>
          <a:p>
            <a:pPr algn="ctr"/>
            <a:r>
              <a:rPr sz="2800" b="1">
                <a:solidFill>
                  <a:srgbClr val="58A6FF"/>
                </a:solidFill>
              </a:rPr>
              <a:t>1</a:t>
            </a:r>
          </a:p>
        </p:txBody>
      </p:sp>
      <p:sp>
        <p:nvSpPr>
          <p:cNvPr id="8" name="TextBox 7"/>
          <p:cNvSpPr txBox="1"/>
          <p:nvPr/>
        </p:nvSpPr>
        <p:spPr>
          <a:xfrm>
            <a:off x="1100000" y="780000"/>
            <a:ext cx="10788952" cy="1826000"/>
          </a:xfrm>
          <a:prstGeom prst="rect">
            <a:avLst/>
          </a:prstGeom>
          <a:noFill/>
        </p:spPr>
        <p:txBody>
          <a:bodyPr wrap="square">
            <a:spAutoFit/>
          </a:bodyPr>
          <a:lstStyle/>
          <a:p>
            <a:pPr algn="l"/>
            <a:r>
              <a:rPr sz="1400" b="0">
                <a:solidFill>
                  <a:srgbClr val="FFFFFF"/>
                </a:solidFill>
              </a:rPr>
              <a:t>The pipeline uses fail-fast: false on the agentic matrix. Under what circumstances would you change this to fail-fast: true, and what is the cost of doing so?</a:t>
            </a:r>
          </a:p>
        </p:txBody>
      </p:sp>
      <p:sp>
        <p:nvSpPr>
          <p:cNvPr id="9" name="Rectangle 8"/>
          <p:cNvSpPr/>
          <p:nvPr/>
        </p:nvSpPr>
        <p:spPr>
          <a:xfrm>
            <a:off x="274320" y="2686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2746000"/>
            <a:ext cx="700000" cy="1866000"/>
          </a:xfrm>
          <a:prstGeom prst="rect">
            <a:avLst/>
          </a:prstGeom>
          <a:noFill/>
        </p:spPr>
        <p:txBody>
          <a:bodyPr wrap="square">
            <a:spAutoFit/>
          </a:bodyPr>
          <a:lstStyle/>
          <a:p>
            <a:pPr algn="ctr"/>
            <a:r>
              <a:rPr sz="2800" b="1">
                <a:solidFill>
                  <a:srgbClr val="58A6FF"/>
                </a:solidFill>
              </a:rPr>
              <a:t>2</a:t>
            </a:r>
          </a:p>
        </p:txBody>
      </p:sp>
      <p:sp>
        <p:nvSpPr>
          <p:cNvPr id="11" name="TextBox 10"/>
          <p:cNvSpPr txBox="1"/>
          <p:nvPr/>
        </p:nvSpPr>
        <p:spPr>
          <a:xfrm>
            <a:off x="1100000" y="2766000"/>
            <a:ext cx="10788952" cy="1826000"/>
          </a:xfrm>
          <a:prstGeom prst="rect">
            <a:avLst/>
          </a:prstGeom>
          <a:noFill/>
        </p:spPr>
        <p:txBody>
          <a:bodyPr wrap="square">
            <a:spAutoFit/>
          </a:bodyPr>
          <a:lstStyle/>
          <a:p>
            <a:pPr algn="l"/>
            <a:r>
              <a:rPr sz="1400" b="0">
                <a:solidFill>
                  <a:srgbClr val="FFFFFF"/>
                </a:solidFill>
              </a:rPr>
              <a:t>CIReporter.annotation() emits ::error for critical failures and ::warning for non-critical ones. GitHub renders these inline in PR diffs. Why would ::notice be a poor choice for a broken selector?</a:t>
            </a:r>
          </a:p>
        </p:txBody>
      </p:sp>
      <p:sp>
        <p:nvSpPr>
          <p:cNvPr id="12" name="Rectangle 11"/>
          <p:cNvSpPr/>
          <p:nvPr/>
        </p:nvSpPr>
        <p:spPr>
          <a:xfrm>
            <a:off x="274320" y="4672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4732000"/>
            <a:ext cx="700000" cy="1866000"/>
          </a:xfrm>
          <a:prstGeom prst="rect">
            <a:avLst/>
          </a:prstGeom>
          <a:noFill/>
        </p:spPr>
        <p:txBody>
          <a:bodyPr wrap="square">
            <a:spAutoFit/>
          </a:bodyPr>
          <a:lstStyle/>
          <a:p>
            <a:pPr algn="ctr"/>
            <a:r>
              <a:rPr sz="2800" b="1">
                <a:solidFill>
                  <a:srgbClr val="58A6FF"/>
                </a:solidFill>
              </a:rPr>
              <a:t>3</a:t>
            </a:r>
          </a:p>
        </p:txBody>
      </p:sp>
      <p:sp>
        <p:nvSpPr>
          <p:cNvPr id="14" name="TextBox 13"/>
          <p:cNvSpPr txBox="1"/>
          <p:nvPr/>
        </p:nvSpPr>
        <p:spPr>
          <a:xfrm>
            <a:off x="1100000" y="4752000"/>
            <a:ext cx="10788952" cy="1826000"/>
          </a:xfrm>
          <a:prstGeom prst="rect">
            <a:avLst/>
          </a:prstGeom>
          <a:noFill/>
        </p:spPr>
        <p:txBody>
          <a:bodyPr wrap="square">
            <a:spAutoFit/>
          </a:bodyPr>
          <a:lstStyle/>
          <a:p>
            <a:pPr algn="l"/>
            <a:r>
              <a:rPr sz="1400" b="0">
                <a:solidFill>
                  <a:srgbClr val="FFFFFF"/>
                </a:solidFill>
              </a:rPr>
              <a:t>The agentic matrix runs only on main, while standard Playwright tests run on every push and PR. What tradeoff does this architecture make, and how would you structure a middle ground (e.g. run agents on PRs to main only)?</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7</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Workshop Tasks</a:t>
            </a:r>
          </a:p>
        </p:txBody>
      </p:sp>
      <p:sp>
        <p:nvSpPr>
          <p:cNvPr id="6" name="Rectangle 5"/>
          <p:cNvSpPr/>
          <p:nvPr/>
        </p:nvSpPr>
        <p:spPr>
          <a:xfrm>
            <a:off x="274320" y="680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40000"/>
            <a:ext cx="800000" cy="1379500"/>
          </a:xfrm>
          <a:prstGeom prst="rect">
            <a:avLst/>
          </a:prstGeom>
          <a:noFill/>
        </p:spPr>
        <p:txBody>
          <a:bodyPr wrap="square">
            <a:spAutoFit/>
          </a:bodyPr>
          <a:lstStyle/>
          <a:p>
            <a:pPr algn="l"/>
            <a:r>
              <a:rPr sz="1300" b="1">
                <a:solidFill>
                  <a:srgbClr val="58A6FF"/>
                </a:solidFill>
              </a:rPr>
              <a:t>Task A</a:t>
            </a:r>
          </a:p>
        </p:txBody>
      </p:sp>
      <p:sp>
        <p:nvSpPr>
          <p:cNvPr id="8" name="TextBox 7"/>
          <p:cNvSpPr txBox="1"/>
          <p:nvPr/>
        </p:nvSpPr>
        <p:spPr>
          <a:xfrm>
            <a:off x="1200000" y="740000"/>
            <a:ext cx="3600000" cy="1379500"/>
          </a:xfrm>
          <a:prstGeom prst="rect">
            <a:avLst/>
          </a:prstGeom>
          <a:noFill/>
        </p:spPr>
        <p:txBody>
          <a:bodyPr wrap="square">
            <a:spAutoFit/>
          </a:bodyPr>
          <a:lstStyle/>
          <a:p>
            <a:pPr algn="l"/>
            <a:r>
              <a:rPr sz="1400" b="1">
                <a:solidFill>
                  <a:srgbClr val="FFFFFF"/>
                </a:solidFill>
              </a:rPr>
              <a:t>Run a single scenario</a:t>
            </a:r>
          </a:p>
        </p:txBody>
      </p:sp>
      <p:sp>
        <p:nvSpPr>
          <p:cNvPr id="9" name="TextBox 8"/>
          <p:cNvSpPr txBox="1"/>
          <p:nvPr/>
        </p:nvSpPr>
        <p:spPr>
          <a:xfrm>
            <a:off x="4900000" y="740000"/>
            <a:ext cx="6988952" cy="1379500"/>
          </a:xfrm>
          <a:prstGeom prst="rect">
            <a:avLst/>
          </a:prstGeom>
          <a:noFill/>
        </p:spPr>
        <p:txBody>
          <a:bodyPr wrap="square">
            <a:spAutoFit/>
          </a:bodyPr>
          <a:lstStyle/>
          <a:p>
            <a:pPr algn="l"/>
            <a:r>
              <a:rPr sz="1200" b="0">
                <a:solidFill>
                  <a:srgbClr val="8B949E"/>
                </a:solidFill>
              </a:rPr>
              <a:t>npx ts-node examples/ch7-agent-ci/agent-runner.ts --scenario product-search
Open agent-report.json. How many tool calls did the scenario use?</a:t>
            </a:r>
          </a:p>
        </p:txBody>
      </p:sp>
      <p:sp>
        <p:nvSpPr>
          <p:cNvPr id="10" name="Rectangle 9"/>
          <p:cNvSpPr/>
          <p:nvPr/>
        </p:nvSpPr>
        <p:spPr>
          <a:xfrm>
            <a:off x="274320" y="2179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39500"/>
            <a:ext cx="800000" cy="1379500"/>
          </a:xfrm>
          <a:prstGeom prst="rect">
            <a:avLst/>
          </a:prstGeom>
          <a:noFill/>
        </p:spPr>
        <p:txBody>
          <a:bodyPr wrap="square">
            <a:spAutoFit/>
          </a:bodyPr>
          <a:lstStyle/>
          <a:p>
            <a:pPr algn="l"/>
            <a:r>
              <a:rPr sz="1300" b="1">
                <a:solidFill>
                  <a:srgbClr val="58A6FF"/>
                </a:solidFill>
              </a:rPr>
              <a:t>Task B</a:t>
            </a:r>
          </a:p>
        </p:txBody>
      </p:sp>
      <p:sp>
        <p:nvSpPr>
          <p:cNvPr id="12" name="TextBox 11"/>
          <p:cNvSpPr txBox="1"/>
          <p:nvPr/>
        </p:nvSpPr>
        <p:spPr>
          <a:xfrm>
            <a:off x="1200000" y="2239500"/>
            <a:ext cx="3600000" cy="1379500"/>
          </a:xfrm>
          <a:prstGeom prst="rect">
            <a:avLst/>
          </a:prstGeom>
          <a:noFill/>
        </p:spPr>
        <p:txBody>
          <a:bodyPr wrap="square">
            <a:spAutoFit/>
          </a:bodyPr>
          <a:lstStyle/>
          <a:p>
            <a:pPr algn="l"/>
            <a:r>
              <a:rPr sz="1400" b="1">
                <a:solidFill>
                  <a:srgbClr val="FFFFFF"/>
                </a:solidFill>
              </a:rPr>
              <a:t>Flip critical and observe exit code</a:t>
            </a:r>
          </a:p>
        </p:txBody>
      </p:sp>
      <p:sp>
        <p:nvSpPr>
          <p:cNvPr id="13" name="TextBox 12"/>
          <p:cNvSpPr txBox="1"/>
          <p:nvPr/>
        </p:nvSpPr>
        <p:spPr>
          <a:xfrm>
            <a:off x="4900000" y="2239500"/>
            <a:ext cx="6988952" cy="1379500"/>
          </a:xfrm>
          <a:prstGeom prst="rect">
            <a:avLst/>
          </a:prstGeom>
          <a:noFill/>
        </p:spPr>
        <p:txBody>
          <a:bodyPr wrap="square">
            <a:spAutoFit/>
          </a:bodyPr>
          <a:lstStyle/>
          <a:p>
            <a:pPr algn="l"/>
            <a:r>
              <a:rPr sz="1200" b="0">
                <a:solidFill>
                  <a:srgbClr val="8B949E"/>
                </a:solidFill>
              </a:rPr>
              <a:t>Set product-search critical: false. Make it assert an impossible count.
Run --all. echo $?  →  should be 0. Flip to true. echo $?  →  should be 1.</a:t>
            </a:r>
          </a:p>
        </p:txBody>
      </p:sp>
      <p:sp>
        <p:nvSpPr>
          <p:cNvPr id="14" name="Rectangle 13"/>
          <p:cNvSpPr/>
          <p:nvPr/>
        </p:nvSpPr>
        <p:spPr>
          <a:xfrm>
            <a:off x="274320" y="3679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739000"/>
            <a:ext cx="800000" cy="1379500"/>
          </a:xfrm>
          <a:prstGeom prst="rect">
            <a:avLst/>
          </a:prstGeom>
          <a:noFill/>
        </p:spPr>
        <p:txBody>
          <a:bodyPr wrap="square">
            <a:spAutoFit/>
          </a:bodyPr>
          <a:lstStyle/>
          <a:p>
            <a:pPr algn="l"/>
            <a:r>
              <a:rPr sz="1300" b="1">
                <a:solidFill>
                  <a:srgbClr val="58A6FF"/>
                </a:solidFill>
              </a:rPr>
              <a:t>Task C</a:t>
            </a:r>
          </a:p>
        </p:txBody>
      </p:sp>
      <p:sp>
        <p:nvSpPr>
          <p:cNvPr id="16" name="TextBox 15"/>
          <p:cNvSpPr txBox="1"/>
          <p:nvPr/>
        </p:nvSpPr>
        <p:spPr>
          <a:xfrm>
            <a:off x="1200000" y="3739000"/>
            <a:ext cx="3600000" cy="1379500"/>
          </a:xfrm>
          <a:prstGeom prst="rect">
            <a:avLst/>
          </a:prstGeom>
          <a:noFill/>
        </p:spPr>
        <p:txBody>
          <a:bodyPr wrap="square">
            <a:spAutoFit/>
          </a:bodyPr>
          <a:lstStyle/>
          <a:p>
            <a:pPr algn="l"/>
            <a:r>
              <a:rPr sz="1400" b="1">
                <a:solidFill>
                  <a:srgbClr val="FFFFFF"/>
                </a:solidFill>
              </a:rPr>
              <a:t>Add a logout scenario</a:t>
            </a:r>
          </a:p>
        </p:txBody>
      </p:sp>
      <p:sp>
        <p:nvSpPr>
          <p:cNvPr id="17" name="TextBox 16"/>
          <p:cNvSpPr txBox="1"/>
          <p:nvPr/>
        </p:nvSpPr>
        <p:spPr>
          <a:xfrm>
            <a:off x="4900000" y="3739000"/>
            <a:ext cx="6988952" cy="1379500"/>
          </a:xfrm>
          <a:prstGeom prst="rect">
            <a:avLst/>
          </a:prstGeom>
          <a:noFill/>
        </p:spPr>
        <p:txBody>
          <a:bodyPr wrap="square">
            <a:spAutoFit/>
          </a:bodyPr>
          <a:lstStyle/>
          <a:p>
            <a:pPr algn="l"/>
            <a:r>
              <a:rPr sz="1200" b="0">
                <a:solidFill>
                  <a:srgbClr val="8B949E"/>
                </a:solidFill>
              </a:rPr>
              <a:t>Add logout task to prompts.ts. Add { name: 'logout-flow', critical: false }.
Run it. Does the agent call Logout button correctly?</a:t>
            </a:r>
          </a:p>
        </p:txBody>
      </p:sp>
      <p:sp>
        <p:nvSpPr>
          <p:cNvPr id="18" name="Rectangle 17"/>
          <p:cNvSpPr/>
          <p:nvPr/>
        </p:nvSpPr>
        <p:spPr>
          <a:xfrm>
            <a:off x="274320" y="5178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5238500"/>
            <a:ext cx="800000" cy="1379500"/>
          </a:xfrm>
          <a:prstGeom prst="rect">
            <a:avLst/>
          </a:prstGeom>
          <a:noFill/>
        </p:spPr>
        <p:txBody>
          <a:bodyPr wrap="square">
            <a:spAutoFit/>
          </a:bodyPr>
          <a:lstStyle/>
          <a:p>
            <a:pPr algn="l"/>
            <a:r>
              <a:rPr sz="1300" b="1">
                <a:solidFill>
                  <a:srgbClr val="58A6FF"/>
                </a:solidFill>
              </a:rPr>
              <a:t>Task D</a:t>
            </a:r>
          </a:p>
        </p:txBody>
      </p:sp>
      <p:sp>
        <p:nvSpPr>
          <p:cNvPr id="20" name="TextBox 19"/>
          <p:cNvSpPr txBox="1"/>
          <p:nvPr/>
        </p:nvSpPr>
        <p:spPr>
          <a:xfrm>
            <a:off x="1200000" y="5238500"/>
            <a:ext cx="3600000" cy="1379500"/>
          </a:xfrm>
          <a:prstGeom prst="rect">
            <a:avLst/>
          </a:prstGeom>
          <a:noFill/>
        </p:spPr>
        <p:txBody>
          <a:bodyPr wrap="square">
            <a:spAutoFit/>
          </a:bodyPr>
          <a:lstStyle/>
          <a:p>
            <a:pPr algn="l"/>
            <a:r>
              <a:rPr sz="1400" b="1">
                <a:solidFill>
                  <a:srgbClr val="FFFFFF"/>
                </a:solidFill>
              </a:rPr>
              <a:t>Walk the pipeline YAML</a:t>
            </a:r>
          </a:p>
        </p:txBody>
      </p:sp>
      <p:sp>
        <p:nvSpPr>
          <p:cNvPr id="21" name="TextBox 20"/>
          <p:cNvSpPr txBox="1"/>
          <p:nvPr/>
        </p:nvSpPr>
        <p:spPr>
          <a:xfrm>
            <a:off x="4900000" y="5238500"/>
            <a:ext cx="6988952" cy="1379500"/>
          </a:xfrm>
          <a:prstGeom prst="rect">
            <a:avLst/>
          </a:prstGeom>
          <a:noFill/>
        </p:spPr>
        <p:txBody>
          <a:bodyPr wrap="square">
            <a:spAutoFit/>
          </a:bodyPr>
          <a:lstStyle/>
          <a:p>
            <a:pPr algn="l"/>
            <a:r>
              <a:rPr sz="1200" b="0">
                <a:solidFill>
                  <a:srgbClr val="8B949E"/>
                </a:solidFill>
              </a:rPr>
              <a:t>Open .github/workflows/agentic-tests.yml. Trace: trigger → type-check → matrix.
Find where ANTHROPIC_API_KEY is injected and why it's gated to main.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0000"/>
            <a:ext cx="11458952" cy="440000"/>
          </a:xfrm>
          <a:prstGeom prst="rect">
            <a:avLst/>
          </a:prstGeom>
          <a:noFill/>
        </p:spPr>
        <p:txBody>
          <a:bodyPr wrap="square">
            <a:spAutoFit/>
          </a:bodyPr>
          <a:lstStyle/>
          <a:p>
            <a:pPr algn="l"/>
            <a:r>
              <a:rPr sz="2600" b="1">
                <a:solidFill>
                  <a:srgbClr val="FFFFFF"/>
                </a:solidFill>
              </a:rPr>
              <a:t>The Complete Architecture</a:t>
            </a:r>
          </a:p>
        </p:txBody>
      </p:sp>
      <p:sp>
        <p:nvSpPr>
          <p:cNvPr id="5" name="TextBox 4"/>
          <p:cNvSpPr txBox="1"/>
          <p:nvPr/>
        </p:nvSpPr>
        <p:spPr>
          <a:xfrm>
            <a:off x="365760" y="580000"/>
            <a:ext cx="11458952" cy="300000"/>
          </a:xfrm>
          <a:prstGeom prst="rect">
            <a:avLst/>
          </a:prstGeom>
          <a:noFill/>
        </p:spPr>
        <p:txBody>
          <a:bodyPr wrap="square">
            <a:spAutoFit/>
          </a:bodyPr>
          <a:lstStyle/>
          <a:p>
            <a:pPr algn="l"/>
            <a:r>
              <a:rPr sz="1400" b="0">
                <a:solidFill>
                  <a:srgbClr val="8B949E"/>
                </a:solidFill>
              </a:rPr>
              <a:t>How all seven chapters connect:</a:t>
            </a:r>
          </a:p>
        </p:txBody>
      </p:sp>
      <p:sp>
        <p:nvSpPr>
          <p:cNvPr id="6" name="Rectangle 5"/>
          <p:cNvSpPr/>
          <p:nvPr/>
        </p:nvSpPr>
        <p:spPr>
          <a:xfrm>
            <a:off x="274320" y="1000000"/>
            <a:ext cx="11640312" cy="815428"/>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1000000"/>
            <a:ext cx="60000" cy="815428"/>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0000" y="1287714"/>
            <a:ext cx="2800000" cy="240000"/>
          </a:xfrm>
          <a:prstGeom prst="rect">
            <a:avLst/>
          </a:prstGeom>
          <a:noFill/>
        </p:spPr>
        <p:txBody>
          <a:bodyPr wrap="square">
            <a:spAutoFit/>
          </a:bodyPr>
          <a:lstStyle/>
          <a:p>
            <a:pPr algn="l"/>
            <a:r>
              <a:rPr sz="1300" b="1">
                <a:solidFill>
                  <a:srgbClr val="D2A8FF"/>
                </a:solidFill>
              </a:rPr>
              <a:t>LLM Layer</a:t>
            </a:r>
          </a:p>
        </p:txBody>
      </p:sp>
      <p:sp>
        <p:nvSpPr>
          <p:cNvPr id="9" name="TextBox 8"/>
          <p:cNvSpPr txBox="1"/>
          <p:nvPr/>
        </p:nvSpPr>
        <p:spPr>
          <a:xfrm>
            <a:off x="3400000" y="1287714"/>
            <a:ext cx="8388952" cy="240000"/>
          </a:xfrm>
          <a:prstGeom prst="rect">
            <a:avLst/>
          </a:prstGeom>
          <a:noFill/>
        </p:spPr>
        <p:txBody>
          <a:bodyPr wrap="square">
            <a:spAutoFit/>
          </a:bodyPr>
          <a:lstStyle/>
          <a:p>
            <a:pPr algn="l"/>
            <a:r>
              <a:rPr sz="1300" b="0">
                <a:solidFill>
                  <a:srgbClr val="FFFFFF"/>
                </a:solidFill>
              </a:rPr>
              <a:t>Claude Sonnet 4.6  ·  Anthropic SDK  ·  Prompt caching  ·  Tool use</a:t>
            </a:r>
          </a:p>
        </p:txBody>
      </p:sp>
      <p:sp>
        <p:nvSpPr>
          <p:cNvPr id="10" name="Rectangle 9"/>
          <p:cNvSpPr/>
          <p:nvPr/>
        </p:nvSpPr>
        <p:spPr>
          <a:xfrm>
            <a:off x="274320" y="1833428"/>
            <a:ext cx="11640312" cy="815428"/>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4320" y="1833428"/>
            <a:ext cx="60000" cy="815428"/>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000" y="2121142"/>
            <a:ext cx="2800000" cy="240000"/>
          </a:xfrm>
          <a:prstGeom prst="rect">
            <a:avLst/>
          </a:prstGeom>
          <a:noFill/>
        </p:spPr>
        <p:txBody>
          <a:bodyPr wrap="square">
            <a:spAutoFit/>
          </a:bodyPr>
          <a:lstStyle/>
          <a:p>
            <a:pPr algn="l"/>
            <a:r>
              <a:rPr sz="1300" b="1">
                <a:solidFill>
                  <a:srgbClr val="58A6FF"/>
                </a:solidFill>
              </a:rPr>
              <a:t>Agent Layer</a:t>
            </a:r>
          </a:p>
        </p:txBody>
      </p:sp>
      <p:sp>
        <p:nvSpPr>
          <p:cNvPr id="13" name="TextBox 12"/>
          <p:cNvSpPr txBox="1"/>
          <p:nvPr/>
        </p:nvSpPr>
        <p:spPr>
          <a:xfrm>
            <a:off x="3400000" y="2121142"/>
            <a:ext cx="8388952" cy="240000"/>
          </a:xfrm>
          <a:prstGeom prst="rect">
            <a:avLst/>
          </a:prstGeom>
          <a:noFill/>
        </p:spPr>
        <p:txBody>
          <a:bodyPr wrap="square">
            <a:spAutoFit/>
          </a:bodyPr>
          <a:lstStyle/>
          <a:p>
            <a:pPr algn="l"/>
            <a:r>
              <a:rPr sz="1300" b="0">
                <a:solidFill>
                  <a:srgbClr val="FFFFFF"/>
                </a:solidFill>
              </a:rPr>
              <a:t>WebTestAgent (Ch5)  ·  MCP Server (Ch3)  ·  Playwright Agents (Ch4.1)</a:t>
            </a:r>
          </a:p>
        </p:txBody>
      </p:sp>
      <p:sp>
        <p:nvSpPr>
          <p:cNvPr id="14" name="Rectangle 13"/>
          <p:cNvSpPr/>
          <p:nvPr/>
        </p:nvSpPr>
        <p:spPr>
          <a:xfrm>
            <a:off x="274320" y="2666856"/>
            <a:ext cx="11640312" cy="815428"/>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 y="2666856"/>
            <a:ext cx="60000" cy="815428"/>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0000" y="2954570"/>
            <a:ext cx="2800000" cy="240000"/>
          </a:xfrm>
          <a:prstGeom prst="rect">
            <a:avLst/>
          </a:prstGeom>
          <a:noFill/>
        </p:spPr>
        <p:txBody>
          <a:bodyPr wrap="square">
            <a:spAutoFit/>
          </a:bodyPr>
          <a:lstStyle/>
          <a:p>
            <a:pPr algn="l"/>
            <a:r>
              <a:rPr sz="1300" b="1">
                <a:solidFill>
                  <a:srgbClr val="D2A8FF"/>
                </a:solidFill>
              </a:rPr>
              <a:t>Skills Layer</a:t>
            </a:r>
          </a:p>
        </p:txBody>
      </p:sp>
      <p:sp>
        <p:nvSpPr>
          <p:cNvPr id="17" name="TextBox 16"/>
          <p:cNvSpPr txBox="1"/>
          <p:nvPr/>
        </p:nvSpPr>
        <p:spPr>
          <a:xfrm>
            <a:off x="3400000" y="2954570"/>
            <a:ext cx="8388952" cy="240000"/>
          </a:xfrm>
          <a:prstGeom prst="rect">
            <a:avLst/>
          </a:prstGeom>
          <a:noFill/>
        </p:spPr>
        <p:txBody>
          <a:bodyPr wrap="square">
            <a:spAutoFit/>
          </a:bodyPr>
          <a:lstStyle/>
          <a:p>
            <a:pPr algn="l"/>
            <a:r>
              <a:rPr sz="1300" b="0">
                <a:solidFill>
                  <a:srgbClr val="FFFFFF"/>
                </a:solidFill>
              </a:rPr>
              <a:t>/pw-run  /pw-debug  /pw-plan  /pw-self-heal  /pw-new-test (Ch6)</a:t>
            </a:r>
          </a:p>
        </p:txBody>
      </p:sp>
      <p:sp>
        <p:nvSpPr>
          <p:cNvPr id="18" name="Rectangle 17"/>
          <p:cNvSpPr/>
          <p:nvPr/>
        </p:nvSpPr>
        <p:spPr>
          <a:xfrm>
            <a:off x="274320" y="3500284"/>
            <a:ext cx="11640312" cy="815428"/>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 y="3500284"/>
            <a:ext cx="60000" cy="815428"/>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0000" y="3787998"/>
            <a:ext cx="2800000" cy="240000"/>
          </a:xfrm>
          <a:prstGeom prst="rect">
            <a:avLst/>
          </a:prstGeom>
          <a:noFill/>
        </p:spPr>
        <p:txBody>
          <a:bodyPr wrap="square">
            <a:spAutoFit/>
          </a:bodyPr>
          <a:lstStyle/>
          <a:p>
            <a:pPr algn="l"/>
            <a:r>
              <a:rPr sz="1300" b="1">
                <a:solidFill>
                  <a:srgbClr val="F78466"/>
                </a:solidFill>
              </a:rPr>
              <a:t>Healing Layer</a:t>
            </a:r>
          </a:p>
        </p:txBody>
      </p:sp>
      <p:sp>
        <p:nvSpPr>
          <p:cNvPr id="21" name="TextBox 20"/>
          <p:cNvSpPr txBox="1"/>
          <p:nvPr/>
        </p:nvSpPr>
        <p:spPr>
          <a:xfrm>
            <a:off x="3400000" y="3787998"/>
            <a:ext cx="8388952" cy="240000"/>
          </a:xfrm>
          <a:prstGeom prst="rect">
            <a:avLst/>
          </a:prstGeom>
          <a:noFill/>
        </p:spPr>
        <p:txBody>
          <a:bodyPr wrap="square">
            <a:spAutoFit/>
          </a:bodyPr>
          <a:lstStyle/>
          <a:p>
            <a:pPr algn="l"/>
            <a:r>
              <a:rPr sz="1300" b="0">
                <a:solidFill>
                  <a:srgbClr val="FFFFFF"/>
                </a:solidFill>
              </a:rPr>
              <a:t>SelfHealingAgent (Ch4)  ·  LocatorStore  ·  TestHealerAgent (Ch4.1)</a:t>
            </a:r>
          </a:p>
        </p:txBody>
      </p:sp>
      <p:sp>
        <p:nvSpPr>
          <p:cNvPr id="22" name="Rectangle 21"/>
          <p:cNvSpPr/>
          <p:nvPr/>
        </p:nvSpPr>
        <p:spPr>
          <a:xfrm>
            <a:off x="274320" y="4333712"/>
            <a:ext cx="11640312" cy="815428"/>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74320" y="4333712"/>
            <a:ext cx="60000" cy="815428"/>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0000" y="4621426"/>
            <a:ext cx="2800000" cy="240000"/>
          </a:xfrm>
          <a:prstGeom prst="rect">
            <a:avLst/>
          </a:prstGeom>
          <a:noFill/>
        </p:spPr>
        <p:txBody>
          <a:bodyPr wrap="square">
            <a:spAutoFit/>
          </a:bodyPr>
          <a:lstStyle/>
          <a:p>
            <a:pPr algn="l"/>
            <a:r>
              <a:rPr sz="1300" b="1">
                <a:solidFill>
                  <a:srgbClr val="39D353"/>
                </a:solidFill>
              </a:rPr>
              <a:t>Execution Layer</a:t>
            </a:r>
          </a:p>
        </p:txBody>
      </p:sp>
      <p:sp>
        <p:nvSpPr>
          <p:cNvPr id="25" name="TextBox 24"/>
          <p:cNvSpPr txBox="1"/>
          <p:nvPr/>
        </p:nvSpPr>
        <p:spPr>
          <a:xfrm>
            <a:off x="3400000" y="4621426"/>
            <a:ext cx="8388952" cy="240000"/>
          </a:xfrm>
          <a:prstGeom prst="rect">
            <a:avLst/>
          </a:prstGeom>
          <a:noFill/>
        </p:spPr>
        <p:txBody>
          <a:bodyPr wrap="square">
            <a:spAutoFit/>
          </a:bodyPr>
          <a:lstStyle/>
          <a:p>
            <a:pPr algn="l"/>
            <a:r>
              <a:rPr sz="1300" b="0">
                <a:solidFill>
                  <a:srgbClr val="FFFFFF"/>
                </a:solidFill>
              </a:rPr>
              <a:t>ActionWrapper (Ch2)  ·  BrowserSession  ·  Playwright CLI</a:t>
            </a:r>
          </a:p>
        </p:txBody>
      </p:sp>
      <p:sp>
        <p:nvSpPr>
          <p:cNvPr id="26" name="Rectangle 25"/>
          <p:cNvSpPr/>
          <p:nvPr/>
        </p:nvSpPr>
        <p:spPr>
          <a:xfrm>
            <a:off x="274320" y="5167140"/>
            <a:ext cx="11640312" cy="815428"/>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74320" y="5167140"/>
            <a:ext cx="60000" cy="815428"/>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20000" y="5454854"/>
            <a:ext cx="2800000" cy="240000"/>
          </a:xfrm>
          <a:prstGeom prst="rect">
            <a:avLst/>
          </a:prstGeom>
          <a:noFill/>
        </p:spPr>
        <p:txBody>
          <a:bodyPr wrap="square">
            <a:spAutoFit/>
          </a:bodyPr>
          <a:lstStyle/>
          <a:p>
            <a:pPr algn="l"/>
            <a:r>
              <a:rPr sz="1300" b="1">
                <a:solidFill>
                  <a:srgbClr val="58A6FF"/>
                </a:solidFill>
              </a:rPr>
              <a:t>CI Layer</a:t>
            </a:r>
          </a:p>
        </p:txBody>
      </p:sp>
      <p:sp>
        <p:nvSpPr>
          <p:cNvPr id="29" name="TextBox 28"/>
          <p:cNvSpPr txBox="1"/>
          <p:nvPr/>
        </p:nvSpPr>
        <p:spPr>
          <a:xfrm>
            <a:off x="3400000" y="5454854"/>
            <a:ext cx="8388952" cy="240000"/>
          </a:xfrm>
          <a:prstGeom prst="rect">
            <a:avLst/>
          </a:prstGeom>
          <a:noFill/>
        </p:spPr>
        <p:txBody>
          <a:bodyPr wrap="square">
            <a:spAutoFit/>
          </a:bodyPr>
          <a:lstStyle/>
          <a:p>
            <a:pPr algn="l"/>
            <a:r>
              <a:rPr sz="1300" b="0">
                <a:solidFill>
                  <a:srgbClr val="FFFFFF"/>
                </a:solidFill>
              </a:rPr>
              <a:t>CIReporter (Ch7)  ·  Scenario registry  ·  GitHub Actions matrix</a:t>
            </a:r>
          </a:p>
        </p:txBody>
      </p:sp>
      <p:sp>
        <p:nvSpPr>
          <p:cNvPr id="30" name="Rectangle 29"/>
          <p:cNvSpPr/>
          <p:nvPr/>
        </p:nvSpPr>
        <p:spPr>
          <a:xfrm>
            <a:off x="274320" y="6000568"/>
            <a:ext cx="11640312" cy="815428"/>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74320" y="6000568"/>
            <a:ext cx="60000" cy="815428"/>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0000" y="6288282"/>
            <a:ext cx="2800000" cy="240000"/>
          </a:xfrm>
          <a:prstGeom prst="rect">
            <a:avLst/>
          </a:prstGeom>
          <a:noFill/>
        </p:spPr>
        <p:txBody>
          <a:bodyPr wrap="square">
            <a:spAutoFit/>
          </a:bodyPr>
          <a:lstStyle/>
          <a:p>
            <a:pPr algn="l"/>
            <a:r>
              <a:rPr sz="1300" b="1">
                <a:solidFill>
                  <a:srgbClr val="3FB950"/>
                </a:solidFill>
              </a:rPr>
              <a:t>App Layer</a:t>
            </a:r>
          </a:p>
        </p:txBody>
      </p:sp>
      <p:sp>
        <p:nvSpPr>
          <p:cNvPr id="33" name="TextBox 32"/>
          <p:cNvSpPr txBox="1"/>
          <p:nvPr/>
        </p:nvSpPr>
        <p:spPr>
          <a:xfrm>
            <a:off x="3400000" y="6288282"/>
            <a:ext cx="8388952" cy="240000"/>
          </a:xfrm>
          <a:prstGeom prst="rect">
            <a:avLst/>
          </a:prstGeom>
          <a:noFill/>
        </p:spPr>
        <p:txBody>
          <a:bodyPr wrap="square">
            <a:spAutoFit/>
          </a:bodyPr>
          <a:lstStyle/>
          <a:p>
            <a:pPr algn="l"/>
            <a:r>
              <a:rPr sz="1300" b="0">
                <a:solidFill>
                  <a:srgbClr val="FFFFFF"/>
                </a:solidFill>
              </a:rPr>
              <a:t>React app  ·  /login  /dashboard  /products  ·  localhost:5173</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0000"/>
            <a:ext cx="11458952" cy="500000"/>
          </a:xfrm>
          <a:prstGeom prst="rect">
            <a:avLst/>
          </a:prstGeom>
          <a:noFill/>
        </p:spPr>
        <p:txBody>
          <a:bodyPr wrap="square">
            <a:spAutoFit/>
          </a:bodyPr>
          <a:lstStyle/>
          <a:p>
            <a:pPr algn="l"/>
            <a:r>
              <a:rPr sz="3000" b="1">
                <a:solidFill>
                  <a:srgbClr val="FFFFFF"/>
                </a:solidFill>
              </a:rPr>
              <a:t>Key Takeaways</a:t>
            </a:r>
          </a:p>
        </p:txBody>
      </p:sp>
      <p:sp>
        <p:nvSpPr>
          <p:cNvPr id="5" name="Rectangle 4"/>
          <p:cNvSpPr/>
          <p:nvPr/>
        </p:nvSpPr>
        <p:spPr>
          <a:xfrm>
            <a:off x="274320" y="640000"/>
            <a:ext cx="5774476" cy="6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94320" y="700000"/>
            <a:ext cx="5534476" cy="240000"/>
          </a:xfrm>
          <a:prstGeom prst="rect">
            <a:avLst/>
          </a:prstGeom>
          <a:noFill/>
        </p:spPr>
        <p:txBody>
          <a:bodyPr wrap="square">
            <a:spAutoFit/>
          </a:bodyPr>
          <a:lstStyle/>
          <a:p>
            <a:pPr algn="l"/>
            <a:r>
              <a:rPr sz="1400" b="1">
                <a:solidFill>
                  <a:srgbClr val="58A6FF"/>
                </a:solidFill>
              </a:rPr>
              <a:t>Agentic ≠ Magic</a:t>
            </a:r>
          </a:p>
        </p:txBody>
      </p:sp>
      <p:sp>
        <p:nvSpPr>
          <p:cNvPr id="7" name="TextBox 6"/>
          <p:cNvSpPr txBox="1"/>
          <p:nvPr/>
        </p:nvSpPr>
        <p:spPr>
          <a:xfrm>
            <a:off x="394320" y="960000"/>
            <a:ext cx="5534476" cy="300000"/>
          </a:xfrm>
          <a:prstGeom prst="rect">
            <a:avLst/>
          </a:prstGeom>
          <a:noFill/>
        </p:spPr>
        <p:txBody>
          <a:bodyPr wrap="square">
            <a:spAutoFit/>
          </a:bodyPr>
          <a:lstStyle/>
          <a:p>
            <a:pPr algn="l"/>
            <a:r>
              <a:rPr sz="1200" b="0">
                <a:solidFill>
                  <a:srgbClr val="8B949E"/>
                </a:solidFill>
              </a:rPr>
              <a:t>Agents are grounded in reliable browser automation — intelligence lives in orchestration.</a:t>
            </a:r>
          </a:p>
        </p:txBody>
      </p:sp>
      <p:sp>
        <p:nvSpPr>
          <p:cNvPr id="8" name="Rectangle 7"/>
          <p:cNvSpPr/>
          <p:nvPr/>
        </p:nvSpPr>
        <p:spPr>
          <a:xfrm>
            <a:off x="6368796" y="640000"/>
            <a:ext cx="5774476" cy="6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88796" y="700000"/>
            <a:ext cx="5534476" cy="240000"/>
          </a:xfrm>
          <a:prstGeom prst="rect">
            <a:avLst/>
          </a:prstGeom>
          <a:noFill/>
        </p:spPr>
        <p:txBody>
          <a:bodyPr wrap="square">
            <a:spAutoFit/>
          </a:bodyPr>
          <a:lstStyle/>
          <a:p>
            <a:pPr algn="l"/>
            <a:r>
              <a:rPr sz="1400" b="1">
                <a:solidFill>
                  <a:srgbClr val="58A6FF"/>
                </a:solidFill>
              </a:rPr>
              <a:t>ARIA Selectors First</a:t>
            </a:r>
          </a:p>
        </p:txBody>
      </p:sp>
      <p:sp>
        <p:nvSpPr>
          <p:cNvPr id="10" name="TextBox 9"/>
          <p:cNvSpPr txBox="1"/>
          <p:nvPr/>
        </p:nvSpPr>
        <p:spPr>
          <a:xfrm>
            <a:off x="6488796" y="960000"/>
            <a:ext cx="5534476" cy="300000"/>
          </a:xfrm>
          <a:prstGeom prst="rect">
            <a:avLst/>
          </a:prstGeom>
          <a:noFill/>
        </p:spPr>
        <p:txBody>
          <a:bodyPr wrap="square">
            <a:spAutoFit/>
          </a:bodyPr>
          <a:lstStyle/>
          <a:p>
            <a:pPr algn="l"/>
            <a:r>
              <a:rPr sz="1200" b="0">
                <a:solidFill>
                  <a:srgbClr val="8B949E"/>
                </a:solidFill>
              </a:rPr>
              <a:t>getByRole / getByLabel survive CSS and DOM changes. Structural selectors don't.</a:t>
            </a:r>
          </a:p>
        </p:txBody>
      </p:sp>
      <p:sp>
        <p:nvSpPr>
          <p:cNvPr id="11" name="Rectangle 10"/>
          <p:cNvSpPr/>
          <p:nvPr/>
        </p:nvSpPr>
        <p:spPr>
          <a:xfrm>
            <a:off x="274320" y="1320000"/>
            <a:ext cx="5774476" cy="6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4320" y="1380000"/>
            <a:ext cx="5534476" cy="240000"/>
          </a:xfrm>
          <a:prstGeom prst="rect">
            <a:avLst/>
          </a:prstGeom>
          <a:noFill/>
        </p:spPr>
        <p:txBody>
          <a:bodyPr wrap="square">
            <a:spAutoFit/>
          </a:bodyPr>
          <a:lstStyle/>
          <a:p>
            <a:pPr algn="l"/>
            <a:r>
              <a:rPr sz="1400" b="1">
                <a:solidFill>
                  <a:srgbClr val="58A6FF"/>
                </a:solidFill>
              </a:rPr>
              <a:t>MCP is the Glue</a:t>
            </a:r>
          </a:p>
        </p:txBody>
      </p:sp>
      <p:sp>
        <p:nvSpPr>
          <p:cNvPr id="13" name="TextBox 12"/>
          <p:cNvSpPr txBox="1"/>
          <p:nvPr/>
        </p:nvSpPr>
        <p:spPr>
          <a:xfrm>
            <a:off x="394320" y="1640000"/>
            <a:ext cx="5534476" cy="300000"/>
          </a:xfrm>
          <a:prstGeom prst="rect">
            <a:avLst/>
          </a:prstGeom>
          <a:noFill/>
        </p:spPr>
        <p:txBody>
          <a:bodyPr wrap="square">
            <a:spAutoFit/>
          </a:bodyPr>
          <a:lstStyle/>
          <a:p>
            <a:pPr algn="l"/>
            <a:r>
              <a:rPr sz="1200" b="0">
                <a:solidFill>
                  <a:srgbClr val="8B949E"/>
                </a:solidFill>
              </a:rPr>
              <a:t>Any LLM client can drive a real browser once it speaks the MCP tool protocol.</a:t>
            </a:r>
          </a:p>
        </p:txBody>
      </p:sp>
      <p:sp>
        <p:nvSpPr>
          <p:cNvPr id="14" name="Rectangle 13"/>
          <p:cNvSpPr/>
          <p:nvPr/>
        </p:nvSpPr>
        <p:spPr>
          <a:xfrm>
            <a:off x="6368796" y="1320000"/>
            <a:ext cx="5774476" cy="6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8796" y="1380000"/>
            <a:ext cx="5534476" cy="240000"/>
          </a:xfrm>
          <a:prstGeom prst="rect">
            <a:avLst/>
          </a:prstGeom>
          <a:noFill/>
        </p:spPr>
        <p:txBody>
          <a:bodyPr wrap="square">
            <a:spAutoFit/>
          </a:bodyPr>
          <a:lstStyle/>
          <a:p>
            <a:pPr algn="l"/>
            <a:r>
              <a:rPr sz="1400" b="1">
                <a:solidFill>
                  <a:srgbClr val="58A6FF"/>
                </a:solidFill>
              </a:rPr>
              <a:t>Self-Healing is a Strategy</a:t>
            </a:r>
          </a:p>
        </p:txBody>
      </p:sp>
      <p:sp>
        <p:nvSpPr>
          <p:cNvPr id="16" name="TextBox 15"/>
          <p:cNvSpPr txBox="1"/>
          <p:nvPr/>
        </p:nvSpPr>
        <p:spPr>
          <a:xfrm>
            <a:off x="6488796" y="1640000"/>
            <a:ext cx="5534476" cy="300000"/>
          </a:xfrm>
          <a:prstGeom prst="rect">
            <a:avLst/>
          </a:prstGeom>
          <a:noFill/>
        </p:spPr>
        <p:txBody>
          <a:bodyPr wrap="square">
            <a:spAutoFit/>
          </a:bodyPr>
          <a:lstStyle/>
          <a:p>
            <a:pPr algn="l"/>
            <a:r>
              <a:rPr sz="1200" b="0">
                <a:solidFill>
                  <a:srgbClr val="8B949E"/>
                </a:solidFill>
              </a:rPr>
              <a:t>LocatorStore + LLM repair beats brittle selectors at scale. Requires review discipline.</a:t>
            </a:r>
          </a:p>
        </p:txBody>
      </p:sp>
      <p:sp>
        <p:nvSpPr>
          <p:cNvPr id="17" name="Rectangle 16"/>
          <p:cNvSpPr/>
          <p:nvPr/>
        </p:nvSpPr>
        <p:spPr>
          <a:xfrm>
            <a:off x="274320" y="2000000"/>
            <a:ext cx="5774476" cy="6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4320" y="2060000"/>
            <a:ext cx="5534476" cy="240000"/>
          </a:xfrm>
          <a:prstGeom prst="rect">
            <a:avLst/>
          </a:prstGeom>
          <a:noFill/>
        </p:spPr>
        <p:txBody>
          <a:bodyPr wrap="square">
            <a:spAutoFit/>
          </a:bodyPr>
          <a:lstStyle/>
          <a:p>
            <a:pPr algn="l"/>
            <a:r>
              <a:rPr sz="1400" b="1">
                <a:solidFill>
                  <a:srgbClr val="58A6FF"/>
                </a:solidFill>
              </a:rPr>
              <a:t>Skills = Reusable Behaviour</a:t>
            </a:r>
          </a:p>
        </p:txBody>
      </p:sp>
      <p:sp>
        <p:nvSpPr>
          <p:cNvPr id="19" name="TextBox 18"/>
          <p:cNvSpPr txBox="1"/>
          <p:nvPr/>
        </p:nvSpPr>
        <p:spPr>
          <a:xfrm>
            <a:off x="394320" y="2320000"/>
            <a:ext cx="5534476" cy="300000"/>
          </a:xfrm>
          <a:prstGeom prst="rect">
            <a:avLst/>
          </a:prstGeom>
          <a:noFill/>
        </p:spPr>
        <p:txBody>
          <a:bodyPr wrap="square">
            <a:spAutoFit/>
          </a:bodyPr>
          <a:lstStyle/>
          <a:p>
            <a:pPr algn="l"/>
            <a:r>
              <a:rPr sz="1200" b="0">
                <a:solidFill>
                  <a:srgbClr val="8B949E"/>
                </a:solidFill>
              </a:rPr>
              <a:t>Tight allowed-tools + clear output contract = a skill that works every time.</a:t>
            </a:r>
          </a:p>
        </p:txBody>
      </p:sp>
      <p:sp>
        <p:nvSpPr>
          <p:cNvPr id="20" name="Rectangle 19"/>
          <p:cNvSpPr/>
          <p:nvPr/>
        </p:nvSpPr>
        <p:spPr>
          <a:xfrm>
            <a:off x="6368796" y="2000000"/>
            <a:ext cx="5774476" cy="6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88796" y="2060000"/>
            <a:ext cx="5534476" cy="240000"/>
          </a:xfrm>
          <a:prstGeom prst="rect">
            <a:avLst/>
          </a:prstGeom>
          <a:noFill/>
        </p:spPr>
        <p:txBody>
          <a:bodyPr wrap="square">
            <a:spAutoFit/>
          </a:bodyPr>
          <a:lstStyle/>
          <a:p>
            <a:pPr algn="l"/>
            <a:r>
              <a:rPr sz="1400" b="1">
                <a:solidFill>
                  <a:srgbClr val="58A6FF"/>
                </a:solidFill>
              </a:rPr>
              <a:t>Scenarios are the Unit of CI</a:t>
            </a:r>
          </a:p>
        </p:txBody>
      </p:sp>
      <p:sp>
        <p:nvSpPr>
          <p:cNvPr id="22" name="TextBox 21"/>
          <p:cNvSpPr txBox="1"/>
          <p:nvPr/>
        </p:nvSpPr>
        <p:spPr>
          <a:xfrm>
            <a:off x="6488796" y="2320000"/>
            <a:ext cx="5534476" cy="300000"/>
          </a:xfrm>
          <a:prstGeom prst="rect">
            <a:avLst/>
          </a:prstGeom>
          <a:noFill/>
        </p:spPr>
        <p:txBody>
          <a:bodyPr wrap="square">
            <a:spAutoFit/>
          </a:bodyPr>
          <a:lstStyle/>
          <a:p>
            <a:pPr algn="l"/>
            <a:r>
              <a:rPr sz="1200" b="0">
                <a:solidFill>
                  <a:srgbClr val="8B949E"/>
                </a:solidFill>
              </a:rPr>
              <a:t>Each scenario has a critical flag, a name, and lives in a registry — not YAML.</a:t>
            </a:r>
          </a:p>
        </p:txBody>
      </p:sp>
      <p:sp>
        <p:nvSpPr>
          <p:cNvPr id="23" name="Rectangle 22"/>
          <p:cNvSpPr/>
          <p:nvPr/>
        </p:nvSpPr>
        <p:spPr>
          <a:xfrm>
            <a:off x="3147238" y="2680000"/>
            <a:ext cx="5774476" cy="6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67238" y="2740000"/>
            <a:ext cx="5534476" cy="240000"/>
          </a:xfrm>
          <a:prstGeom prst="rect">
            <a:avLst/>
          </a:prstGeom>
          <a:noFill/>
        </p:spPr>
        <p:txBody>
          <a:bodyPr wrap="square">
            <a:spAutoFit/>
          </a:bodyPr>
          <a:lstStyle/>
          <a:p>
            <a:pPr algn="l"/>
            <a:r>
              <a:rPr sz="1400" b="1">
                <a:solidFill>
                  <a:srgbClr val="58A6FF"/>
                </a:solidFill>
              </a:rPr>
              <a:t>CI/CD is the Finish Line</a:t>
            </a:r>
          </a:p>
        </p:txBody>
      </p:sp>
      <p:sp>
        <p:nvSpPr>
          <p:cNvPr id="25" name="TextBox 24"/>
          <p:cNvSpPr txBox="1"/>
          <p:nvPr/>
        </p:nvSpPr>
        <p:spPr>
          <a:xfrm>
            <a:off x="3267238" y="3000000"/>
            <a:ext cx="5534476" cy="300000"/>
          </a:xfrm>
          <a:prstGeom prst="rect">
            <a:avLst/>
          </a:prstGeom>
          <a:noFill/>
        </p:spPr>
        <p:txBody>
          <a:bodyPr wrap="square">
            <a:spAutoFit/>
          </a:bodyPr>
          <a:lstStyle/>
          <a:p>
            <a:pPr algn="l"/>
            <a:r>
              <a:rPr sz="1200" b="0">
                <a:solidFill>
                  <a:srgbClr val="8B949E"/>
                </a:solidFill>
              </a:rPr>
              <a:t>Agents that can't emit structured output and annotations are prototypes, not solutions.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Closing</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Where the Field Is Heading</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58A6FF"/>
                </a:solidFill>
              </a:rPr>
              <a:t>Multi-agent QA teams</a:t>
            </a:r>
          </a:p>
          <a:p>
            <a:pPr algn="l">
              <a:lnSpc>
                <a:spcPts val="1800"/>
              </a:lnSpc>
            </a:pPr>
            <a:r>
              <a:rPr sz="1400" b="0">
                <a:solidFill>
                  <a:srgbClr val="8B949E"/>
                </a:solidFill>
              </a:rPr>
              <a:t>  Planner, Generator, Healer, and Reviewer agents working in parallel pipelines.</a:t>
            </a:r>
          </a:p>
          <a:p>
            <a:pPr algn="l">
              <a:lnSpc>
                <a:spcPts val="1800"/>
              </a:lnSpc>
            </a:pPr>
            <a:r>
              <a:rPr sz="1400" b="0">
                <a:solidFill>
                  <a:srgbClr val="FFFFFF"/>
                </a:solidFill>
              </a:rPr>
              <a:t/>
            </a:r>
          </a:p>
          <a:p>
            <a:pPr algn="l">
              <a:lnSpc>
                <a:spcPts val="1800"/>
              </a:lnSpc>
            </a:pPr>
            <a:r>
              <a:rPr sz="1400" b="0">
                <a:solidFill>
                  <a:srgbClr val="D2A8FF"/>
                </a:solidFill>
              </a:rPr>
              <a:t>Visual regression agents</a:t>
            </a:r>
          </a:p>
          <a:p>
            <a:pPr algn="l">
              <a:lnSpc>
                <a:spcPts val="1800"/>
              </a:lnSpc>
            </a:pPr>
            <a:r>
              <a:rPr sz="1400" b="0">
                <a:solidFill>
                  <a:srgbClr val="8B949E"/>
                </a:solidFill>
              </a:rPr>
              <a:t>  Vision-mode agents that catch pixel regressions without fragile screenshot diffs.</a:t>
            </a:r>
          </a:p>
          <a:p>
            <a:pPr algn="l">
              <a:lnSpc>
                <a:spcPts val="1800"/>
              </a:lnSpc>
            </a:pPr>
            <a:r>
              <a:rPr sz="1400" b="0">
                <a:solidFill>
                  <a:srgbClr val="FFFFFF"/>
                </a:solidFill>
              </a:rPr>
              <a:t/>
            </a:r>
          </a:p>
          <a:p>
            <a:pPr algn="l">
              <a:lnSpc>
                <a:spcPts val="1800"/>
              </a:lnSpc>
            </a:pPr>
            <a:r>
              <a:rPr sz="1400" b="0">
                <a:solidFill>
                  <a:srgbClr val="F78466"/>
                </a:solidFill>
              </a:rPr>
              <a:t>Compliance agents</a:t>
            </a:r>
          </a:p>
          <a:p>
            <a:pPr algn="l">
              <a:lnSpc>
                <a:spcPts val="1800"/>
              </a:lnSpc>
            </a:pPr>
            <a:r>
              <a:rPr sz="1400" b="0">
                <a:solidFill>
                  <a:srgbClr val="8B949E"/>
                </a:solidFill>
              </a:rPr>
              <a:t>  Agents that verify WCAG, GDPR, and OWASP compliance continuously.</a:t>
            </a:r>
          </a:p>
          <a:p>
            <a:pPr algn="l">
              <a:lnSpc>
                <a:spcPts val="1800"/>
              </a:lnSpc>
            </a:pPr>
            <a:r>
              <a:rPr sz="1400" b="0">
                <a:solidFill>
                  <a:srgbClr val="FFFFFF"/>
                </a:solidFill>
              </a:rPr>
              <a:t/>
            </a:r>
          </a:p>
          <a:p>
            <a:pPr algn="l">
              <a:lnSpc>
                <a:spcPts val="1800"/>
              </a:lnSpc>
            </a:pPr>
            <a:r>
              <a:rPr sz="1400" b="0">
                <a:solidFill>
                  <a:srgbClr val="39D353"/>
                </a:solidFill>
              </a:rPr>
              <a:t>Test-as-specification</a:t>
            </a:r>
          </a:p>
          <a:p>
            <a:pPr algn="l">
              <a:lnSpc>
                <a:spcPts val="1800"/>
              </a:lnSpc>
            </a:pPr>
            <a:r>
              <a:rPr sz="1400" b="0">
                <a:solidFill>
                  <a:srgbClr val="8B949E"/>
                </a:solidFill>
              </a:rPr>
              <a:t>  High-level PRDs → agent generates tests → tests drive implementation.</a:t>
            </a:r>
          </a:p>
          <a:p>
            <a:pPr algn="l">
              <a:lnSpc>
                <a:spcPts val="1800"/>
              </a:lnSpc>
            </a:pPr>
            <a:r>
              <a:rPr sz="1400" b="0">
                <a:solidFill>
                  <a:srgbClr val="FFFFFF"/>
                </a:solidFill>
              </a:rPr>
              <a:t/>
            </a:r>
          </a:p>
          <a:p>
            <a:pPr algn="l">
              <a:lnSpc>
                <a:spcPts val="1800"/>
              </a:lnSpc>
            </a:pPr>
            <a:r>
              <a:rPr sz="1400" b="0">
                <a:solidFill>
                  <a:srgbClr val="FFFFFF"/>
                </a:solidFill>
              </a:rPr>
              <a:t>Human-in-the-loop QA</a:t>
            </a:r>
          </a:p>
          <a:p>
            <a:pPr algn="l">
              <a:lnSpc>
                <a:spcPts val="1800"/>
              </a:lnSpc>
            </a:pPr>
            <a:r>
              <a:rPr sz="1400" b="0">
                <a:solidFill>
                  <a:srgbClr val="8B949E"/>
                </a:solidFill>
              </a:rPr>
              <a:t>  Agents triage failures, humans approve fixes — 10× the coverage with same headcount.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Closing</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Resources</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58A6FF"/>
                </a:solidFill>
              </a:rPr>
              <a:t>Playwright</a:t>
            </a:r>
          </a:p>
          <a:p>
            <a:pPr algn="l">
              <a:lnSpc>
                <a:spcPts val="1800"/>
              </a:lnSpc>
            </a:pPr>
            <a:r>
              <a:rPr sz="1400" b="0">
                <a:solidFill>
                  <a:srgbClr val="FFFFFF"/>
                </a:solidFill>
              </a:rPr>
              <a:t>  playwright.dev  ·  playwright.dev/docs/test-agents</a:t>
            </a:r>
          </a:p>
          <a:p>
            <a:pPr algn="l">
              <a:lnSpc>
                <a:spcPts val="1800"/>
              </a:lnSpc>
            </a:pPr>
            <a:r>
              <a:rPr sz="1400" b="0">
                <a:solidFill>
                  <a:srgbClr val="FFFFFF"/>
                </a:solidFill>
              </a:rPr>
              <a:t/>
            </a:r>
          </a:p>
          <a:p>
            <a:pPr algn="l">
              <a:lnSpc>
                <a:spcPts val="1800"/>
              </a:lnSpc>
            </a:pPr>
            <a:r>
              <a:rPr sz="1400" b="0">
                <a:solidFill>
                  <a:srgbClr val="D2A8FF"/>
                </a:solidFill>
              </a:rPr>
              <a:t>Anthropic SDK</a:t>
            </a:r>
          </a:p>
          <a:p>
            <a:pPr algn="l">
              <a:lnSpc>
                <a:spcPts val="1800"/>
              </a:lnSpc>
            </a:pPr>
            <a:r>
              <a:rPr sz="1400" b="0">
                <a:solidFill>
                  <a:srgbClr val="FFFFFF"/>
                </a:solidFill>
              </a:rPr>
              <a:t>  docs.anthropic.com  ·  npmjs.com/package/@anthropic-ai/sdk</a:t>
            </a:r>
          </a:p>
          <a:p>
            <a:pPr algn="l">
              <a:lnSpc>
                <a:spcPts val="1800"/>
              </a:lnSpc>
            </a:pPr>
            <a:r>
              <a:rPr sz="1400" b="0">
                <a:solidFill>
                  <a:srgbClr val="FFFFFF"/>
                </a:solidFill>
              </a:rPr>
              <a:t/>
            </a:r>
          </a:p>
          <a:p>
            <a:pPr algn="l">
              <a:lnSpc>
                <a:spcPts val="1800"/>
              </a:lnSpc>
            </a:pPr>
            <a:r>
              <a:rPr sz="1400" b="0">
                <a:solidFill>
                  <a:srgbClr val="3FB950"/>
                </a:solidFill>
              </a:rPr>
              <a:t>MCP</a:t>
            </a:r>
          </a:p>
          <a:p>
            <a:pPr algn="l">
              <a:lnSpc>
                <a:spcPts val="1800"/>
              </a:lnSpc>
            </a:pPr>
            <a:r>
              <a:rPr sz="1400" b="0">
                <a:solidFill>
                  <a:srgbClr val="FFFFFF"/>
                </a:solidFill>
              </a:rPr>
              <a:t>  modelcontextprotocol.io  ·  npmjs.com/package/@playwright/mcp</a:t>
            </a:r>
          </a:p>
          <a:p>
            <a:pPr algn="l">
              <a:lnSpc>
                <a:spcPts val="1800"/>
              </a:lnSpc>
            </a:pPr>
            <a:r>
              <a:rPr sz="1400" b="0">
                <a:solidFill>
                  <a:srgbClr val="FFFFFF"/>
                </a:solidFill>
              </a:rPr>
              <a:t/>
            </a:r>
          </a:p>
          <a:p>
            <a:pPr algn="l">
              <a:lnSpc>
                <a:spcPts val="1800"/>
              </a:lnSpc>
            </a:pPr>
            <a:r>
              <a:rPr sz="1400" b="0">
                <a:solidFill>
                  <a:srgbClr val="39D353"/>
                </a:solidFill>
              </a:rPr>
              <a:t>GitHub Actions</a:t>
            </a:r>
          </a:p>
          <a:p>
            <a:pPr algn="l">
              <a:lnSpc>
                <a:spcPts val="1800"/>
              </a:lnSpc>
            </a:pPr>
            <a:r>
              <a:rPr sz="1400" b="0">
                <a:solidFill>
                  <a:srgbClr val="FFFFFF"/>
                </a:solidFill>
              </a:rPr>
              <a:t>  docs.github.com/en/actions/writing-workflows/workflow-syntax</a:t>
            </a:r>
          </a:p>
          <a:p>
            <a:pPr algn="l">
              <a:lnSpc>
                <a:spcPts val="1800"/>
              </a:lnSpc>
            </a:pPr>
            <a:r>
              <a:rPr sz="1400" b="0">
                <a:solidFill>
                  <a:srgbClr val="FFFFFF"/>
                </a:solidFill>
              </a:rPr>
              <a:t/>
            </a:r>
          </a:p>
          <a:p>
            <a:pPr algn="l">
              <a:lnSpc>
                <a:spcPts val="1800"/>
              </a:lnSpc>
            </a:pPr>
            <a:r>
              <a:rPr sz="1400" b="0">
                <a:solidFill>
                  <a:srgbClr val="F78466"/>
                </a:solidFill>
              </a:rPr>
              <a:t>Claude Code</a:t>
            </a:r>
          </a:p>
          <a:p>
            <a:pPr algn="l">
              <a:lnSpc>
                <a:spcPts val="1800"/>
              </a:lnSpc>
            </a:pPr>
            <a:r>
              <a:rPr sz="1400" b="0">
                <a:solidFill>
                  <a:srgbClr val="FFFFFF"/>
                </a:solidFill>
              </a:rPr>
              <a:t>  docs.anthropic.com/en/docs/claude-code  ·  /help inside Claude Code</a:t>
            </a:r>
          </a:p>
          <a:p>
            <a:pPr algn="l">
              <a:lnSpc>
                <a:spcPts val="1800"/>
              </a:lnSpc>
            </a:pPr>
            <a:r>
              <a:rPr sz="1400" b="0">
                <a:solidFill>
                  <a:srgbClr val="FFFFFF"/>
                </a:solidFill>
              </a:rPr>
              <a:t/>
            </a:r>
          </a:p>
          <a:p>
            <a:pPr algn="l">
              <a:lnSpc>
                <a:spcPts val="1800"/>
              </a:lnSpc>
            </a:pPr>
            <a:r>
              <a:rPr sz="1400" b="0">
                <a:solidFill>
                  <a:srgbClr val="8B949E"/>
                </a:solidFill>
              </a:rPr>
              <a:t>This repo</a:t>
            </a:r>
          </a:p>
          <a:p>
            <a:pPr algn="l">
              <a:lnSpc>
                <a:spcPts val="1800"/>
              </a:lnSpc>
            </a:pPr>
            <a:r>
              <a:rPr sz="1400" b="0">
                <a:solidFill>
                  <a:srgbClr val="FFFFFF"/>
                </a:solidFill>
              </a:rPr>
              <a:t>  github.com/[your-org]/web-detective  ·  npm install  ·  npm run dev</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3429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429000"/>
            <a:ext cx="12188952" cy="3429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829000"/>
            <a:ext cx="12188952" cy="500000"/>
          </a:xfrm>
          <a:prstGeom prst="rect">
            <a:avLst/>
          </a:prstGeom>
          <a:noFill/>
        </p:spPr>
        <p:txBody>
          <a:bodyPr wrap="square">
            <a:spAutoFit/>
          </a:bodyPr>
          <a:lstStyle/>
          <a:p>
            <a:pPr algn="ctr"/>
            <a:r>
              <a:rPr sz="5400" b="1">
                <a:solidFill>
                  <a:srgbClr val="0D1117"/>
                </a:solidFill>
              </a:rPr>
              <a:t>Questions?</a:t>
            </a:r>
          </a:p>
        </p:txBody>
      </p:sp>
      <p:sp>
        <p:nvSpPr>
          <p:cNvPr id="6" name="TextBox 5"/>
          <p:cNvSpPr txBox="1"/>
          <p:nvPr/>
        </p:nvSpPr>
        <p:spPr>
          <a:xfrm>
            <a:off x="0" y="3679000"/>
            <a:ext cx="12188952" cy="400000"/>
          </a:xfrm>
          <a:prstGeom prst="rect">
            <a:avLst/>
          </a:prstGeom>
          <a:noFill/>
        </p:spPr>
        <p:txBody>
          <a:bodyPr wrap="square">
            <a:spAutoFit/>
          </a:bodyPr>
          <a:lstStyle/>
          <a:p>
            <a:pPr algn="ctr"/>
            <a:r>
              <a:rPr sz="2200" b="1">
                <a:solidFill>
                  <a:srgbClr val="FFFFFF"/>
                </a:solidFill>
              </a:rPr>
              <a:t>Web Detective Workshop</a:t>
            </a:r>
          </a:p>
        </p:txBody>
      </p:sp>
      <p:sp>
        <p:nvSpPr>
          <p:cNvPr id="7" name="TextBox 6"/>
          <p:cNvSpPr txBox="1"/>
          <p:nvPr/>
        </p:nvSpPr>
        <p:spPr>
          <a:xfrm>
            <a:off x="0" y="4229000"/>
            <a:ext cx="12188952" cy="600000"/>
          </a:xfrm>
          <a:prstGeom prst="rect">
            <a:avLst/>
          </a:prstGeom>
          <a:noFill/>
        </p:spPr>
        <p:txBody>
          <a:bodyPr wrap="square">
            <a:spAutoFit/>
          </a:bodyPr>
          <a:lstStyle/>
          <a:p>
            <a:pPr algn="ctr"/>
            <a:r>
              <a:rPr sz="1300" b="0">
                <a:solidFill>
                  <a:srgbClr val="8B949E"/>
                </a:solidFill>
              </a:rPr>
              <a:t>playwright.dev  ·  docs.anthropic.com  ·  modelcontextprotocol.io</a:t>
            </a:r>
          </a:p>
          <a:p>
            <a:pPr algn="ctr"/>
            <a:r>
              <a:rPr sz="1300" b="0">
                <a:solidFill>
                  <a:srgbClr val="8B949E"/>
                </a:solidFill>
              </a:rPr>
              <a:t>admin@shop.com  /  password123  ·  http://localhost:5173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